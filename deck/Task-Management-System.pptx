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(open together).</a:t>
            </a:r>
          </a:p>
          <a:p>
            <a:r>
              <a:t>Good morning, and thank you. We are Abdul Rahman Malak and Mouhammad Houjeirat, presenting our SEN3006 project: a Task Management System written in pure Java.</a:t>
            </a:r>
          </a:p>
          <a:p>
            <a:r>
              <a:t>The system is built around two of the design patterns from the course: Factory Method, a creational pattern, and Strategy, a behavioural pattern. It has no external libraries, so the architecture is the only thing under evaluation.</a:t>
            </a:r>
          </a:p>
          <a:p>
            <a:r>
              <a:t>Our goal today is to define the problem clearly, justify why we chose these two patterns, walk through the architecture and the code, run the system live, and then evaluate it honestly. Abdul Rahman will take the table of contents.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Here is how the talk is organised, in five sections. Section one defines the problem and the requirements. Section two is the core of the talk: the two design patterns, why we chose them, and how we implemented them. Section three covers the architecture and how it maps to Java and to SOLID. Section four is a live demonstration of the running system. Section five is an honest evaluation and the conclusion.</a:t>
            </a:r>
          </a:p>
          <a:p>
            <a:r>
              <a:t>We split the sections between us, shown on the right. Please hold questions for the end unless something is unclear on screen. Section one is mine.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Section one. Before any pattern or class, we want to define the problem precisely, because the assignment is graded partly on a clear problem definition. I will cover the domain and our objectives, state the functional and non-functional requirements, and then show the two specific problems that the two patterns were chosen to solve.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Quick background and our objectives, top left to bottom right. The domain is a task tracker for a software team, handling three kinds of work: bugs, features, and documentation, all moving through one lifecycle.</a:t>
            </a:r>
          </a:p>
          <a:p>
            <a:r>
              <a:t>Our motivation was not to invent a pattern showcase. It was that two real, recurring sources of mess in this kind of system happen to match two patterns we studied. Our objective was concrete and testable: we should be able to add a new task type or a new ordering rule without editing any code that already works.</a:t>
            </a:r>
          </a:p>
          <a:p>
            <a:r>
              <a:t>And the solution, in one line: one engine, three entry points, sixteen files, no libraries. The next slide states the requirements formally.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On the left, the functional requirements: create the three task types, order the list three ways, move tasks through the lifecycle, and filter and summarise. These are the things a user can do.</a:t>
            </a:r>
          </a:p>
          <a:p>
            <a:r>
              <a:t>On the right, the non-functional requirements, which is where the architecture matters. The system must be extensible without editing existing code, must stay pure Java with no dependencies, must run from the terminal in three forms, and must be explainable, because we have to defend every design decision today.</a:t>
            </a:r>
          </a:p>
          <a:p>
            <a:r>
              <a:t>The line at the bottom is the key: two requirements drive everything. Different creation, and different ordering. The next two slides show why each is genuinely hard.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Problem one is creation. Look at the three constructors. They are genuinely different: a bug needs a severity and reproduction steps, a feature needs an effort estimate and a business value, a documentation task needs a type and an audience. Each also has sensible defaults.</a:t>
            </a:r>
          </a:p>
          <a:p>
            <a:r>
              <a:t>The smell, bottom left: without a factory, every entry point, the console and the scripted demo, has to import and name each concrete class. The consequence, in the middle: when we add a fourth type, we have to hunt down and edit every one of those call sites. What we need, on the right: a way to create a task from a simple identifier, like the string BUG, without the caller knowing which class that is. That is exactly Factory Method, which we will get to in section two.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Problem two is ordering. Three real contexts: sprint planning sorts by deadline, incident response sorts by severity with bugs first, and the daily standup sorts by raw priority. The list of tasks is identical in all three; only the rule changes.</a:t>
            </a:r>
          </a:p>
          <a:p>
            <a:r>
              <a:t>The naive solution is the switch statement on screen, living inside the manager. The smell is that one method grows without bound. The consequence is that every new context forces us to open and edit code that already works and is already tested, which is a direct violation of the Open/Closed principle. What we need is to swap the ordering at runtime and add new orderings as separate units. That is the Strategy pattern. Hand back to me for section two, the patterns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Section two is the heart of the talk and the largest part of the grade. For each pattern we follow the same structure the report uses: the definition, why it suits this problem, its advantages, and how we actually implemented it. We start by mapping the two problems to the two patterns, then take Factory Method, then Strategy, then a short bonus on the lifecycle.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This slide is the bridge. Reading each row left to right: problem one, different creation logic, points to Factory Method, a creational pattern, which decouples the caller from the concrete task classes. Problem two, context-dependent ordering, points to Strategy, a behavioural pattern, which makes each ordering a swappable object chosen at runtime.</a:t>
            </a:r>
          </a:p>
          <a:p>
            <a:r>
              <a:t>The third row is a bonus we did not have to do. The task lifecycle is naturally a state machine, so we encoded the State pattern inside a single enum. We picked the domain precisely because these mappings are natural, not forced. Now the detail, starting with Factory Method.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Factory Method, following the report structure. The definition: define a method for creating an object, and let each subclass decide which concrete class it returns. We have an abstract TaskFactory with a createTask method, and three subclasses that each build their own type.</a:t>
            </a:r>
          </a:p>
          <a:p>
            <a:r>
              <a:t>Why it fits here: each task type has different construction rules and defaults, and we do not want the caller to carry that knowledge. The advantage is the one tied to our objective: a new task type is just a new class, and no existing creation code changes. A familiar real-world example is a document editor that opens several file formats through a single Open action; you do not call a different method per format. Next, how it looks in our code.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Here is the implementation. The manager holds a Map from a string key to a factory. The caller writes createTask with the string BUG, and the manager looks up the right factory and calls it. The caller never imports BugTask. When we added Documentation late in the project, we registered it once and the console menu offered it automatically, because the menu iterates the registry.</a:t>
            </a:r>
          </a:p>
          <a:p>
            <a:r>
              <a:t>Two design decisions we expect questions on. Left: we used an abstract class, not an interface, so each subclass can own its defaults. Right: createTaskWithDeadline lives on the base class and wraps the abstract createTask, which is the Template Method pattern sitting on top of Factory Method, so the deadline logic is written once, not three times. Hand to Mouhammad for Strategy.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Strategy, same structure. The definition: define a family of interchangeable algorithms, put each behind a common interface, and choose between them at runtime. Our interface is PriorityStrategy with a single sort method, and we have three implementations.</a:t>
            </a:r>
          </a:p>
          <a:p>
            <a:r>
              <a:t>Why it fits: the same list needs different orderings in different moments, and the user changes that while the app runs. The advantage, again tied to our objective: a new ordering is a new class, and the manager that holds the list never changes. The everyday example is a maps app: fastest, shortest, or avoid tolls, are three strategies over the same map. Next, the code.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The implementation is small. The manager holds one PriorityStrategy field. Changing the order is one setter call, and the next listing comes back sorted differently, with no recompile.</a:t>
            </a:r>
          </a:p>
          <a:p>
            <a:r>
              <a:t>Two decisions. Left: we used a named interface rather than a raw Java Comparator, because the name PriorityStrategy advertises the role in the system, and because SeverityFirst partitions bugs to the top before sorting the rest, which is stateful work a pairwise Comparator does awkwardly. Right: we used a setter rather than constructor injection, because the user swaps sorts while the app runs, and a setter avoids rebuilding the manager. The next slide shows this happening for real in the GUI.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These are two real screenshots of our running GUI, the same five tasks in both. On the left, sorted Urgent First, the rows run by priority, five down to one. On the right, after switching the Sort by dropdown to Severity First, the two bug rows jump to the top, and the status bar confirms the active strategy changed.</a:t>
            </a:r>
          </a:p>
          <a:p>
            <a:r>
              <a:t>Nothing was recompiled between these two pictures. The list of tasks is identical; only the strategy object changed, through one setter call wired to the dropdown. This is the clearest single piece of evidence that the pattern works as intended. In the live demo we will do this switch in front of you.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The bonus. The rubric only requires one creational and one behavioural pattern, but the task lifecycle is naturally a state machine, so we encoded it cheaply. A normal path: OPEN, then IN_PROGRESS when a developer picks it up, then REVIEW, then DONE, which is terminal. A reviewer can reject back to IN_PROGRESS, any active task can be BLOCKED, and BLOCKED returns to OPEN.</a:t>
            </a:r>
          </a:p>
          <a:p>
            <a:r>
              <a:t>The rules live on the enum itself, through canTransitionTo, and setStatus throws if you try an illegal jump such as OPEN straight to DONE. So this is the State pattern expressed in one enum, with no extra classes. It caught two real bugs during development. Hand back to me for the architecture section.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Section three. We move from the two patterns to the system as a whole. I will show the class diagram and the layers, the sequence of one create-task call, the file structure of the implementation, and finally how the design lines up with all five SOLID principles.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The class diagram in three horizontal layers. The top layer is the product: the Task interface, AbstractTask, and the three concrete tasks. The middle layer is the patterns: the factory hierarchy on one side, the strategy hierarchy on the other. The bottom is coordination: TaskManager plus the three entry points.</a:t>
            </a:r>
          </a:p>
          <a:p>
            <a:r>
              <a:t>The single most important thing to see is that every arrow points toward an abstraction. The manager depends on the Task interface and the TaskFactory abstract class, never on a concrete BugTask. That is Dependency Inversion in visual form, and it is the structural reason a new task type does not touch the manager.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This sequence diagram traces one createTask call. The entry point asks the manager for a BUG. The manager looks up the factory registered under that key, asks it to build the task, and returns a Task reference. Notice what does not happen: the caller never constructs or imports BugTask.</a:t>
            </a:r>
          </a:p>
          <a:p>
            <a:r>
              <a:t>This is the runtime counterpart of the class diagram. The static view shows arrows pointing at abstractions; this dynamic view shows that at call time the concrete type stays hidden behind the manager and the factory.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The implementation, grouped by the same three layers. The product layer holds the Task interface, the abstract base, the three concrete tasks, and the status enum. The pattern layer holds the abstract factory and its three subclasses, plus the strategy interface and its three implementations. The coordination layer is the single TaskManager, plus the three entry points: Main for automated tests, TaskManagementApp for the console, and the Swing GUI.</a:t>
            </a:r>
          </a:p>
          <a:p>
            <a:r>
              <a:t>Sixteen files, two interfaces, one enum, one abstract class, twelve concrete classes, and the only imports are java.util and java.time. Crucially, all three entry points use the same engine through its public API, which is what lets the GUI and the console behave identically.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Mouhammad.</a:t>
            </a:r>
          </a:p>
          <a:p>
            <a:r>
              <a:t>SOLID, briefly, because it falls out of the two patterns rather than being added on. Single responsibility: factories build, strategies sort, the manager coordinates. Open/Closed: a new type or sort is a new file and one line, with zero edits to existing code, which is our central objective. Liskov: every factory and strategy stands in for its abstraction without surprises. Interface segregation: the strategy interface has one method, and the Task interface is minimal. Dependency inversion: the manager references only abstractions.</a:t>
            </a:r>
          </a:p>
          <a:p>
            <a:r>
              <a:t>The throughline at the bottom sums it up: abstractions in the middle, concrete classes at the edges. If you want one example of inversion, it is that there is no new BugTask anywhere inside the manager. Hand to both of us for the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Mouhammad drives, Abdul Rahman narrates.</a:t>
            </a:r>
          </a:p>
          <a:p>
            <a:r>
              <a:t>Section four is the live demonstration, which the assignment requires. We will run the automated tests first, then open the GUI and switch the strategy live, create a task through the factory, and trigger an illegal lifecycle move so you can see the engine reject it. It is rehearsed to about three minutes, and we have screenshots as a backup if the projector fails.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Mouhammad runs the commands, Abdul Rahman narrates.</a:t>
            </a:r>
          </a:p>
          <a:p>
            <a:r>
              <a:t>Build once with the javac line at the top. Then five steps. Step one, run Main: six test sections scroll past and it ends with ALL TESTS PASSED; pause on Test 1, Factory, and Test 2, Strategy. Step two, open the GUI with the jar and load the Strategy demo from the Demo menu.</a:t>
            </a:r>
          </a:p>
          <a:p>
            <a:r>
              <a:t>Step three is the key moment: switch the Sort by dropdown through Urgent, Deadline, and Severity, and the table reorders each time with no recompile, exactly like the screenshots two slides ago. Step four, add a task using the form; the Type dropdown chooses which factory builds it. Step five, click a row and try to mark an OPEN task DONE: the engine refuses with the exact reason, then OPEN to IN_PROGRESS works.</a:t>
            </a:r>
          </a:p>
          <a:p>
            <a:r>
              <a:t>The closing point: validation lives in the engine, and all three entry points share the same core. If time is short, skip step one and start at the GUI. Hand back to me for the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The final section. We evaluate the result against our objective, we are honest about the limitations and the alternatives we considered, and we close with the conclusion and what we learned.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Did the design meet its objective? On the left, in numbers: a new task type costs two new files and one registration line, with zero edits to existing code; a new ordering costs one new file and one setter call, again zero edits. We did not just claim this, Test 5 in Main checks the property at runtime.</a:t>
            </a:r>
          </a:p>
          <a:p>
            <a:r>
              <a:t>On the right, what actually happened during the project. We added the Documentation type late, and it took under thirty minutes end to end. The GUI dropdown demonstrates the strategy swap live. The lifecycle enum caught two real bugs before they shipped. And Main served as our test harness without pulling in JUnit, which kept the zero-dependency rule.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An honest evaluation, which the rubric asks for. Limitations: everything is in memory so nothing persists, it is single-user with no concurrency control, and validation throws on the first error rather than collecting them. These are real, and they are deliberate scoping choices for an academic project.</a:t>
            </a:r>
          </a:p>
          <a:p>
            <a:r>
              <a:t>Alternatives we weighed: we considered Abstract Factory but rejected it, because we have only one product family, a single Task, so the extra abstraction would not earn its keep. We considered a raw Comparator instead of Strategy, but that loses the named role and handles the bugs-first sort awkwardly. Future work would be persistence with a Repository, tags with a Specification, async dispatch, and a REST layer. The point at the bottom: because the engine is decoupled, each of these is an addition, not a rewrite.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Abdul Rahman.</a:t>
            </a:r>
          </a:p>
          <a:p>
            <a:r>
              <a:t>To conclude. What we achieved: a working system that meets the objective we set, new types and orderings without editing existing code. The patterns earned their place, because each one answered a specific problem from section one, rather than being added to tick a box.</a:t>
            </a:r>
          </a:p>
          <a:p>
            <a:r>
              <a:t>Our main lesson was about naming: calling something a factory or a strategy makes the code explain itself, which matters more than cleverness on a team. And the bigger point, the reason the course exists: design patterns are a shared vocabulary that lets a team keep software open to change without being afraid to touch it. Thank you, and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a:t>
            </a:r>
          </a:p>
          <a:p>
            <a:r>
              <a:t>Thank you. We will split questions by area: Abdul Rahman takes the problem framing, Factory Method, SOLID, and the evaluation; Mouhammad takes Strategy, the architecture, and the lifecycle. Anticipated questions: Why an abstract factory class instead of an interface? Per-subclass defaults plus Template Method. Why a strategy interface instead of a Comparator? It advertises the role and supports the partition-then-sort. Why a string-keyed registry? Runtime lookup from any entry point. Why no JUnit? The zero-dependency rule, with Main as the harness. The study guide in docs/design has a fuller cheat sheet.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for questions.</a:t>
            </a:r>
          </a:p>
          <a:p>
            <a:r>
              <a:t>Two supporting views kept in reserve. The component diagram groups the system into the product, pattern, and coordination modules. The deployment diagram shows the whole thing runs in a single JVM, with three entry points over one shared engine, no network and no external services. Both are explained in full in the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0" spc="220">
                <a:solidFill>
                  <a:srgbClr val="9A9A9A"/>
                </a:solidFill>
                <a:latin typeface="Inter"/>
              </a:rPr>
              <a:t>SEN3006 · SOFTWARE ARCHITECTURE</a:t>
            </a:r>
          </a:p>
        </p:txBody>
      </p:sp>
      <p:sp>
        <p:nvSpPr>
          <p:cNvPr id="3" name="TextBox 2"/>
          <p:cNvSpPr txBox="1"/>
          <p:nvPr/>
        </p:nvSpPr>
        <p:spPr>
          <a:xfrm>
            <a:off x="5992063" y="548640"/>
            <a:ext cx="5486400" cy="274320"/>
          </a:xfrm>
          <a:prstGeom prst="rect">
            <a:avLst/>
          </a:prstGeom>
          <a:noFill/>
        </p:spPr>
        <p:txBody>
          <a:bodyPr wrap="square" anchor="t" lIns="0" rIns="0" tIns="0" bIns="0">
            <a:spAutoFit/>
          </a:bodyPr>
          <a:lstStyle/>
          <a:p>
            <a:pPr algn="r"/>
            <a:r>
              <a:rPr sz="1100" b="0" spc="160">
                <a:solidFill>
                  <a:srgbClr val="9A9A9A"/>
                </a:solidFill>
                <a:latin typeface="Inter"/>
              </a:rPr>
              <a:t>Project Presentation</a:t>
            </a:r>
          </a:p>
        </p:txBody>
      </p:sp>
      <p:sp>
        <p:nvSpPr>
          <p:cNvPr id="4" name="TextBox 3"/>
          <p:cNvSpPr txBox="1"/>
          <p:nvPr/>
        </p:nvSpPr>
        <p:spPr>
          <a:xfrm>
            <a:off x="713232" y="2194560"/>
            <a:ext cx="10789920" cy="2194560"/>
          </a:xfrm>
          <a:prstGeom prst="rect">
            <a:avLst/>
          </a:prstGeom>
          <a:noFill/>
        </p:spPr>
        <p:txBody>
          <a:bodyPr wrap="square" anchor="t" lIns="0" rIns="0" tIns="0" bIns="0">
            <a:spAutoFit/>
          </a:bodyPr>
          <a:lstStyle/>
          <a:p>
            <a:pPr algn="l">
              <a:lnSpc>
                <a:spcPct val="105000"/>
              </a:lnSpc>
            </a:pPr>
            <a:r>
              <a:rPr sz="4600" b="1">
                <a:solidFill>
                  <a:srgbClr val="FFFFFF"/>
                </a:solidFill>
                <a:latin typeface="Inter"/>
              </a:rPr>
              <a:t>Task Management System.</a:t>
            </a:r>
          </a:p>
          <a:p>
            <a:pPr algn="l">
              <a:lnSpc>
                <a:spcPct val="120000"/>
              </a:lnSpc>
              <a:spcBef>
                <a:spcPts val="1000"/>
              </a:spcBef>
            </a:pPr>
            <a:r>
              <a:rPr sz="2200" b="1">
                <a:solidFill>
                  <a:srgbClr val="B4B4B4"/>
                </a:solidFill>
                <a:latin typeface="Inter"/>
              </a:rPr>
              <a:t>Factory Method + Strategy, in pure Java.</a:t>
            </a:r>
          </a:p>
        </p:txBody>
      </p:sp>
      <p:cxnSp>
        <p:nvCxnSpPr>
          <p:cNvPr id="5" name="Connector 4"/>
          <p:cNvCxnSpPr/>
          <p:nvPr/>
        </p:nvCxnSpPr>
        <p:spPr>
          <a:xfrm>
            <a:off x="713232" y="5440680"/>
            <a:ext cx="10765231" cy="0"/>
          </a:xfrm>
          <a:prstGeom prst="line">
            <a:avLst/>
          </a:prstGeom>
          <a:ln w="12700">
            <a:solidFill>
              <a:srgbClr val="2E2E2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5623560"/>
            <a:ext cx="7040880" cy="640080"/>
          </a:xfrm>
          <a:prstGeom prst="rect">
            <a:avLst/>
          </a:prstGeom>
          <a:noFill/>
        </p:spPr>
        <p:txBody>
          <a:bodyPr wrap="square" anchor="t" lIns="0" rIns="0" tIns="0" bIns="0">
            <a:spAutoFit/>
          </a:bodyPr>
          <a:lstStyle/>
          <a:p>
            <a:pPr algn="l">
              <a:lnSpc>
                <a:spcPct val="130000"/>
              </a:lnSpc>
            </a:pPr>
            <a:r>
              <a:rPr sz="1250" b="0">
                <a:solidFill>
                  <a:srgbClr val="9A9A9A"/>
                </a:solidFill>
                <a:latin typeface="Inter"/>
              </a:rPr>
              <a:t>A task management system for software teams, designed around two classic design patterns.</a:t>
            </a:r>
          </a:p>
        </p:txBody>
      </p:sp>
      <p:sp>
        <p:nvSpPr>
          <p:cNvPr id="7" name="TextBox 6"/>
          <p:cNvSpPr txBox="1"/>
          <p:nvPr/>
        </p:nvSpPr>
        <p:spPr>
          <a:xfrm>
            <a:off x="6906463" y="5596128"/>
            <a:ext cx="4572000" cy="640080"/>
          </a:xfrm>
          <a:prstGeom prst="rect">
            <a:avLst/>
          </a:prstGeom>
          <a:noFill/>
        </p:spPr>
        <p:txBody>
          <a:bodyPr wrap="square" anchor="t" lIns="0" rIns="0" tIns="0" bIns="0">
            <a:spAutoFit/>
          </a:bodyPr>
          <a:lstStyle/>
          <a:p>
            <a:pPr algn="r"/>
            <a:r>
              <a:rPr sz="1250" b="1">
                <a:solidFill>
                  <a:srgbClr val="FFFFFF"/>
                </a:solidFill>
                <a:latin typeface="Inter"/>
              </a:rPr>
              <a:t>Abdul Rahman Malak</a:t>
            </a:r>
          </a:p>
          <a:p>
            <a:pPr algn="r">
              <a:spcBef>
                <a:spcPts val="200"/>
              </a:spcBef>
            </a:pPr>
            <a:r>
              <a:rPr sz="1250" b="1">
                <a:solidFill>
                  <a:srgbClr val="FFFFFF"/>
                </a:solidFill>
                <a:latin typeface="Inter"/>
              </a:rPr>
              <a:t>Mouhammad Houjeirat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CONTENTS</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What this presentation covers.</a:t>
            </a:r>
          </a:p>
        </p:txBody>
      </p:sp>
      <p:cxnSp>
        <p:nvCxnSpPr>
          <p:cNvPr id="5" name="Connector 4"/>
          <p:cNvCxnSpPr/>
          <p:nvPr/>
        </p:nvCxnSpPr>
        <p:spPr>
          <a:xfrm>
            <a:off x="713232" y="2331720"/>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2496312"/>
            <a:ext cx="640080" cy="365760"/>
          </a:xfrm>
          <a:prstGeom prst="rect">
            <a:avLst/>
          </a:prstGeom>
          <a:noFill/>
        </p:spPr>
        <p:txBody>
          <a:bodyPr wrap="square" anchor="t" lIns="0" rIns="0" tIns="0" bIns="0">
            <a:spAutoFit/>
          </a:bodyPr>
          <a:lstStyle/>
          <a:p>
            <a:pPr algn="l"/>
            <a:r>
              <a:rPr sz="1500" b="1">
                <a:solidFill>
                  <a:srgbClr val="B4B4B4"/>
                </a:solidFill>
                <a:latin typeface="Inter"/>
              </a:rPr>
              <a:t>01</a:t>
            </a:r>
          </a:p>
        </p:txBody>
      </p:sp>
      <p:sp>
        <p:nvSpPr>
          <p:cNvPr id="7" name="TextBox 6"/>
          <p:cNvSpPr txBox="1"/>
          <p:nvPr/>
        </p:nvSpPr>
        <p:spPr>
          <a:xfrm>
            <a:off x="1490472" y="2514600"/>
            <a:ext cx="7498079" cy="457200"/>
          </a:xfrm>
          <a:prstGeom prst="rect">
            <a:avLst/>
          </a:prstGeom>
          <a:noFill/>
        </p:spPr>
        <p:txBody>
          <a:bodyPr wrap="square" anchor="t" lIns="0" rIns="0" tIns="0" bIns="0">
            <a:spAutoFit/>
          </a:bodyPr>
          <a:lstStyle/>
          <a:p>
            <a:pPr algn="l"/>
            <a:r>
              <a:rPr sz="1400" b="1">
                <a:solidFill>
                  <a:srgbClr val="0B0B0B"/>
                </a:solidFill>
                <a:latin typeface="Inter"/>
              </a:rPr>
              <a:t>Introduction &amp; problem definition</a:t>
            </a:r>
          </a:p>
        </p:txBody>
      </p:sp>
      <p:sp>
        <p:nvSpPr>
          <p:cNvPr id="8" name="TextBox 7"/>
          <p:cNvSpPr txBox="1"/>
          <p:nvPr/>
        </p:nvSpPr>
        <p:spPr>
          <a:xfrm>
            <a:off x="8186623" y="2478024"/>
            <a:ext cx="3291840" cy="457200"/>
          </a:xfrm>
          <a:prstGeom prst="rect">
            <a:avLst/>
          </a:prstGeom>
          <a:noFill/>
        </p:spPr>
        <p:txBody>
          <a:bodyPr wrap="square" anchor="t" lIns="0" rIns="0" tIns="0" bIns="0">
            <a:spAutoFit/>
          </a:bodyPr>
          <a:lstStyle/>
          <a:p>
            <a:pPr algn="r"/>
            <a:r>
              <a:rPr sz="1050" b="0">
                <a:solidFill>
                  <a:srgbClr val="6E6E6E"/>
                </a:solidFill>
                <a:latin typeface="Inter"/>
              </a:rPr>
              <a:t>Abdul Rahman</a:t>
            </a:r>
          </a:p>
          <a:p>
            <a:pPr algn="r">
              <a:spcBef>
                <a:spcPts val="100"/>
              </a:spcBef>
            </a:pPr>
            <a:r>
              <a:rPr sz="950" b="0">
                <a:solidFill>
                  <a:srgbClr val="B4B4B4"/>
                </a:solidFill>
                <a:latin typeface="Inter"/>
              </a:rPr>
              <a:t>~3 min</a:t>
            </a:r>
          </a:p>
        </p:txBody>
      </p:sp>
      <p:cxnSp>
        <p:nvCxnSpPr>
          <p:cNvPr id="9" name="Connector 8"/>
          <p:cNvCxnSpPr/>
          <p:nvPr/>
        </p:nvCxnSpPr>
        <p:spPr>
          <a:xfrm>
            <a:off x="713232" y="3044952"/>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13232" y="3209544"/>
            <a:ext cx="640080" cy="365760"/>
          </a:xfrm>
          <a:prstGeom prst="rect">
            <a:avLst/>
          </a:prstGeom>
          <a:noFill/>
        </p:spPr>
        <p:txBody>
          <a:bodyPr wrap="square" anchor="t" lIns="0" rIns="0" tIns="0" bIns="0">
            <a:spAutoFit/>
          </a:bodyPr>
          <a:lstStyle/>
          <a:p>
            <a:pPr algn="l"/>
            <a:r>
              <a:rPr sz="1500" b="1">
                <a:solidFill>
                  <a:srgbClr val="B4B4B4"/>
                </a:solidFill>
                <a:latin typeface="Inter"/>
              </a:rPr>
              <a:t>02</a:t>
            </a:r>
          </a:p>
        </p:txBody>
      </p:sp>
      <p:sp>
        <p:nvSpPr>
          <p:cNvPr id="11" name="TextBox 10"/>
          <p:cNvSpPr txBox="1"/>
          <p:nvPr/>
        </p:nvSpPr>
        <p:spPr>
          <a:xfrm>
            <a:off x="1490472" y="3227832"/>
            <a:ext cx="7498079" cy="457200"/>
          </a:xfrm>
          <a:prstGeom prst="rect">
            <a:avLst/>
          </a:prstGeom>
          <a:noFill/>
        </p:spPr>
        <p:txBody>
          <a:bodyPr wrap="square" anchor="t" lIns="0" rIns="0" tIns="0" bIns="0">
            <a:spAutoFit/>
          </a:bodyPr>
          <a:lstStyle/>
          <a:p>
            <a:pPr algn="l"/>
            <a:r>
              <a:rPr sz="1400" b="1">
                <a:solidFill>
                  <a:srgbClr val="0B0B0B"/>
                </a:solidFill>
                <a:latin typeface="Inter"/>
              </a:rPr>
              <a:t>The design patterns: Factory Method + Strategy</a:t>
            </a:r>
          </a:p>
        </p:txBody>
      </p:sp>
      <p:sp>
        <p:nvSpPr>
          <p:cNvPr id="12" name="TextBox 11"/>
          <p:cNvSpPr txBox="1"/>
          <p:nvPr/>
        </p:nvSpPr>
        <p:spPr>
          <a:xfrm>
            <a:off x="8186623" y="3191256"/>
            <a:ext cx="3291840" cy="457200"/>
          </a:xfrm>
          <a:prstGeom prst="rect">
            <a:avLst/>
          </a:prstGeom>
          <a:noFill/>
        </p:spPr>
        <p:txBody>
          <a:bodyPr wrap="square" anchor="t" lIns="0" rIns="0" tIns="0" bIns="0">
            <a:spAutoFit/>
          </a:bodyPr>
          <a:lstStyle/>
          <a:p>
            <a:pPr algn="r"/>
            <a:r>
              <a:rPr sz="1050" b="0">
                <a:solidFill>
                  <a:srgbClr val="6E6E6E"/>
                </a:solidFill>
                <a:latin typeface="Inter"/>
              </a:rPr>
              <a:t>Abdul Rahman + Mouhammad</a:t>
            </a:r>
          </a:p>
          <a:p>
            <a:pPr algn="r">
              <a:spcBef>
                <a:spcPts val="100"/>
              </a:spcBef>
            </a:pPr>
            <a:r>
              <a:rPr sz="950" b="0">
                <a:solidFill>
                  <a:srgbClr val="B4B4B4"/>
                </a:solidFill>
                <a:latin typeface="Inter"/>
              </a:rPr>
              <a:t>~5 min</a:t>
            </a:r>
          </a:p>
        </p:txBody>
      </p:sp>
      <p:cxnSp>
        <p:nvCxnSpPr>
          <p:cNvPr id="13" name="Connector 12"/>
          <p:cNvCxnSpPr/>
          <p:nvPr/>
        </p:nvCxnSpPr>
        <p:spPr>
          <a:xfrm>
            <a:off x="713232" y="3758183"/>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13232" y="3922775"/>
            <a:ext cx="640080" cy="365760"/>
          </a:xfrm>
          <a:prstGeom prst="rect">
            <a:avLst/>
          </a:prstGeom>
          <a:noFill/>
        </p:spPr>
        <p:txBody>
          <a:bodyPr wrap="square" anchor="t" lIns="0" rIns="0" tIns="0" bIns="0">
            <a:spAutoFit/>
          </a:bodyPr>
          <a:lstStyle/>
          <a:p>
            <a:pPr algn="l"/>
            <a:r>
              <a:rPr sz="1500" b="1">
                <a:solidFill>
                  <a:srgbClr val="B4B4B4"/>
                </a:solidFill>
                <a:latin typeface="Inter"/>
              </a:rPr>
              <a:t>03</a:t>
            </a:r>
          </a:p>
        </p:txBody>
      </p:sp>
      <p:sp>
        <p:nvSpPr>
          <p:cNvPr id="15" name="TextBox 14"/>
          <p:cNvSpPr txBox="1"/>
          <p:nvPr/>
        </p:nvSpPr>
        <p:spPr>
          <a:xfrm>
            <a:off x="1490472" y="3941063"/>
            <a:ext cx="7498079" cy="457200"/>
          </a:xfrm>
          <a:prstGeom prst="rect">
            <a:avLst/>
          </a:prstGeom>
          <a:noFill/>
        </p:spPr>
        <p:txBody>
          <a:bodyPr wrap="square" anchor="t" lIns="0" rIns="0" tIns="0" bIns="0">
            <a:spAutoFit/>
          </a:bodyPr>
          <a:lstStyle/>
          <a:p>
            <a:pPr algn="l"/>
            <a:r>
              <a:rPr sz="1400" b="1">
                <a:solidFill>
                  <a:srgbClr val="0B0B0B"/>
                </a:solidFill>
                <a:latin typeface="Inter"/>
              </a:rPr>
              <a:t>Architecture &amp; implementation</a:t>
            </a:r>
          </a:p>
        </p:txBody>
      </p:sp>
      <p:sp>
        <p:nvSpPr>
          <p:cNvPr id="16" name="TextBox 15"/>
          <p:cNvSpPr txBox="1"/>
          <p:nvPr/>
        </p:nvSpPr>
        <p:spPr>
          <a:xfrm>
            <a:off x="8186623" y="3904487"/>
            <a:ext cx="3291840" cy="457200"/>
          </a:xfrm>
          <a:prstGeom prst="rect">
            <a:avLst/>
          </a:prstGeom>
          <a:noFill/>
        </p:spPr>
        <p:txBody>
          <a:bodyPr wrap="square" anchor="t" lIns="0" rIns="0" tIns="0" bIns="0">
            <a:spAutoFit/>
          </a:bodyPr>
          <a:lstStyle/>
          <a:p>
            <a:pPr algn="r"/>
            <a:r>
              <a:rPr sz="1050" b="0">
                <a:solidFill>
                  <a:srgbClr val="6E6E6E"/>
                </a:solidFill>
                <a:latin typeface="Inter"/>
              </a:rPr>
              <a:t>Mouhammad</a:t>
            </a:r>
          </a:p>
          <a:p>
            <a:pPr algn="r">
              <a:spcBef>
                <a:spcPts val="100"/>
              </a:spcBef>
            </a:pPr>
            <a:r>
              <a:rPr sz="950" b="0">
                <a:solidFill>
                  <a:srgbClr val="B4B4B4"/>
                </a:solidFill>
                <a:latin typeface="Inter"/>
              </a:rPr>
              <a:t>~3 min</a:t>
            </a:r>
          </a:p>
        </p:txBody>
      </p:sp>
      <p:cxnSp>
        <p:nvCxnSpPr>
          <p:cNvPr id="17" name="Connector 16"/>
          <p:cNvCxnSpPr/>
          <p:nvPr/>
        </p:nvCxnSpPr>
        <p:spPr>
          <a:xfrm>
            <a:off x="713232" y="4471416"/>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13232" y="4636007"/>
            <a:ext cx="640080" cy="365760"/>
          </a:xfrm>
          <a:prstGeom prst="rect">
            <a:avLst/>
          </a:prstGeom>
          <a:noFill/>
        </p:spPr>
        <p:txBody>
          <a:bodyPr wrap="square" anchor="t" lIns="0" rIns="0" tIns="0" bIns="0">
            <a:spAutoFit/>
          </a:bodyPr>
          <a:lstStyle/>
          <a:p>
            <a:pPr algn="l"/>
            <a:r>
              <a:rPr sz="1500" b="1">
                <a:solidFill>
                  <a:srgbClr val="B4B4B4"/>
                </a:solidFill>
                <a:latin typeface="Inter"/>
              </a:rPr>
              <a:t>04</a:t>
            </a:r>
          </a:p>
        </p:txBody>
      </p:sp>
      <p:sp>
        <p:nvSpPr>
          <p:cNvPr id="19" name="TextBox 18"/>
          <p:cNvSpPr txBox="1"/>
          <p:nvPr/>
        </p:nvSpPr>
        <p:spPr>
          <a:xfrm>
            <a:off x="1490472" y="4654296"/>
            <a:ext cx="7498079" cy="457200"/>
          </a:xfrm>
          <a:prstGeom prst="rect">
            <a:avLst/>
          </a:prstGeom>
          <a:noFill/>
        </p:spPr>
        <p:txBody>
          <a:bodyPr wrap="square" anchor="t" lIns="0" rIns="0" tIns="0" bIns="0">
            <a:spAutoFit/>
          </a:bodyPr>
          <a:lstStyle/>
          <a:p>
            <a:pPr algn="l"/>
            <a:r>
              <a:rPr sz="1400" b="1">
                <a:solidFill>
                  <a:srgbClr val="0B0B0B"/>
                </a:solidFill>
                <a:latin typeface="Inter"/>
              </a:rPr>
              <a:t>Live demonstration</a:t>
            </a:r>
          </a:p>
        </p:txBody>
      </p:sp>
      <p:sp>
        <p:nvSpPr>
          <p:cNvPr id="20" name="TextBox 19"/>
          <p:cNvSpPr txBox="1"/>
          <p:nvPr/>
        </p:nvSpPr>
        <p:spPr>
          <a:xfrm>
            <a:off x="8186623" y="4617720"/>
            <a:ext cx="3291840" cy="457200"/>
          </a:xfrm>
          <a:prstGeom prst="rect">
            <a:avLst/>
          </a:prstGeom>
          <a:noFill/>
        </p:spPr>
        <p:txBody>
          <a:bodyPr wrap="square" anchor="t" lIns="0" rIns="0" tIns="0" bIns="0">
            <a:spAutoFit/>
          </a:bodyPr>
          <a:lstStyle/>
          <a:p>
            <a:pPr algn="r"/>
            <a:r>
              <a:rPr sz="1050" b="0">
                <a:solidFill>
                  <a:srgbClr val="6E6E6E"/>
                </a:solidFill>
                <a:latin typeface="Inter"/>
              </a:rPr>
              <a:t>Both</a:t>
            </a:r>
          </a:p>
          <a:p>
            <a:pPr algn="r">
              <a:spcBef>
                <a:spcPts val="100"/>
              </a:spcBef>
            </a:pPr>
            <a:r>
              <a:rPr sz="950" b="0">
                <a:solidFill>
                  <a:srgbClr val="B4B4B4"/>
                </a:solidFill>
                <a:latin typeface="Inter"/>
              </a:rPr>
              <a:t>~3 min</a:t>
            </a:r>
          </a:p>
        </p:txBody>
      </p:sp>
      <p:cxnSp>
        <p:nvCxnSpPr>
          <p:cNvPr id="21" name="Connector 20"/>
          <p:cNvCxnSpPr/>
          <p:nvPr/>
        </p:nvCxnSpPr>
        <p:spPr>
          <a:xfrm>
            <a:off x="713232" y="5184648"/>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13232" y="5349240"/>
            <a:ext cx="640080" cy="365760"/>
          </a:xfrm>
          <a:prstGeom prst="rect">
            <a:avLst/>
          </a:prstGeom>
          <a:noFill/>
        </p:spPr>
        <p:txBody>
          <a:bodyPr wrap="square" anchor="t" lIns="0" rIns="0" tIns="0" bIns="0">
            <a:spAutoFit/>
          </a:bodyPr>
          <a:lstStyle/>
          <a:p>
            <a:pPr algn="l"/>
            <a:r>
              <a:rPr sz="1500" b="1">
                <a:solidFill>
                  <a:srgbClr val="B4B4B4"/>
                </a:solidFill>
                <a:latin typeface="Inter"/>
              </a:rPr>
              <a:t>05</a:t>
            </a:r>
          </a:p>
        </p:txBody>
      </p:sp>
      <p:sp>
        <p:nvSpPr>
          <p:cNvPr id="23" name="TextBox 22"/>
          <p:cNvSpPr txBox="1"/>
          <p:nvPr/>
        </p:nvSpPr>
        <p:spPr>
          <a:xfrm>
            <a:off x="1490472" y="5367528"/>
            <a:ext cx="7498079" cy="457200"/>
          </a:xfrm>
          <a:prstGeom prst="rect">
            <a:avLst/>
          </a:prstGeom>
          <a:noFill/>
        </p:spPr>
        <p:txBody>
          <a:bodyPr wrap="square" anchor="t" lIns="0" rIns="0" tIns="0" bIns="0">
            <a:spAutoFit/>
          </a:bodyPr>
          <a:lstStyle/>
          <a:p>
            <a:pPr algn="l"/>
            <a:r>
              <a:rPr sz="1400" b="1">
                <a:solidFill>
                  <a:srgbClr val="0B0B0B"/>
                </a:solidFill>
                <a:latin typeface="Inter"/>
              </a:rPr>
              <a:t>Results, evaluation &amp; conclusion</a:t>
            </a:r>
          </a:p>
        </p:txBody>
      </p:sp>
      <p:sp>
        <p:nvSpPr>
          <p:cNvPr id="24" name="TextBox 23"/>
          <p:cNvSpPr txBox="1"/>
          <p:nvPr/>
        </p:nvSpPr>
        <p:spPr>
          <a:xfrm>
            <a:off x="8186623" y="5330952"/>
            <a:ext cx="3291840" cy="457200"/>
          </a:xfrm>
          <a:prstGeom prst="rect">
            <a:avLst/>
          </a:prstGeom>
          <a:noFill/>
        </p:spPr>
        <p:txBody>
          <a:bodyPr wrap="square" anchor="t" lIns="0" rIns="0" tIns="0" bIns="0">
            <a:spAutoFit/>
          </a:bodyPr>
          <a:lstStyle/>
          <a:p>
            <a:pPr algn="r"/>
            <a:r>
              <a:rPr sz="1050" b="0">
                <a:solidFill>
                  <a:srgbClr val="6E6E6E"/>
                </a:solidFill>
                <a:latin typeface="Inter"/>
              </a:rPr>
              <a:t>Abdul Rahman</a:t>
            </a:r>
          </a:p>
          <a:p>
            <a:pPr algn="r">
              <a:spcBef>
                <a:spcPts val="100"/>
              </a:spcBef>
            </a:pPr>
            <a:r>
              <a:rPr sz="950" b="0">
                <a:solidFill>
                  <a:srgbClr val="B4B4B4"/>
                </a:solidFill>
                <a:latin typeface="Inter"/>
              </a:rPr>
              <a:t>~2 min</a:t>
            </a:r>
          </a:p>
        </p:txBody>
      </p:sp>
      <p:sp>
        <p:nvSpPr>
          <p:cNvPr id="25" name="TextBox 24"/>
          <p:cNvSpPr txBox="1"/>
          <p:nvPr/>
        </p:nvSpPr>
        <p:spPr>
          <a:xfrm>
            <a:off x="713232" y="6163056"/>
            <a:ext cx="10765231" cy="365760"/>
          </a:xfrm>
          <a:prstGeom prst="rect">
            <a:avLst/>
          </a:prstGeom>
          <a:noFill/>
        </p:spPr>
        <p:txBody>
          <a:bodyPr wrap="square" anchor="t" lIns="0" rIns="0" tIns="0" bIns="0">
            <a:spAutoFit/>
          </a:bodyPr>
          <a:lstStyle/>
          <a:p>
            <a:pPr algn="l"/>
            <a:r>
              <a:rPr sz="1050" b="0" spc="40">
                <a:solidFill>
                  <a:srgbClr val="B4B4B4"/>
                </a:solidFill>
                <a:latin typeface="Inter"/>
              </a:rPr>
              <a:t>Roughly 16 minutes of talk and demo, then questions. Both presenters take questions on the parts they led.</a:t>
            </a:r>
          </a:p>
        </p:txBody>
      </p:sp>
      <p:sp>
        <p:nvSpPr>
          <p:cNvPr id="26" name="TextBox 25"/>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27" name="TextBox 26"/>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02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80">
                <a:solidFill>
                  <a:srgbClr val="9A9A9A"/>
                </a:solidFill>
                <a:latin typeface="Inter"/>
              </a:rPr>
              <a:t>SECTION 01</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cxnSp>
        <p:nvCxnSpPr>
          <p:cNvPr id="4" name="Connector 3"/>
          <p:cNvCxnSpPr/>
          <p:nvPr/>
        </p:nvCxnSpPr>
        <p:spPr>
          <a:xfrm>
            <a:off x="713232" y="2743200"/>
            <a:ext cx="10765231" cy="0"/>
          </a:xfrm>
          <a:prstGeom prst="line">
            <a:avLst/>
          </a:prstGeom>
          <a:ln w="12700">
            <a:solidFill>
              <a:srgbClr val="2E2E2E"/>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3232" y="3017520"/>
            <a:ext cx="10765231" cy="1645920"/>
          </a:xfrm>
          <a:prstGeom prst="rect">
            <a:avLst/>
          </a:prstGeom>
          <a:noFill/>
        </p:spPr>
        <p:txBody>
          <a:bodyPr wrap="square" anchor="t" lIns="0" rIns="0" tIns="0" bIns="0">
            <a:spAutoFit/>
          </a:bodyPr>
          <a:lstStyle/>
          <a:p>
            <a:pPr algn="l">
              <a:lnSpc>
                <a:spcPct val="106000"/>
              </a:lnSpc>
            </a:pPr>
            <a:r>
              <a:rPr sz="3600" b="1">
                <a:solidFill>
                  <a:srgbClr val="FFFFFF"/>
                </a:solidFill>
                <a:latin typeface="Inter"/>
              </a:rPr>
              <a:t>Introduction &amp; problem definition.</a:t>
            </a:r>
          </a:p>
        </p:txBody>
      </p:sp>
      <p:sp>
        <p:nvSpPr>
          <p:cNvPr id="6" name="TextBox 5"/>
          <p:cNvSpPr txBox="1"/>
          <p:nvPr/>
        </p:nvSpPr>
        <p:spPr>
          <a:xfrm>
            <a:off x="713232" y="5029200"/>
            <a:ext cx="10479938" cy="822960"/>
          </a:xfrm>
          <a:prstGeom prst="rect">
            <a:avLst/>
          </a:prstGeom>
          <a:noFill/>
        </p:spPr>
        <p:txBody>
          <a:bodyPr wrap="square" anchor="t" lIns="0" rIns="0" tIns="0" bIns="0">
            <a:spAutoFit/>
          </a:bodyPr>
          <a:lstStyle/>
          <a:p>
            <a:pPr algn="l">
              <a:lnSpc>
                <a:spcPct val="140000"/>
              </a:lnSpc>
            </a:pPr>
            <a:r>
              <a:rPr sz="1400" b="0">
                <a:solidFill>
                  <a:srgbClr val="9A9A9A"/>
                </a:solidFill>
                <a:latin typeface="Inter"/>
              </a:rPr>
              <a:t>The domain we chose, the objectives we set, and the two problems that shaped the whole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INTRODUCTION · BACKGROUND &amp; OBJECTIVES</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Why a task management system?</a:t>
            </a:r>
          </a:p>
        </p:txBody>
      </p:sp>
      <p:sp>
        <p:nvSpPr>
          <p:cNvPr id="5" name="TextBox 4"/>
          <p:cNvSpPr txBox="1"/>
          <p:nvPr/>
        </p:nvSpPr>
        <p:spPr>
          <a:xfrm>
            <a:off x="713232" y="2084831"/>
            <a:ext cx="10765231" cy="640080"/>
          </a:xfrm>
          <a:prstGeom prst="rect">
            <a:avLst/>
          </a:prstGeom>
          <a:noFill/>
        </p:spPr>
        <p:txBody>
          <a:bodyPr wrap="square" anchor="t" lIns="0" rIns="0" tIns="0" bIns="0">
            <a:spAutoFit/>
          </a:bodyPr>
          <a:lstStyle/>
          <a:p>
            <a:pPr algn="l">
              <a:lnSpc>
                <a:spcPct val="135000"/>
              </a:lnSpc>
            </a:pPr>
            <a:r>
              <a:rPr sz="1300" b="0">
                <a:solidFill>
                  <a:srgbClr val="6E6E6E"/>
                </a:solidFill>
                <a:latin typeface="Inter"/>
              </a:rPr>
              <a:t>Software teams track many kinds of work. How that work is created and ordered is exactly where a design tends to decay over time.</a:t>
            </a:r>
          </a:p>
        </p:txBody>
      </p:sp>
      <p:cxnSp>
        <p:nvCxnSpPr>
          <p:cNvPr id="6" name="Connector 5"/>
          <p:cNvCxnSpPr/>
          <p:nvPr/>
        </p:nvCxnSpPr>
        <p:spPr>
          <a:xfrm>
            <a:off x="713232" y="2788920"/>
            <a:ext cx="509915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2916936"/>
            <a:ext cx="5099151" cy="137160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The domain</a:t>
            </a:r>
          </a:p>
          <a:p>
            <a:pPr algn="l">
              <a:lnSpc>
                <a:spcPct val="135000"/>
              </a:lnSpc>
            </a:pPr>
            <a:r>
              <a:rPr sz="1200" b="0">
                <a:solidFill>
                  <a:srgbClr val="6E6E6E"/>
                </a:solidFill>
                <a:latin typeface="Inter"/>
              </a:rPr>
              <a:t>A tracker for a software team: bugs, features, and documentation tasks, each moving through a shared lifecycle from open to done.</a:t>
            </a:r>
          </a:p>
        </p:txBody>
      </p:sp>
      <p:cxnSp>
        <p:nvCxnSpPr>
          <p:cNvPr id="8" name="Connector 7"/>
          <p:cNvCxnSpPr/>
          <p:nvPr/>
        </p:nvCxnSpPr>
        <p:spPr>
          <a:xfrm>
            <a:off x="6379311" y="2788920"/>
            <a:ext cx="5099152"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379311" y="2916936"/>
            <a:ext cx="5099151" cy="137160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The motivation</a:t>
            </a:r>
          </a:p>
          <a:p>
            <a:pPr algn="l">
              <a:lnSpc>
                <a:spcPct val="135000"/>
              </a:lnSpc>
            </a:pPr>
            <a:r>
              <a:rPr sz="1200" b="0">
                <a:solidFill>
                  <a:srgbClr val="6E6E6E"/>
                </a:solidFill>
                <a:latin typeface="Inter"/>
              </a:rPr>
              <a:t>Two recurring causes of code decay in such a system map cleanly onto two well known design patterns from the course.</a:t>
            </a:r>
          </a:p>
        </p:txBody>
      </p:sp>
      <p:cxnSp>
        <p:nvCxnSpPr>
          <p:cNvPr id="10" name="Connector 9"/>
          <p:cNvCxnSpPr/>
          <p:nvPr/>
        </p:nvCxnSpPr>
        <p:spPr>
          <a:xfrm>
            <a:off x="713232" y="4389120"/>
            <a:ext cx="509915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3232" y="4517136"/>
            <a:ext cx="5099151" cy="137160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Our objectives</a:t>
            </a:r>
          </a:p>
          <a:p>
            <a:pPr algn="l">
              <a:lnSpc>
                <a:spcPct val="135000"/>
              </a:lnSpc>
            </a:pPr>
            <a:r>
              <a:rPr sz="1200" b="0">
                <a:solidFill>
                  <a:srgbClr val="6E6E6E"/>
                </a:solidFill>
                <a:latin typeface="Inter"/>
              </a:rPr>
              <a:t>Support several task types and several orderings, and let new ones be added without editing existing, tested code.</a:t>
            </a:r>
          </a:p>
        </p:txBody>
      </p:sp>
      <p:cxnSp>
        <p:nvCxnSpPr>
          <p:cNvPr id="12" name="Connector 11"/>
          <p:cNvCxnSpPr/>
          <p:nvPr/>
        </p:nvCxnSpPr>
        <p:spPr>
          <a:xfrm>
            <a:off x="6379311" y="4389120"/>
            <a:ext cx="5099152"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79311" y="4517136"/>
            <a:ext cx="5099151" cy="137160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The solution in one line</a:t>
            </a:r>
          </a:p>
          <a:p>
            <a:pPr algn="l">
              <a:lnSpc>
                <a:spcPct val="135000"/>
              </a:lnSpc>
            </a:pPr>
            <a:r>
              <a:rPr sz="1200" b="0">
                <a:solidFill>
                  <a:srgbClr val="6E6E6E"/>
                </a:solidFill>
                <a:latin typeface="Inter"/>
              </a:rPr>
              <a:t>One engine, three ways to run it, sixteen Java files, and zero external dependencies.</a:t>
            </a:r>
          </a:p>
        </p:txBody>
      </p:sp>
      <p:sp>
        <p:nvSpPr>
          <p:cNvPr id="14" name="TextBox 13"/>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5" name="TextBox 14"/>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04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PROBLEM DEFINITION · REQUIREMENTS</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What the system must do.</a:t>
            </a:r>
          </a:p>
        </p:txBody>
      </p:sp>
      <p:sp>
        <p:nvSpPr>
          <p:cNvPr id="5" name="TextBox 4"/>
          <p:cNvSpPr txBox="1"/>
          <p:nvPr/>
        </p:nvSpPr>
        <p:spPr>
          <a:xfrm>
            <a:off x="713232" y="2240280"/>
            <a:ext cx="5062575" cy="274320"/>
          </a:xfrm>
          <a:prstGeom prst="rect">
            <a:avLst/>
          </a:prstGeom>
          <a:noFill/>
        </p:spPr>
        <p:txBody>
          <a:bodyPr wrap="square" anchor="t" lIns="0" rIns="0" tIns="0" bIns="0">
            <a:spAutoFit/>
          </a:bodyPr>
          <a:lstStyle/>
          <a:p>
            <a:pPr algn="l"/>
            <a:r>
              <a:rPr sz="1100" b="1" spc="160">
                <a:solidFill>
                  <a:srgbClr val="6E6E6E"/>
                </a:solidFill>
                <a:latin typeface="Inter"/>
              </a:rPr>
              <a:t>FUNCTIONAL REQUIREMENTS</a:t>
            </a:r>
          </a:p>
        </p:txBody>
      </p:sp>
      <p:cxnSp>
        <p:nvCxnSpPr>
          <p:cNvPr id="6" name="Connector 5"/>
          <p:cNvCxnSpPr/>
          <p:nvPr/>
        </p:nvCxnSpPr>
        <p:spPr>
          <a:xfrm>
            <a:off x="713232" y="2569464"/>
            <a:ext cx="5062575"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274320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8" name="TextBox 7"/>
          <p:cNvSpPr txBox="1"/>
          <p:nvPr/>
        </p:nvSpPr>
        <p:spPr>
          <a:xfrm>
            <a:off x="987552" y="2734056"/>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Create bug, feature, and documentation tasks.</a:t>
            </a:r>
          </a:p>
        </p:txBody>
      </p:sp>
      <p:sp>
        <p:nvSpPr>
          <p:cNvPr id="9" name="TextBox 8"/>
          <p:cNvSpPr txBox="1"/>
          <p:nvPr/>
        </p:nvSpPr>
        <p:spPr>
          <a:xfrm>
            <a:off x="713232" y="3346704"/>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0" name="TextBox 9"/>
          <p:cNvSpPr txBox="1"/>
          <p:nvPr/>
        </p:nvSpPr>
        <p:spPr>
          <a:xfrm>
            <a:off x="987552" y="3337560"/>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Order the list by priority, deadline, or severity.</a:t>
            </a:r>
          </a:p>
        </p:txBody>
      </p:sp>
      <p:sp>
        <p:nvSpPr>
          <p:cNvPr id="11" name="TextBox 10"/>
          <p:cNvSpPr txBox="1"/>
          <p:nvPr/>
        </p:nvSpPr>
        <p:spPr>
          <a:xfrm>
            <a:off x="713232" y="3950208"/>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2" name="TextBox 11"/>
          <p:cNvSpPr txBox="1"/>
          <p:nvPr/>
        </p:nvSpPr>
        <p:spPr>
          <a:xfrm>
            <a:off x="987552" y="3941064"/>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Move tasks through a validated lifecycle.</a:t>
            </a:r>
          </a:p>
        </p:txBody>
      </p:sp>
      <p:sp>
        <p:nvSpPr>
          <p:cNvPr id="13" name="TextBox 12"/>
          <p:cNvSpPr txBox="1"/>
          <p:nvPr/>
        </p:nvSpPr>
        <p:spPr>
          <a:xfrm>
            <a:off x="713232" y="4553712"/>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4" name="TextBox 13"/>
          <p:cNvSpPr txBox="1"/>
          <p:nvPr/>
        </p:nvSpPr>
        <p:spPr>
          <a:xfrm>
            <a:off x="987552" y="4544568"/>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Filter the list by status and summarise it.</a:t>
            </a:r>
          </a:p>
        </p:txBody>
      </p:sp>
      <p:sp>
        <p:nvSpPr>
          <p:cNvPr id="15" name="TextBox 14"/>
          <p:cNvSpPr txBox="1"/>
          <p:nvPr/>
        </p:nvSpPr>
        <p:spPr>
          <a:xfrm>
            <a:off x="6415887" y="2240280"/>
            <a:ext cx="5062575" cy="274320"/>
          </a:xfrm>
          <a:prstGeom prst="rect">
            <a:avLst/>
          </a:prstGeom>
          <a:noFill/>
        </p:spPr>
        <p:txBody>
          <a:bodyPr wrap="square" anchor="t" lIns="0" rIns="0" tIns="0" bIns="0">
            <a:spAutoFit/>
          </a:bodyPr>
          <a:lstStyle/>
          <a:p>
            <a:pPr algn="l"/>
            <a:r>
              <a:rPr sz="1100" b="1" spc="160">
                <a:solidFill>
                  <a:srgbClr val="6E6E6E"/>
                </a:solidFill>
                <a:latin typeface="Inter"/>
              </a:rPr>
              <a:t>NON-FUNCTIONAL REQUIREMENTS</a:t>
            </a:r>
          </a:p>
        </p:txBody>
      </p:sp>
      <p:cxnSp>
        <p:nvCxnSpPr>
          <p:cNvPr id="16" name="Connector 15"/>
          <p:cNvCxnSpPr/>
          <p:nvPr/>
        </p:nvCxnSpPr>
        <p:spPr>
          <a:xfrm>
            <a:off x="6415887" y="2569464"/>
            <a:ext cx="5062576"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15887" y="274320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8" name="TextBox 17"/>
          <p:cNvSpPr txBox="1"/>
          <p:nvPr/>
        </p:nvSpPr>
        <p:spPr>
          <a:xfrm>
            <a:off x="6690207" y="2734056"/>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Extensible: new types or orderings, no edits to existing code.</a:t>
            </a:r>
          </a:p>
        </p:txBody>
      </p:sp>
      <p:sp>
        <p:nvSpPr>
          <p:cNvPr id="19" name="TextBox 18"/>
          <p:cNvSpPr txBox="1"/>
          <p:nvPr/>
        </p:nvSpPr>
        <p:spPr>
          <a:xfrm>
            <a:off x="6415887" y="3346704"/>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0" name="TextBox 19"/>
          <p:cNvSpPr txBox="1"/>
          <p:nvPr/>
        </p:nvSpPr>
        <p:spPr>
          <a:xfrm>
            <a:off x="6690207" y="3337560"/>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Pure Java 8+, zero external dependencies.</a:t>
            </a:r>
          </a:p>
        </p:txBody>
      </p:sp>
      <p:sp>
        <p:nvSpPr>
          <p:cNvPr id="21" name="TextBox 20"/>
          <p:cNvSpPr txBox="1"/>
          <p:nvPr/>
        </p:nvSpPr>
        <p:spPr>
          <a:xfrm>
            <a:off x="6415887" y="3950208"/>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2" name="TextBox 21"/>
          <p:cNvSpPr txBox="1"/>
          <p:nvPr/>
        </p:nvSpPr>
        <p:spPr>
          <a:xfrm>
            <a:off x="6690207" y="3941064"/>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Runnable from the terminal: tests, console, and a GUI.</a:t>
            </a:r>
          </a:p>
        </p:txBody>
      </p:sp>
      <p:sp>
        <p:nvSpPr>
          <p:cNvPr id="23" name="TextBox 22"/>
          <p:cNvSpPr txBox="1"/>
          <p:nvPr/>
        </p:nvSpPr>
        <p:spPr>
          <a:xfrm>
            <a:off x="6415887" y="4553712"/>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4" name="TextBox 23"/>
          <p:cNvSpPr txBox="1"/>
          <p:nvPr/>
        </p:nvSpPr>
        <p:spPr>
          <a:xfrm>
            <a:off x="6690207" y="4544568"/>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Explainable: the design must hold up in a viva.</a:t>
            </a:r>
          </a:p>
        </p:txBody>
      </p:sp>
      <p:cxnSp>
        <p:nvCxnSpPr>
          <p:cNvPr id="25" name="Connector 24"/>
          <p:cNvCxnSpPr/>
          <p:nvPr/>
        </p:nvCxnSpPr>
        <p:spPr>
          <a:xfrm>
            <a:off x="713232" y="5623560"/>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13232" y="5760720"/>
            <a:ext cx="10765231" cy="457200"/>
          </a:xfrm>
          <a:prstGeom prst="rect">
            <a:avLst/>
          </a:prstGeom>
          <a:noFill/>
        </p:spPr>
        <p:txBody>
          <a:bodyPr wrap="square" anchor="t" lIns="0" rIns="0" tIns="0" bIns="0">
            <a:spAutoFit/>
          </a:bodyPr>
          <a:lstStyle/>
          <a:p>
            <a:pPr algn="l">
              <a:lnSpc>
                <a:spcPct val="130000"/>
              </a:lnSpc>
            </a:pPr>
            <a:r>
              <a:rPr sz="1200" b="1">
                <a:solidFill>
                  <a:srgbClr val="0B0B0B"/>
                </a:solidFill>
                <a:latin typeface="Inter"/>
              </a:rPr>
              <a:t>Two requirements drive the whole design: tasks are created in different ways, and the same list is ordered in different ways.</a:t>
            </a:r>
          </a:p>
        </p:txBody>
      </p:sp>
      <p:sp>
        <p:nvSpPr>
          <p:cNvPr id="27" name="TextBox 26"/>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28" name="TextBox 27"/>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05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PROBLEM DEFINITION · PROBLEM 1</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Tasks have different creation logic.</a:t>
            </a:r>
          </a:p>
        </p:txBody>
      </p:sp>
      <p:sp>
        <p:nvSpPr>
          <p:cNvPr id="5" name="TextBox 4"/>
          <p:cNvSpPr txBox="1"/>
          <p:nvPr/>
        </p:nvSpPr>
        <p:spPr>
          <a:xfrm>
            <a:off x="713232" y="2084831"/>
            <a:ext cx="10765231" cy="640080"/>
          </a:xfrm>
          <a:prstGeom prst="rect">
            <a:avLst/>
          </a:prstGeom>
          <a:noFill/>
        </p:spPr>
        <p:txBody>
          <a:bodyPr wrap="square" anchor="t" lIns="0" rIns="0" tIns="0" bIns="0">
            <a:spAutoFit/>
          </a:bodyPr>
          <a:lstStyle/>
          <a:p>
            <a:pPr algn="l">
              <a:lnSpc>
                <a:spcPct val="135000"/>
              </a:lnSpc>
            </a:pPr>
            <a:r>
              <a:rPr sz="1300" b="0">
                <a:solidFill>
                  <a:srgbClr val="6E6E6E"/>
                </a:solidFill>
                <a:latin typeface="Inter"/>
              </a:rPr>
              <a:t>Each task type carries different fields and different defaults. Building them by hand couples every caller to the concrete classes.</a:t>
            </a:r>
          </a:p>
        </p:txBody>
      </p:sp>
      <p:sp>
        <p:nvSpPr>
          <p:cNvPr id="6" name="Rounded Rectangle 5"/>
          <p:cNvSpPr/>
          <p:nvPr/>
        </p:nvSpPr>
        <p:spPr>
          <a:xfrm>
            <a:off x="713232" y="2788920"/>
            <a:ext cx="10765231" cy="1067371"/>
          </a:xfrm>
          <a:prstGeom prst="roundRect">
            <a:avLst>
              <a:gd name="adj" fmla="val 4000"/>
            </a:avLst>
          </a:prstGeom>
          <a:solidFill>
            <a:srgbClr val="F6F6F4"/>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t" wrap="none" lIns="256032" rIns="182880" tIns="146304" bIns="109728">
            <a:spAutoFit/>
          </a:bodyPr>
          <a:lstStyle/>
          <a:p>
            <a:pPr algn="l">
              <a:lnSpc>
                <a:spcPct val="142000"/>
              </a:lnSpc>
            </a:pPr>
            <a:r>
              <a:rPr sz="1250">
                <a:solidFill>
                  <a:srgbClr val="8250DF"/>
                </a:solidFill>
                <a:latin typeface="Consolas"/>
              </a:rPr>
              <a:t>new</a:t>
            </a:r>
            <a:r>
              <a:rPr sz="1250">
                <a:solidFill>
                  <a:srgbClr val="0B0B0B"/>
                </a:solidFill>
                <a:latin typeface="Consolas"/>
              </a:rPr>
              <a:t> </a:t>
            </a:r>
            <a:r>
              <a:rPr sz="1250">
                <a:solidFill>
                  <a:srgbClr val="0550AE"/>
                </a:solidFill>
                <a:latin typeface="Consolas"/>
              </a:rPr>
              <a:t>BugTask</a:t>
            </a:r>
            <a:r>
              <a:rPr sz="1250">
                <a:solidFill>
                  <a:srgbClr val="0B0B0B"/>
                </a:solidFill>
                <a:latin typeface="Consolas"/>
              </a:rPr>
              <a:t>(</a:t>
            </a:r>
            <a:r>
              <a:rPr sz="1250">
                <a:solidFill>
                  <a:srgbClr val="0B0B0B"/>
                </a:solidFill>
                <a:latin typeface="Consolas"/>
              </a:rPr>
              <a:t>title</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priority</a:t>
            </a:r>
            <a:r>
              <a:rPr sz="1250">
                <a:solidFill>
                  <a:srgbClr val="0B0B0B"/>
                </a:solidFill>
                <a:latin typeface="Consolas"/>
              </a:rPr>
              <a:t>,</a:t>
            </a:r>
            <a:r>
              <a:rPr sz="1250">
                <a:solidFill>
                  <a:srgbClr val="0B0B0B"/>
                </a:solidFill>
                <a:latin typeface="Consolas"/>
              </a:rPr>
              <a:t> </a:t>
            </a:r>
            <a:r>
              <a:rPr sz="1250">
                <a:solidFill>
                  <a:srgbClr val="0A7B33"/>
                </a:solidFill>
                <a:latin typeface="Consolas"/>
              </a:rPr>
              <a:t>"MEDIUM"</a:t>
            </a:r>
            <a:r>
              <a:rPr sz="1250">
                <a:solidFill>
                  <a:srgbClr val="0B0B0B"/>
                </a:solidFill>
                <a:latin typeface="Consolas"/>
              </a:rPr>
              <a:t>,</a:t>
            </a:r>
            <a:r>
              <a:rPr sz="1250">
                <a:solidFill>
                  <a:srgbClr val="0B0B0B"/>
                </a:solidFill>
                <a:latin typeface="Consolas"/>
              </a:rPr>
              <a:t> </a:t>
            </a:r>
            <a:r>
              <a:rPr sz="1250">
                <a:solidFill>
                  <a:srgbClr val="0A7B33"/>
                </a:solidFill>
                <a:latin typeface="Consolas"/>
              </a:rPr>
              <a:t>""</a:t>
            </a:r>
            <a:r>
              <a:rPr sz="1250">
                <a:solidFill>
                  <a:srgbClr val="0B0B0B"/>
                </a:solidFill>
                <a:latin typeface="Consolas"/>
              </a:rPr>
              <a:t>)</a:t>
            </a:r>
            <a:r>
              <a:rPr sz="1250">
                <a:solidFill>
                  <a:srgbClr val="0B0B0B"/>
                </a:solidFill>
                <a:latin typeface="Consolas"/>
              </a:rPr>
              <a:t>;</a:t>
            </a:r>
            <a:r>
              <a:rPr sz="1250">
                <a:solidFill>
                  <a:srgbClr val="0B0B0B"/>
                </a:solidFill>
                <a:latin typeface="Consolas"/>
              </a:rPr>
              <a:t>          </a:t>
            </a:r>
            <a:r>
              <a:rPr sz="1250">
                <a:solidFill>
                  <a:srgbClr val="6E7781"/>
                </a:solidFill>
                <a:latin typeface="Consolas"/>
              </a:rPr>
              <a:t>// severity + steps</a:t>
            </a:r>
          </a:p>
          <a:p>
            <a:pPr algn="l">
              <a:lnSpc>
                <a:spcPct val="142000"/>
              </a:lnSpc>
            </a:pPr>
            <a:r>
              <a:rPr sz="1250">
                <a:solidFill>
                  <a:srgbClr val="8250DF"/>
                </a:solidFill>
                <a:latin typeface="Consolas"/>
              </a:rPr>
              <a:t>new</a:t>
            </a:r>
            <a:r>
              <a:rPr sz="1250">
                <a:solidFill>
                  <a:srgbClr val="0B0B0B"/>
                </a:solidFill>
                <a:latin typeface="Consolas"/>
              </a:rPr>
              <a:t> </a:t>
            </a:r>
            <a:r>
              <a:rPr sz="1250">
                <a:solidFill>
                  <a:srgbClr val="0550AE"/>
                </a:solidFill>
                <a:latin typeface="Consolas"/>
              </a:rPr>
              <a:t>FeatureTask</a:t>
            </a:r>
            <a:r>
              <a:rPr sz="1250">
                <a:solidFill>
                  <a:srgbClr val="0B0B0B"/>
                </a:solidFill>
                <a:latin typeface="Consolas"/>
              </a:rPr>
              <a:t>(</a:t>
            </a:r>
            <a:r>
              <a:rPr sz="1250">
                <a:solidFill>
                  <a:srgbClr val="0B0B0B"/>
                </a:solidFill>
                <a:latin typeface="Consolas"/>
              </a:rPr>
              <a:t>title</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priority</a:t>
            </a:r>
            <a:r>
              <a:rPr sz="1250">
                <a:solidFill>
                  <a:srgbClr val="0B0B0B"/>
                </a:solidFill>
                <a:latin typeface="Consolas"/>
              </a:rPr>
              <a:t>,</a:t>
            </a:r>
            <a:r>
              <a:rPr sz="1250">
                <a:solidFill>
                  <a:srgbClr val="0B0B0B"/>
                </a:solidFill>
                <a:latin typeface="Consolas"/>
              </a:rPr>
              <a:t> </a:t>
            </a:r>
            <a:r>
              <a:rPr sz="1250">
                <a:solidFill>
                  <a:srgbClr val="0550AE"/>
                </a:solidFill>
                <a:latin typeface="Consolas"/>
              </a:rPr>
              <a:t>8</a:t>
            </a:r>
            <a:r>
              <a:rPr sz="1250">
                <a:solidFill>
                  <a:srgbClr val="0B0B0B"/>
                </a:solidFill>
                <a:latin typeface="Consolas"/>
              </a:rPr>
              <a:t>,</a:t>
            </a:r>
            <a:r>
              <a:rPr sz="1250">
                <a:solidFill>
                  <a:srgbClr val="0B0B0B"/>
                </a:solidFill>
                <a:latin typeface="Consolas"/>
              </a:rPr>
              <a:t> </a:t>
            </a:r>
            <a:r>
              <a:rPr sz="1250">
                <a:solidFill>
                  <a:srgbClr val="0550AE"/>
                </a:solidFill>
                <a:latin typeface="Consolas"/>
              </a:rPr>
              <a:t>5</a:t>
            </a:r>
            <a:r>
              <a:rPr sz="1250">
                <a:solidFill>
                  <a:srgbClr val="0B0B0B"/>
                </a:solidFill>
                <a:latin typeface="Consolas"/>
              </a:rPr>
              <a:t>)</a:t>
            </a:r>
            <a:r>
              <a:rPr sz="1250">
                <a:solidFill>
                  <a:srgbClr val="0B0B0B"/>
                </a:solidFill>
                <a:latin typeface="Consolas"/>
              </a:rPr>
              <a:t>;</a:t>
            </a:r>
            <a:r>
              <a:rPr sz="1250">
                <a:solidFill>
                  <a:srgbClr val="0B0B0B"/>
                </a:solidFill>
                <a:latin typeface="Consolas"/>
              </a:rPr>
              <a:t>              </a:t>
            </a:r>
            <a:r>
              <a:rPr sz="1250">
                <a:solidFill>
                  <a:srgbClr val="6E7781"/>
                </a:solidFill>
                <a:latin typeface="Consolas"/>
              </a:rPr>
              <a:t>// effort + value</a:t>
            </a:r>
          </a:p>
          <a:p>
            <a:pPr algn="l">
              <a:lnSpc>
                <a:spcPct val="142000"/>
              </a:lnSpc>
            </a:pPr>
            <a:r>
              <a:rPr sz="1250">
                <a:solidFill>
                  <a:srgbClr val="8250DF"/>
                </a:solidFill>
                <a:latin typeface="Consolas"/>
              </a:rPr>
              <a:t>new</a:t>
            </a:r>
            <a:r>
              <a:rPr sz="1250">
                <a:solidFill>
                  <a:srgbClr val="0B0B0B"/>
                </a:solidFill>
                <a:latin typeface="Consolas"/>
              </a:rPr>
              <a:t> </a:t>
            </a:r>
            <a:r>
              <a:rPr sz="1250">
                <a:solidFill>
                  <a:srgbClr val="0550AE"/>
                </a:solidFill>
                <a:latin typeface="Consolas"/>
              </a:rPr>
              <a:t>DocumentationTask</a:t>
            </a:r>
            <a:r>
              <a:rPr sz="1250">
                <a:solidFill>
                  <a:srgbClr val="0B0B0B"/>
                </a:solidFill>
                <a:latin typeface="Consolas"/>
              </a:rPr>
              <a:t>(</a:t>
            </a:r>
            <a:r>
              <a:rPr sz="1250">
                <a:solidFill>
                  <a:srgbClr val="0B0B0B"/>
                </a:solidFill>
                <a:latin typeface="Consolas"/>
              </a:rPr>
              <a:t>title</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priority</a:t>
            </a:r>
            <a:r>
              <a:rPr sz="1250">
                <a:solidFill>
                  <a:srgbClr val="0B0B0B"/>
                </a:solidFill>
                <a:latin typeface="Consolas"/>
              </a:rPr>
              <a:t>,</a:t>
            </a:r>
            <a:r>
              <a:rPr sz="1250">
                <a:solidFill>
                  <a:srgbClr val="0B0B0B"/>
                </a:solidFill>
                <a:latin typeface="Consolas"/>
              </a:rPr>
              <a:t> </a:t>
            </a:r>
            <a:r>
              <a:rPr sz="1250">
                <a:solidFill>
                  <a:srgbClr val="0A7B33"/>
                </a:solidFill>
                <a:latin typeface="Consolas"/>
              </a:rPr>
              <a:t>"API"</a:t>
            </a:r>
            <a:r>
              <a:rPr sz="1250">
                <a:solidFill>
                  <a:srgbClr val="0B0B0B"/>
                </a:solidFill>
                <a:latin typeface="Consolas"/>
              </a:rPr>
              <a:t>,</a:t>
            </a:r>
            <a:r>
              <a:rPr sz="1250">
                <a:solidFill>
                  <a:srgbClr val="0B0B0B"/>
                </a:solidFill>
                <a:latin typeface="Consolas"/>
              </a:rPr>
              <a:t> </a:t>
            </a:r>
            <a:r>
              <a:rPr sz="1250">
                <a:solidFill>
                  <a:srgbClr val="0A7B33"/>
                </a:solidFill>
                <a:latin typeface="Consolas"/>
              </a:rPr>
              <a:t>"Developers"</a:t>
            </a:r>
            <a:r>
              <a:rPr sz="1250">
                <a:solidFill>
                  <a:srgbClr val="0B0B0B"/>
                </a:solidFill>
                <a:latin typeface="Consolas"/>
              </a:rPr>
              <a:t>)</a:t>
            </a:r>
            <a:r>
              <a:rPr sz="1250">
                <a:solidFill>
                  <a:srgbClr val="0B0B0B"/>
                </a:solidFill>
                <a:latin typeface="Consolas"/>
              </a:rPr>
              <a:t>;</a:t>
            </a:r>
          </a:p>
        </p:txBody>
      </p:sp>
      <p:cxnSp>
        <p:nvCxnSpPr>
          <p:cNvPr id="7" name="Connector 6"/>
          <p:cNvCxnSpPr/>
          <p:nvPr/>
        </p:nvCxnSpPr>
        <p:spPr>
          <a:xfrm>
            <a:off x="713232" y="4617720"/>
            <a:ext cx="3283610"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4754880"/>
            <a:ext cx="3283610" cy="1554480"/>
          </a:xfrm>
          <a:prstGeom prst="rect">
            <a:avLst/>
          </a:prstGeom>
          <a:noFill/>
        </p:spPr>
        <p:txBody>
          <a:bodyPr wrap="square" anchor="t" lIns="0" rIns="0" tIns="0" bIns="0">
            <a:spAutoFit/>
          </a:bodyPr>
          <a:lstStyle/>
          <a:p>
            <a:pPr algn="l">
              <a:spcAft>
                <a:spcPts val="400"/>
              </a:spcAft>
            </a:pPr>
            <a:r>
              <a:rPr sz="1250" b="1">
                <a:solidFill>
                  <a:srgbClr val="0B0B0B"/>
                </a:solidFill>
                <a:latin typeface="Inter"/>
              </a:rPr>
              <a:t>The smell</a:t>
            </a:r>
          </a:p>
          <a:p>
            <a:pPr algn="l">
              <a:lnSpc>
                <a:spcPct val="130000"/>
              </a:lnSpc>
            </a:pPr>
            <a:r>
              <a:rPr sz="1100" b="0">
                <a:solidFill>
                  <a:srgbClr val="6E6E6E"/>
                </a:solidFill>
                <a:latin typeface="Inter"/>
              </a:rPr>
              <a:t>Every entry point imports and names BugTask, FeatureTask, and DocumentationTask directly.</a:t>
            </a:r>
          </a:p>
        </p:txBody>
      </p:sp>
      <p:cxnSp>
        <p:nvCxnSpPr>
          <p:cNvPr id="9" name="Connector 8"/>
          <p:cNvCxnSpPr/>
          <p:nvPr/>
        </p:nvCxnSpPr>
        <p:spPr>
          <a:xfrm>
            <a:off x="4454042" y="4617720"/>
            <a:ext cx="3283610"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4042" y="4754880"/>
            <a:ext cx="3283610" cy="1554480"/>
          </a:xfrm>
          <a:prstGeom prst="rect">
            <a:avLst/>
          </a:prstGeom>
          <a:noFill/>
        </p:spPr>
        <p:txBody>
          <a:bodyPr wrap="square" anchor="t" lIns="0" rIns="0" tIns="0" bIns="0">
            <a:spAutoFit/>
          </a:bodyPr>
          <a:lstStyle/>
          <a:p>
            <a:pPr algn="l">
              <a:spcAft>
                <a:spcPts val="400"/>
              </a:spcAft>
            </a:pPr>
            <a:r>
              <a:rPr sz="1250" b="1">
                <a:solidFill>
                  <a:srgbClr val="0B0B0B"/>
                </a:solidFill>
                <a:latin typeface="Inter"/>
              </a:rPr>
              <a:t>The consequence</a:t>
            </a:r>
          </a:p>
          <a:p>
            <a:pPr algn="l">
              <a:lnSpc>
                <a:spcPct val="130000"/>
              </a:lnSpc>
            </a:pPr>
            <a:r>
              <a:rPr sz="1100" b="0">
                <a:solidFill>
                  <a:srgbClr val="6E6E6E"/>
                </a:solidFill>
                <a:latin typeface="Inter"/>
              </a:rPr>
              <a:t>Adding a fourth type means finding and editing every place that creates a task.</a:t>
            </a:r>
          </a:p>
        </p:txBody>
      </p:sp>
      <p:cxnSp>
        <p:nvCxnSpPr>
          <p:cNvPr id="11" name="Connector 10"/>
          <p:cNvCxnSpPr/>
          <p:nvPr/>
        </p:nvCxnSpPr>
        <p:spPr>
          <a:xfrm>
            <a:off x="8194852" y="4617720"/>
            <a:ext cx="3283611"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94852" y="4754880"/>
            <a:ext cx="3283610" cy="1554480"/>
          </a:xfrm>
          <a:prstGeom prst="rect">
            <a:avLst/>
          </a:prstGeom>
          <a:noFill/>
        </p:spPr>
        <p:txBody>
          <a:bodyPr wrap="square" anchor="t" lIns="0" rIns="0" tIns="0" bIns="0">
            <a:spAutoFit/>
          </a:bodyPr>
          <a:lstStyle/>
          <a:p>
            <a:pPr algn="l">
              <a:spcAft>
                <a:spcPts val="400"/>
              </a:spcAft>
            </a:pPr>
            <a:r>
              <a:rPr sz="1250" b="1">
                <a:solidFill>
                  <a:srgbClr val="0B0B0B"/>
                </a:solidFill>
                <a:latin typeface="Inter"/>
              </a:rPr>
              <a:t>What we need</a:t>
            </a:r>
          </a:p>
          <a:p>
            <a:pPr algn="l">
              <a:lnSpc>
                <a:spcPct val="130000"/>
              </a:lnSpc>
            </a:pPr>
            <a:r>
              <a:rPr sz="1100" b="0">
                <a:solidFill>
                  <a:srgbClr val="6E6E6E"/>
                </a:solidFill>
                <a:latin typeface="Inter"/>
              </a:rPr>
              <a:t>Create a task from a type identifier, without the caller naming a concrete class.</a:t>
            </a:r>
          </a:p>
        </p:txBody>
      </p:sp>
      <p:sp>
        <p:nvSpPr>
          <p:cNvPr id="13" name="TextBox 12"/>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4" name="TextBox 13"/>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06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PROBLEM DEFINITION · PROBLEM 2</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Ordering depends on the context.</a:t>
            </a:r>
          </a:p>
        </p:txBody>
      </p:sp>
      <p:sp>
        <p:nvSpPr>
          <p:cNvPr id="5" name="TextBox 4"/>
          <p:cNvSpPr txBox="1"/>
          <p:nvPr/>
        </p:nvSpPr>
        <p:spPr>
          <a:xfrm>
            <a:off x="713232" y="2084831"/>
            <a:ext cx="10765231" cy="640080"/>
          </a:xfrm>
          <a:prstGeom prst="rect">
            <a:avLst/>
          </a:prstGeom>
          <a:noFill/>
        </p:spPr>
        <p:txBody>
          <a:bodyPr wrap="square" anchor="t" lIns="0" rIns="0" tIns="0" bIns="0">
            <a:spAutoFit/>
          </a:bodyPr>
          <a:lstStyle/>
          <a:p>
            <a:pPr algn="l">
              <a:lnSpc>
                <a:spcPct val="135000"/>
              </a:lnSpc>
            </a:pPr>
            <a:r>
              <a:rPr sz="1300" b="0">
                <a:solidFill>
                  <a:srgbClr val="6E6E6E"/>
                </a:solidFill>
                <a:latin typeface="Inter"/>
              </a:rPr>
              <a:t>The same task list is sorted differently at different moments. The list never changes; only the ordering rule does.</a:t>
            </a:r>
          </a:p>
        </p:txBody>
      </p:sp>
      <p:sp>
        <p:nvSpPr>
          <p:cNvPr id="6" name="Rounded Rectangle 5"/>
          <p:cNvSpPr/>
          <p:nvPr/>
        </p:nvSpPr>
        <p:spPr>
          <a:xfrm>
            <a:off x="713232" y="2788920"/>
            <a:ext cx="10765231" cy="1559496"/>
          </a:xfrm>
          <a:prstGeom prst="roundRect">
            <a:avLst>
              <a:gd name="adj" fmla="val 4000"/>
            </a:avLst>
          </a:prstGeom>
          <a:solidFill>
            <a:srgbClr val="F6F6F4"/>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t" wrap="none" lIns="256032" rIns="182880" tIns="146304" bIns="109728">
            <a:spAutoFit/>
          </a:bodyPr>
          <a:lstStyle/>
          <a:p>
            <a:pPr algn="l">
              <a:lnSpc>
                <a:spcPct val="142000"/>
              </a:lnSpc>
            </a:pPr>
            <a:r>
              <a:rPr sz="1250">
                <a:solidFill>
                  <a:srgbClr val="8250DF"/>
                </a:solidFill>
                <a:latin typeface="Consolas"/>
              </a:rPr>
              <a:t>switch</a:t>
            </a:r>
            <a:r>
              <a:rPr sz="1250">
                <a:solidFill>
                  <a:srgbClr val="0B0B0B"/>
                </a:solidFill>
                <a:latin typeface="Consolas"/>
              </a:rPr>
              <a:t> </a:t>
            </a:r>
            <a:r>
              <a:rPr sz="1250">
                <a:solidFill>
                  <a:srgbClr val="0B0B0B"/>
                </a:solidFill>
                <a:latin typeface="Consolas"/>
              </a:rPr>
              <a:t>(</a:t>
            </a:r>
            <a:r>
              <a:rPr sz="1250">
                <a:solidFill>
                  <a:srgbClr val="0B0B0B"/>
                </a:solidFill>
                <a:latin typeface="Consolas"/>
              </a:rPr>
              <a:t>sortMode</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a:t>
            </a:r>
          </a:p>
          <a:p>
            <a:pPr algn="l">
              <a:lnSpc>
                <a:spcPct val="142000"/>
              </a:lnSpc>
            </a:pPr>
            <a:r>
              <a:rPr sz="1250">
                <a:solidFill>
                  <a:srgbClr val="0B0B0B"/>
                </a:solidFill>
                <a:latin typeface="Consolas"/>
              </a:rPr>
              <a:t>    </a:t>
            </a:r>
            <a:r>
              <a:rPr sz="1250">
                <a:solidFill>
                  <a:srgbClr val="8250DF"/>
                </a:solidFill>
                <a:latin typeface="Consolas"/>
              </a:rPr>
              <a:t>case</a:t>
            </a:r>
            <a:r>
              <a:rPr sz="1250">
                <a:solidFill>
                  <a:srgbClr val="0B0B0B"/>
                </a:solidFill>
                <a:latin typeface="Consolas"/>
              </a:rPr>
              <a:t> </a:t>
            </a:r>
            <a:r>
              <a:rPr sz="1250">
                <a:solidFill>
                  <a:srgbClr val="0550AE"/>
                </a:solidFill>
                <a:latin typeface="Consolas"/>
              </a:rPr>
              <a:t>DEADLINE</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sort</a:t>
            </a:r>
            <a:r>
              <a:rPr sz="1250">
                <a:solidFill>
                  <a:srgbClr val="0B0B0B"/>
                </a:solidFill>
                <a:latin typeface="Consolas"/>
              </a:rPr>
              <a:t> </a:t>
            </a:r>
            <a:r>
              <a:rPr sz="1250">
                <a:solidFill>
                  <a:srgbClr val="0B0B0B"/>
                </a:solidFill>
                <a:latin typeface="Consolas"/>
              </a:rPr>
              <a:t>by</a:t>
            </a:r>
            <a:r>
              <a:rPr sz="1250">
                <a:solidFill>
                  <a:srgbClr val="0B0B0B"/>
                </a:solidFill>
                <a:latin typeface="Consolas"/>
              </a:rPr>
              <a:t> </a:t>
            </a:r>
            <a:r>
              <a:rPr sz="1250">
                <a:solidFill>
                  <a:srgbClr val="0B0B0B"/>
                </a:solidFill>
                <a:latin typeface="Consolas"/>
              </a:rPr>
              <a:t>due</a:t>
            </a:r>
            <a:r>
              <a:rPr sz="1250">
                <a:solidFill>
                  <a:srgbClr val="0B0B0B"/>
                </a:solidFill>
                <a:latin typeface="Consolas"/>
              </a:rPr>
              <a:t> </a:t>
            </a:r>
            <a:r>
              <a:rPr sz="1250">
                <a:solidFill>
                  <a:srgbClr val="0B0B0B"/>
                </a:solidFill>
                <a:latin typeface="Consolas"/>
              </a:rPr>
              <a:t>date</a:t>
            </a:r>
            <a:r>
              <a:rPr sz="1250">
                <a:solidFill>
                  <a:srgbClr val="0B0B0B"/>
                </a:solidFill>
                <a:latin typeface="Consolas"/>
              </a:rPr>
              <a:t>   </a:t>
            </a:r>
            <a:r>
              <a:rPr sz="1250">
                <a:solidFill>
                  <a:srgbClr val="0B0B0B"/>
                </a:solidFill>
                <a:latin typeface="Consolas"/>
              </a:rPr>
              <a:t>*</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break</a:t>
            </a:r>
            <a:r>
              <a:rPr sz="1250">
                <a:solidFill>
                  <a:srgbClr val="0B0B0B"/>
                </a:solidFill>
                <a:latin typeface="Consolas"/>
              </a:rPr>
              <a:t>;</a:t>
            </a:r>
          </a:p>
          <a:p>
            <a:pPr algn="l">
              <a:lnSpc>
                <a:spcPct val="142000"/>
              </a:lnSpc>
            </a:pPr>
            <a:r>
              <a:rPr sz="1250">
                <a:solidFill>
                  <a:srgbClr val="0B0B0B"/>
                </a:solidFill>
                <a:latin typeface="Consolas"/>
              </a:rPr>
              <a:t>    </a:t>
            </a:r>
            <a:r>
              <a:rPr sz="1250">
                <a:solidFill>
                  <a:srgbClr val="8250DF"/>
                </a:solidFill>
                <a:latin typeface="Consolas"/>
              </a:rPr>
              <a:t>case</a:t>
            </a:r>
            <a:r>
              <a:rPr sz="1250">
                <a:solidFill>
                  <a:srgbClr val="0B0B0B"/>
                </a:solidFill>
                <a:latin typeface="Consolas"/>
              </a:rPr>
              <a:t> </a:t>
            </a:r>
            <a:r>
              <a:rPr sz="1250">
                <a:solidFill>
                  <a:srgbClr val="0550AE"/>
                </a:solidFill>
                <a:latin typeface="Consolas"/>
              </a:rPr>
              <a:t>SEVERITY</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bugs</a:t>
            </a:r>
            <a:r>
              <a:rPr sz="1250">
                <a:solidFill>
                  <a:srgbClr val="0B0B0B"/>
                </a:solidFill>
                <a:latin typeface="Consolas"/>
              </a:rPr>
              <a:t> </a:t>
            </a:r>
            <a:r>
              <a:rPr sz="1250">
                <a:solidFill>
                  <a:srgbClr val="0B0B0B"/>
                </a:solidFill>
                <a:latin typeface="Consolas"/>
              </a:rPr>
              <a:t>first</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by</a:t>
            </a:r>
            <a:r>
              <a:rPr sz="1250">
                <a:solidFill>
                  <a:srgbClr val="0B0B0B"/>
                </a:solidFill>
                <a:latin typeface="Consolas"/>
              </a:rPr>
              <a:t> </a:t>
            </a:r>
            <a:r>
              <a:rPr sz="1250">
                <a:solidFill>
                  <a:srgbClr val="0B0B0B"/>
                </a:solidFill>
                <a:latin typeface="Consolas"/>
              </a:rPr>
              <a:t>rank</a:t>
            </a:r>
            <a:r>
              <a:rPr sz="1250">
                <a:solidFill>
                  <a:srgbClr val="0B0B0B"/>
                </a:solidFill>
                <a:latin typeface="Consolas"/>
              </a:rPr>
              <a:t> </a:t>
            </a:r>
            <a:r>
              <a:rPr sz="1250">
                <a:solidFill>
                  <a:srgbClr val="0B0B0B"/>
                </a:solidFill>
                <a:latin typeface="Consolas"/>
              </a:rPr>
              <a:t>*</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break</a:t>
            </a:r>
            <a:r>
              <a:rPr sz="1250">
                <a:solidFill>
                  <a:srgbClr val="0B0B0B"/>
                </a:solidFill>
                <a:latin typeface="Consolas"/>
              </a:rPr>
              <a:t>;</a:t>
            </a:r>
          </a:p>
          <a:p>
            <a:pPr algn="l">
              <a:lnSpc>
                <a:spcPct val="142000"/>
              </a:lnSpc>
            </a:pPr>
            <a:r>
              <a:rPr sz="1250">
                <a:solidFill>
                  <a:srgbClr val="0B0B0B"/>
                </a:solidFill>
                <a:latin typeface="Consolas"/>
              </a:rPr>
              <a:t>    </a:t>
            </a:r>
            <a:r>
              <a:rPr sz="1250">
                <a:solidFill>
                  <a:srgbClr val="8250DF"/>
                </a:solidFill>
                <a:latin typeface="Consolas"/>
              </a:rPr>
              <a:t>case</a:t>
            </a:r>
            <a:r>
              <a:rPr sz="1250">
                <a:solidFill>
                  <a:srgbClr val="0B0B0B"/>
                </a:solidFill>
                <a:latin typeface="Consolas"/>
              </a:rPr>
              <a:t> </a:t>
            </a:r>
            <a:r>
              <a:rPr sz="1250">
                <a:solidFill>
                  <a:srgbClr val="0550AE"/>
                </a:solidFill>
                <a:latin typeface="Consolas"/>
              </a:rPr>
              <a:t>URGENT</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sort</a:t>
            </a:r>
            <a:r>
              <a:rPr sz="1250">
                <a:solidFill>
                  <a:srgbClr val="0B0B0B"/>
                </a:solidFill>
                <a:latin typeface="Consolas"/>
              </a:rPr>
              <a:t> </a:t>
            </a:r>
            <a:r>
              <a:rPr sz="1250">
                <a:solidFill>
                  <a:srgbClr val="0B0B0B"/>
                </a:solidFill>
                <a:latin typeface="Consolas"/>
              </a:rPr>
              <a:t>by</a:t>
            </a:r>
            <a:r>
              <a:rPr sz="1250">
                <a:solidFill>
                  <a:srgbClr val="0B0B0B"/>
                </a:solidFill>
                <a:latin typeface="Consolas"/>
              </a:rPr>
              <a:t> </a:t>
            </a:r>
            <a:r>
              <a:rPr sz="1250">
                <a:solidFill>
                  <a:srgbClr val="0B0B0B"/>
                </a:solidFill>
                <a:latin typeface="Consolas"/>
              </a:rPr>
              <a:t>priority</a:t>
            </a:r>
            <a:r>
              <a:rPr sz="1250">
                <a:solidFill>
                  <a:srgbClr val="0B0B0B"/>
                </a:solidFill>
                <a:latin typeface="Consolas"/>
              </a:rPr>
              <a:t>    </a:t>
            </a:r>
            <a:r>
              <a:rPr sz="1250">
                <a:solidFill>
                  <a:srgbClr val="0B0B0B"/>
                </a:solidFill>
                <a:latin typeface="Consolas"/>
              </a:rPr>
              <a:t>*</a:t>
            </a:r>
            <a:r>
              <a:rPr sz="1250">
                <a:solidFill>
                  <a:srgbClr val="0B0B0B"/>
                </a:solidFill>
                <a:latin typeface="Consolas"/>
              </a:rPr>
              <a:t>/</a:t>
            </a:r>
            <a:r>
              <a:rPr sz="1250">
                <a:solidFill>
                  <a:srgbClr val="0B0B0B"/>
                </a:solidFill>
                <a:latin typeface="Consolas"/>
              </a:rPr>
              <a:t> </a:t>
            </a:r>
            <a:r>
              <a:rPr sz="1250">
                <a:solidFill>
                  <a:srgbClr val="0B0B0B"/>
                </a:solidFill>
                <a:latin typeface="Consolas"/>
              </a:rPr>
              <a:t>break</a:t>
            </a:r>
            <a:r>
              <a:rPr sz="1250">
                <a:solidFill>
                  <a:srgbClr val="0B0B0B"/>
                </a:solidFill>
                <a:latin typeface="Consolas"/>
              </a:rPr>
              <a:t>;</a:t>
            </a:r>
          </a:p>
          <a:p>
            <a:pPr algn="l">
              <a:lnSpc>
                <a:spcPct val="142000"/>
              </a:lnSpc>
            </a:pPr>
            <a:r>
              <a:rPr sz="1250">
                <a:solidFill>
                  <a:srgbClr val="0B0B0B"/>
                </a:solidFill>
                <a:latin typeface="Consolas"/>
              </a:rPr>
              <a:t>}</a:t>
            </a:r>
          </a:p>
        </p:txBody>
      </p:sp>
      <p:cxnSp>
        <p:nvCxnSpPr>
          <p:cNvPr id="7" name="Connector 6"/>
          <p:cNvCxnSpPr/>
          <p:nvPr/>
        </p:nvCxnSpPr>
        <p:spPr>
          <a:xfrm>
            <a:off x="713232" y="5120640"/>
            <a:ext cx="3283610"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5257800"/>
            <a:ext cx="3283610" cy="1554480"/>
          </a:xfrm>
          <a:prstGeom prst="rect">
            <a:avLst/>
          </a:prstGeom>
          <a:noFill/>
        </p:spPr>
        <p:txBody>
          <a:bodyPr wrap="square" anchor="t" lIns="0" rIns="0" tIns="0" bIns="0">
            <a:spAutoFit/>
          </a:bodyPr>
          <a:lstStyle/>
          <a:p>
            <a:pPr algn="l">
              <a:spcAft>
                <a:spcPts val="400"/>
              </a:spcAft>
            </a:pPr>
            <a:r>
              <a:rPr sz="1250" b="1">
                <a:solidFill>
                  <a:srgbClr val="0B0B0B"/>
                </a:solidFill>
                <a:latin typeface="Inter"/>
              </a:rPr>
              <a:t>The smell</a:t>
            </a:r>
          </a:p>
          <a:p>
            <a:pPr algn="l">
              <a:lnSpc>
                <a:spcPct val="130000"/>
              </a:lnSpc>
            </a:pPr>
            <a:r>
              <a:rPr sz="1100" b="0">
                <a:solidFill>
                  <a:srgbClr val="6E6E6E"/>
                </a:solidFill>
                <a:latin typeface="Inter"/>
              </a:rPr>
              <a:t>One growing switch statement inside the manager carries every ordering rule.</a:t>
            </a:r>
          </a:p>
        </p:txBody>
      </p:sp>
      <p:cxnSp>
        <p:nvCxnSpPr>
          <p:cNvPr id="9" name="Connector 8"/>
          <p:cNvCxnSpPr/>
          <p:nvPr/>
        </p:nvCxnSpPr>
        <p:spPr>
          <a:xfrm>
            <a:off x="4454042" y="5120640"/>
            <a:ext cx="3283610"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4042" y="5257800"/>
            <a:ext cx="3283610" cy="1554480"/>
          </a:xfrm>
          <a:prstGeom prst="rect">
            <a:avLst/>
          </a:prstGeom>
          <a:noFill/>
        </p:spPr>
        <p:txBody>
          <a:bodyPr wrap="square" anchor="t" lIns="0" rIns="0" tIns="0" bIns="0">
            <a:spAutoFit/>
          </a:bodyPr>
          <a:lstStyle/>
          <a:p>
            <a:pPr algn="l">
              <a:spcAft>
                <a:spcPts val="400"/>
              </a:spcAft>
            </a:pPr>
            <a:r>
              <a:rPr sz="1250" b="1">
                <a:solidFill>
                  <a:srgbClr val="0B0B0B"/>
                </a:solidFill>
                <a:latin typeface="Inter"/>
              </a:rPr>
              <a:t>The consequence</a:t>
            </a:r>
          </a:p>
          <a:p>
            <a:pPr algn="l">
              <a:lnSpc>
                <a:spcPct val="130000"/>
              </a:lnSpc>
            </a:pPr>
            <a:r>
              <a:rPr sz="1100" b="0">
                <a:solidFill>
                  <a:srgbClr val="6E6E6E"/>
                </a:solidFill>
                <a:latin typeface="Inter"/>
              </a:rPr>
              <a:t>Each new context edits tested code, which breaks the Open/Closed principle.</a:t>
            </a:r>
          </a:p>
        </p:txBody>
      </p:sp>
      <p:cxnSp>
        <p:nvCxnSpPr>
          <p:cNvPr id="11" name="Connector 10"/>
          <p:cNvCxnSpPr/>
          <p:nvPr/>
        </p:nvCxnSpPr>
        <p:spPr>
          <a:xfrm>
            <a:off x="8194852" y="5120640"/>
            <a:ext cx="3283611"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94852" y="5257800"/>
            <a:ext cx="3283610" cy="1554480"/>
          </a:xfrm>
          <a:prstGeom prst="rect">
            <a:avLst/>
          </a:prstGeom>
          <a:noFill/>
        </p:spPr>
        <p:txBody>
          <a:bodyPr wrap="square" anchor="t" lIns="0" rIns="0" tIns="0" bIns="0">
            <a:spAutoFit/>
          </a:bodyPr>
          <a:lstStyle/>
          <a:p>
            <a:pPr algn="l">
              <a:spcAft>
                <a:spcPts val="400"/>
              </a:spcAft>
            </a:pPr>
            <a:r>
              <a:rPr sz="1250" b="1">
                <a:solidFill>
                  <a:srgbClr val="0B0B0B"/>
                </a:solidFill>
                <a:latin typeface="Inter"/>
              </a:rPr>
              <a:t>What we need</a:t>
            </a:r>
          </a:p>
          <a:p>
            <a:pPr algn="l">
              <a:lnSpc>
                <a:spcPct val="130000"/>
              </a:lnSpc>
            </a:pPr>
            <a:r>
              <a:rPr sz="1100" b="0">
                <a:solidFill>
                  <a:srgbClr val="6E6E6E"/>
                </a:solidFill>
                <a:latin typeface="Inter"/>
              </a:rPr>
              <a:t>Swap the ordering at runtime, and add new orderings without touching the manager.</a:t>
            </a:r>
          </a:p>
        </p:txBody>
      </p:sp>
      <p:sp>
        <p:nvSpPr>
          <p:cNvPr id="13" name="TextBox 12"/>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4" name="TextBox 13"/>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07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80">
                <a:solidFill>
                  <a:srgbClr val="9A9A9A"/>
                </a:solidFill>
                <a:latin typeface="Inter"/>
              </a:rPr>
              <a:t>SECTION 02</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 + MOUHAMMAD</a:t>
            </a:r>
          </a:p>
        </p:txBody>
      </p:sp>
      <p:cxnSp>
        <p:nvCxnSpPr>
          <p:cNvPr id="4" name="Connector 3"/>
          <p:cNvCxnSpPr/>
          <p:nvPr/>
        </p:nvCxnSpPr>
        <p:spPr>
          <a:xfrm>
            <a:off x="713232" y="2743200"/>
            <a:ext cx="10765231" cy="0"/>
          </a:xfrm>
          <a:prstGeom prst="line">
            <a:avLst/>
          </a:prstGeom>
          <a:ln w="12700">
            <a:solidFill>
              <a:srgbClr val="2E2E2E"/>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3232" y="3017520"/>
            <a:ext cx="10765231" cy="1645920"/>
          </a:xfrm>
          <a:prstGeom prst="rect">
            <a:avLst/>
          </a:prstGeom>
          <a:noFill/>
        </p:spPr>
        <p:txBody>
          <a:bodyPr wrap="square" anchor="t" lIns="0" rIns="0" tIns="0" bIns="0">
            <a:spAutoFit/>
          </a:bodyPr>
          <a:lstStyle/>
          <a:p>
            <a:pPr algn="l">
              <a:lnSpc>
                <a:spcPct val="106000"/>
              </a:lnSpc>
            </a:pPr>
            <a:r>
              <a:rPr sz="3600" b="1">
                <a:solidFill>
                  <a:srgbClr val="FFFFFF"/>
                </a:solidFill>
                <a:latin typeface="Inter"/>
              </a:rPr>
              <a:t>The design patterns.</a:t>
            </a:r>
          </a:p>
        </p:txBody>
      </p:sp>
      <p:sp>
        <p:nvSpPr>
          <p:cNvPr id="6" name="TextBox 5"/>
          <p:cNvSpPr txBox="1"/>
          <p:nvPr/>
        </p:nvSpPr>
        <p:spPr>
          <a:xfrm>
            <a:off x="713232" y="5029200"/>
            <a:ext cx="10479938" cy="822960"/>
          </a:xfrm>
          <a:prstGeom prst="rect">
            <a:avLst/>
          </a:prstGeom>
          <a:noFill/>
        </p:spPr>
        <p:txBody>
          <a:bodyPr wrap="square" anchor="t" lIns="0" rIns="0" tIns="0" bIns="0">
            <a:spAutoFit/>
          </a:bodyPr>
          <a:lstStyle/>
          <a:p>
            <a:pPr algn="l">
              <a:lnSpc>
                <a:spcPct val="140000"/>
              </a:lnSpc>
            </a:pPr>
            <a:r>
              <a:rPr sz="1400" b="0">
                <a:solidFill>
                  <a:srgbClr val="9A9A9A"/>
                </a:solidFill>
                <a:latin typeface="Inter"/>
              </a:rPr>
              <a:t>Two patterns chosen to match the two problems, plus a third that the task lifecycle gave us almost for free.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PATTERN SELECTION</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Matching patterns to problems.</a:t>
            </a:r>
          </a:p>
        </p:txBody>
      </p:sp>
      <p:sp>
        <p:nvSpPr>
          <p:cNvPr id="5" name="TextBox 4"/>
          <p:cNvSpPr txBox="1"/>
          <p:nvPr/>
        </p:nvSpPr>
        <p:spPr>
          <a:xfrm>
            <a:off x="713232" y="2084831"/>
            <a:ext cx="10765231" cy="640080"/>
          </a:xfrm>
          <a:prstGeom prst="rect">
            <a:avLst/>
          </a:prstGeom>
          <a:noFill/>
        </p:spPr>
        <p:txBody>
          <a:bodyPr wrap="square" anchor="t" lIns="0" rIns="0" tIns="0" bIns="0">
            <a:spAutoFit/>
          </a:bodyPr>
          <a:lstStyle/>
          <a:p>
            <a:pPr algn="l">
              <a:lnSpc>
                <a:spcPct val="135000"/>
              </a:lnSpc>
            </a:pPr>
            <a:r>
              <a:rPr sz="1300" b="0">
                <a:solidFill>
                  <a:srgbClr val="6E6E6E"/>
                </a:solidFill>
                <a:latin typeface="Inter"/>
              </a:rPr>
              <a:t>We did not start from the patterns. We started from the two problems, and each one points to a single, well-fitted pattern.</a:t>
            </a:r>
          </a:p>
        </p:txBody>
      </p:sp>
      <p:cxnSp>
        <p:nvCxnSpPr>
          <p:cNvPr id="6" name="Connector 5"/>
          <p:cNvCxnSpPr/>
          <p:nvPr/>
        </p:nvCxnSpPr>
        <p:spPr>
          <a:xfrm>
            <a:off x="713232" y="2788920"/>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2935224"/>
            <a:ext cx="3931920" cy="640080"/>
          </a:xfrm>
          <a:prstGeom prst="rect">
            <a:avLst/>
          </a:prstGeom>
          <a:noFill/>
        </p:spPr>
        <p:txBody>
          <a:bodyPr wrap="square" anchor="t" lIns="0" rIns="0" tIns="0" bIns="0">
            <a:spAutoFit/>
          </a:bodyPr>
          <a:lstStyle/>
          <a:p>
            <a:pPr algn="l">
              <a:lnSpc>
                <a:spcPct val="125000"/>
              </a:lnSpc>
            </a:pPr>
            <a:r>
              <a:rPr sz="1250" b="0">
                <a:solidFill>
                  <a:srgbClr val="6E6E6E"/>
                </a:solidFill>
                <a:latin typeface="Inter"/>
              </a:rPr>
              <a:t>Problem 1 · different creation logic</a:t>
            </a:r>
          </a:p>
        </p:txBody>
      </p:sp>
      <p:sp>
        <p:nvSpPr>
          <p:cNvPr id="8" name="TextBox 7"/>
          <p:cNvSpPr txBox="1"/>
          <p:nvPr/>
        </p:nvSpPr>
        <p:spPr>
          <a:xfrm>
            <a:off x="4919472" y="2907791"/>
            <a:ext cx="457200" cy="365760"/>
          </a:xfrm>
          <a:prstGeom prst="rect">
            <a:avLst/>
          </a:prstGeom>
          <a:noFill/>
        </p:spPr>
        <p:txBody>
          <a:bodyPr wrap="square" anchor="t" lIns="0" rIns="0" tIns="0" bIns="0">
            <a:spAutoFit/>
          </a:bodyPr>
          <a:lstStyle/>
          <a:p>
            <a:pPr algn="l"/>
            <a:r>
              <a:rPr sz="1500" b="1">
                <a:solidFill>
                  <a:srgbClr val="0B0B0B"/>
                </a:solidFill>
                <a:latin typeface="Inter"/>
              </a:rPr>
              <a:t>→</a:t>
            </a:r>
          </a:p>
        </p:txBody>
      </p:sp>
      <p:sp>
        <p:nvSpPr>
          <p:cNvPr id="9" name="TextBox 8"/>
          <p:cNvSpPr txBox="1"/>
          <p:nvPr/>
        </p:nvSpPr>
        <p:spPr>
          <a:xfrm>
            <a:off x="5468112" y="2907791"/>
            <a:ext cx="2743200" cy="640080"/>
          </a:xfrm>
          <a:prstGeom prst="rect">
            <a:avLst/>
          </a:prstGeom>
          <a:noFill/>
        </p:spPr>
        <p:txBody>
          <a:bodyPr wrap="square" anchor="t" lIns="0" rIns="0" tIns="0" bIns="0">
            <a:spAutoFit/>
          </a:bodyPr>
          <a:lstStyle/>
          <a:p>
            <a:pPr algn="l"/>
            <a:r>
              <a:rPr sz="1500" b="1">
                <a:solidFill>
                  <a:srgbClr val="0B0B0B"/>
                </a:solidFill>
                <a:latin typeface="Inter"/>
              </a:rPr>
              <a:t>Factory Method</a:t>
            </a:r>
          </a:p>
          <a:p>
            <a:pPr algn="l">
              <a:spcBef>
                <a:spcPts val="100"/>
              </a:spcBef>
            </a:pPr>
            <a:r>
              <a:rPr sz="1000" b="0">
                <a:solidFill>
                  <a:srgbClr val="B4B4B4"/>
                </a:solidFill>
                <a:latin typeface="Inter"/>
              </a:rPr>
              <a:t>Creational pattern</a:t>
            </a:r>
          </a:p>
        </p:txBody>
      </p:sp>
      <p:sp>
        <p:nvSpPr>
          <p:cNvPr id="10" name="TextBox 9"/>
          <p:cNvSpPr txBox="1"/>
          <p:nvPr/>
        </p:nvSpPr>
        <p:spPr>
          <a:xfrm>
            <a:off x="8485632" y="2953512"/>
            <a:ext cx="2992831" cy="640080"/>
          </a:xfrm>
          <a:prstGeom prst="rect">
            <a:avLst/>
          </a:prstGeom>
          <a:noFill/>
        </p:spPr>
        <p:txBody>
          <a:bodyPr wrap="square" anchor="t" lIns="0" rIns="0" tIns="0" bIns="0">
            <a:spAutoFit/>
          </a:bodyPr>
          <a:lstStyle/>
          <a:p>
            <a:pPr algn="l">
              <a:lnSpc>
                <a:spcPct val="125000"/>
              </a:lnSpc>
            </a:pPr>
            <a:r>
              <a:rPr sz="1150" b="0">
                <a:solidFill>
                  <a:srgbClr val="6E6E6E"/>
                </a:solidFill>
                <a:latin typeface="Inter"/>
              </a:rPr>
              <a:t>Decouples the caller from the concrete task classes.</a:t>
            </a:r>
          </a:p>
        </p:txBody>
      </p:sp>
      <p:cxnSp>
        <p:nvCxnSpPr>
          <p:cNvPr id="11" name="Connector 10"/>
          <p:cNvCxnSpPr/>
          <p:nvPr/>
        </p:nvCxnSpPr>
        <p:spPr>
          <a:xfrm>
            <a:off x="713232" y="3813048"/>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3232" y="3959352"/>
            <a:ext cx="3931920" cy="640080"/>
          </a:xfrm>
          <a:prstGeom prst="rect">
            <a:avLst/>
          </a:prstGeom>
          <a:noFill/>
        </p:spPr>
        <p:txBody>
          <a:bodyPr wrap="square" anchor="t" lIns="0" rIns="0" tIns="0" bIns="0">
            <a:spAutoFit/>
          </a:bodyPr>
          <a:lstStyle/>
          <a:p>
            <a:pPr algn="l">
              <a:lnSpc>
                <a:spcPct val="125000"/>
              </a:lnSpc>
            </a:pPr>
            <a:r>
              <a:rPr sz="1250" b="0">
                <a:solidFill>
                  <a:srgbClr val="6E6E6E"/>
                </a:solidFill>
                <a:latin typeface="Inter"/>
              </a:rPr>
              <a:t>Problem 2 · context-dependent ordering</a:t>
            </a:r>
          </a:p>
        </p:txBody>
      </p:sp>
      <p:sp>
        <p:nvSpPr>
          <p:cNvPr id="13" name="TextBox 12"/>
          <p:cNvSpPr txBox="1"/>
          <p:nvPr/>
        </p:nvSpPr>
        <p:spPr>
          <a:xfrm>
            <a:off x="4919472" y="3931920"/>
            <a:ext cx="457200" cy="365760"/>
          </a:xfrm>
          <a:prstGeom prst="rect">
            <a:avLst/>
          </a:prstGeom>
          <a:noFill/>
        </p:spPr>
        <p:txBody>
          <a:bodyPr wrap="square" anchor="t" lIns="0" rIns="0" tIns="0" bIns="0">
            <a:spAutoFit/>
          </a:bodyPr>
          <a:lstStyle/>
          <a:p>
            <a:pPr algn="l"/>
            <a:r>
              <a:rPr sz="1500" b="1">
                <a:solidFill>
                  <a:srgbClr val="0B0B0B"/>
                </a:solidFill>
                <a:latin typeface="Inter"/>
              </a:rPr>
              <a:t>→</a:t>
            </a:r>
          </a:p>
        </p:txBody>
      </p:sp>
      <p:sp>
        <p:nvSpPr>
          <p:cNvPr id="14" name="TextBox 13"/>
          <p:cNvSpPr txBox="1"/>
          <p:nvPr/>
        </p:nvSpPr>
        <p:spPr>
          <a:xfrm>
            <a:off x="5468112" y="3931920"/>
            <a:ext cx="2743200" cy="640080"/>
          </a:xfrm>
          <a:prstGeom prst="rect">
            <a:avLst/>
          </a:prstGeom>
          <a:noFill/>
        </p:spPr>
        <p:txBody>
          <a:bodyPr wrap="square" anchor="t" lIns="0" rIns="0" tIns="0" bIns="0">
            <a:spAutoFit/>
          </a:bodyPr>
          <a:lstStyle/>
          <a:p>
            <a:pPr algn="l"/>
            <a:r>
              <a:rPr sz="1500" b="1">
                <a:solidFill>
                  <a:srgbClr val="0B0B0B"/>
                </a:solidFill>
                <a:latin typeface="Inter"/>
              </a:rPr>
              <a:t>Strategy</a:t>
            </a:r>
          </a:p>
          <a:p>
            <a:pPr algn="l">
              <a:spcBef>
                <a:spcPts val="100"/>
              </a:spcBef>
            </a:pPr>
            <a:r>
              <a:rPr sz="1000" b="0">
                <a:solidFill>
                  <a:srgbClr val="B4B4B4"/>
                </a:solidFill>
                <a:latin typeface="Inter"/>
              </a:rPr>
              <a:t>Behavioral pattern</a:t>
            </a:r>
          </a:p>
        </p:txBody>
      </p:sp>
      <p:sp>
        <p:nvSpPr>
          <p:cNvPr id="15" name="TextBox 14"/>
          <p:cNvSpPr txBox="1"/>
          <p:nvPr/>
        </p:nvSpPr>
        <p:spPr>
          <a:xfrm>
            <a:off x="8485632" y="3977639"/>
            <a:ext cx="2992831" cy="640080"/>
          </a:xfrm>
          <a:prstGeom prst="rect">
            <a:avLst/>
          </a:prstGeom>
          <a:noFill/>
        </p:spPr>
        <p:txBody>
          <a:bodyPr wrap="square" anchor="t" lIns="0" rIns="0" tIns="0" bIns="0">
            <a:spAutoFit/>
          </a:bodyPr>
          <a:lstStyle/>
          <a:p>
            <a:pPr algn="l">
              <a:lnSpc>
                <a:spcPct val="125000"/>
              </a:lnSpc>
            </a:pPr>
            <a:r>
              <a:rPr sz="1150" b="0">
                <a:solidFill>
                  <a:srgbClr val="6E6E6E"/>
                </a:solidFill>
                <a:latin typeface="Inter"/>
              </a:rPr>
              <a:t>Makes the ordering a swappable object, chosen at runtime.</a:t>
            </a:r>
          </a:p>
        </p:txBody>
      </p:sp>
      <p:cxnSp>
        <p:nvCxnSpPr>
          <p:cNvPr id="16" name="Connector 15"/>
          <p:cNvCxnSpPr/>
          <p:nvPr/>
        </p:nvCxnSpPr>
        <p:spPr>
          <a:xfrm>
            <a:off x="713232" y="4837176"/>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3232" y="4983480"/>
            <a:ext cx="3931920" cy="640080"/>
          </a:xfrm>
          <a:prstGeom prst="rect">
            <a:avLst/>
          </a:prstGeom>
          <a:noFill/>
        </p:spPr>
        <p:txBody>
          <a:bodyPr wrap="square" anchor="t" lIns="0" rIns="0" tIns="0" bIns="0">
            <a:spAutoFit/>
          </a:bodyPr>
          <a:lstStyle/>
          <a:p>
            <a:pPr algn="l">
              <a:lnSpc>
                <a:spcPct val="125000"/>
              </a:lnSpc>
            </a:pPr>
            <a:r>
              <a:rPr sz="1250" b="0">
                <a:solidFill>
                  <a:srgbClr val="6E6E6E"/>
                </a:solidFill>
                <a:latin typeface="Inter"/>
              </a:rPr>
              <a:t>Bonus · the task lifecycle</a:t>
            </a:r>
          </a:p>
        </p:txBody>
      </p:sp>
      <p:sp>
        <p:nvSpPr>
          <p:cNvPr id="18" name="TextBox 17"/>
          <p:cNvSpPr txBox="1"/>
          <p:nvPr/>
        </p:nvSpPr>
        <p:spPr>
          <a:xfrm>
            <a:off x="4919472" y="4956048"/>
            <a:ext cx="457200" cy="365760"/>
          </a:xfrm>
          <a:prstGeom prst="rect">
            <a:avLst/>
          </a:prstGeom>
          <a:noFill/>
        </p:spPr>
        <p:txBody>
          <a:bodyPr wrap="square" anchor="t" lIns="0" rIns="0" tIns="0" bIns="0">
            <a:spAutoFit/>
          </a:bodyPr>
          <a:lstStyle/>
          <a:p>
            <a:pPr algn="l"/>
            <a:r>
              <a:rPr sz="1500" b="1">
                <a:solidFill>
                  <a:srgbClr val="0B0B0B"/>
                </a:solidFill>
                <a:latin typeface="Inter"/>
              </a:rPr>
              <a:t>→</a:t>
            </a:r>
          </a:p>
        </p:txBody>
      </p:sp>
      <p:sp>
        <p:nvSpPr>
          <p:cNvPr id="19" name="TextBox 18"/>
          <p:cNvSpPr txBox="1"/>
          <p:nvPr/>
        </p:nvSpPr>
        <p:spPr>
          <a:xfrm>
            <a:off x="5468112" y="4956048"/>
            <a:ext cx="2743200" cy="640080"/>
          </a:xfrm>
          <a:prstGeom prst="rect">
            <a:avLst/>
          </a:prstGeom>
          <a:noFill/>
        </p:spPr>
        <p:txBody>
          <a:bodyPr wrap="square" anchor="t" lIns="0" rIns="0" tIns="0" bIns="0">
            <a:spAutoFit/>
          </a:bodyPr>
          <a:lstStyle/>
          <a:p>
            <a:pPr algn="l"/>
            <a:r>
              <a:rPr sz="1500" b="1">
                <a:solidFill>
                  <a:srgbClr val="0B0B0B"/>
                </a:solidFill>
                <a:latin typeface="Inter"/>
              </a:rPr>
              <a:t>State (in an enum)</a:t>
            </a:r>
          </a:p>
          <a:p>
            <a:pPr algn="l">
              <a:spcBef>
                <a:spcPts val="100"/>
              </a:spcBef>
            </a:pPr>
            <a:r>
              <a:rPr sz="1000" b="0">
                <a:solidFill>
                  <a:srgbClr val="B4B4B4"/>
                </a:solidFill>
                <a:latin typeface="Inter"/>
              </a:rPr>
              <a:t>Behavioral pattern</a:t>
            </a:r>
          </a:p>
        </p:txBody>
      </p:sp>
      <p:sp>
        <p:nvSpPr>
          <p:cNvPr id="20" name="TextBox 19"/>
          <p:cNvSpPr txBox="1"/>
          <p:nvPr/>
        </p:nvSpPr>
        <p:spPr>
          <a:xfrm>
            <a:off x="8485632" y="5001768"/>
            <a:ext cx="2992831" cy="640080"/>
          </a:xfrm>
          <a:prstGeom prst="rect">
            <a:avLst/>
          </a:prstGeom>
          <a:noFill/>
        </p:spPr>
        <p:txBody>
          <a:bodyPr wrap="square" anchor="t" lIns="0" rIns="0" tIns="0" bIns="0">
            <a:spAutoFit/>
          </a:bodyPr>
          <a:lstStyle/>
          <a:p>
            <a:pPr algn="l">
              <a:lnSpc>
                <a:spcPct val="125000"/>
              </a:lnSpc>
            </a:pPr>
            <a:r>
              <a:rPr sz="1150" b="0">
                <a:solidFill>
                  <a:srgbClr val="6E6E6E"/>
                </a:solidFill>
                <a:latin typeface="Inter"/>
              </a:rPr>
              <a:t>Each status declares its own legal transitions.</a:t>
            </a:r>
          </a:p>
        </p:txBody>
      </p:sp>
      <p:sp>
        <p:nvSpPr>
          <p:cNvPr id="21" name="TextBox 20"/>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22" name="TextBox 21"/>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09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PATTERN 1 · FACTORY METHOD</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Factory Method, and why it fits.</a:t>
            </a:r>
          </a:p>
        </p:txBody>
      </p:sp>
      <p:cxnSp>
        <p:nvCxnSpPr>
          <p:cNvPr id="5" name="Connector 4"/>
          <p:cNvCxnSpPr/>
          <p:nvPr/>
        </p:nvCxnSpPr>
        <p:spPr>
          <a:xfrm>
            <a:off x="713232" y="2240280"/>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2386584"/>
            <a:ext cx="2240280" cy="548640"/>
          </a:xfrm>
          <a:prstGeom prst="rect">
            <a:avLst/>
          </a:prstGeom>
          <a:noFill/>
        </p:spPr>
        <p:txBody>
          <a:bodyPr wrap="square" anchor="t" lIns="0" rIns="0" tIns="0" bIns="0">
            <a:spAutoFit/>
          </a:bodyPr>
          <a:lstStyle/>
          <a:p>
            <a:pPr algn="l"/>
            <a:r>
              <a:rPr sz="1100" b="1" spc="160">
                <a:solidFill>
                  <a:srgbClr val="0B0B0B"/>
                </a:solidFill>
                <a:latin typeface="Inter"/>
              </a:rPr>
              <a:t>DEFINITION</a:t>
            </a:r>
          </a:p>
        </p:txBody>
      </p:sp>
      <p:sp>
        <p:nvSpPr>
          <p:cNvPr id="7" name="TextBox 6"/>
          <p:cNvSpPr txBox="1"/>
          <p:nvPr/>
        </p:nvSpPr>
        <p:spPr>
          <a:xfrm>
            <a:off x="3136392" y="2359152"/>
            <a:ext cx="8342071" cy="877824"/>
          </a:xfrm>
          <a:prstGeom prst="rect">
            <a:avLst/>
          </a:prstGeom>
          <a:noFill/>
        </p:spPr>
        <p:txBody>
          <a:bodyPr wrap="square" anchor="t" lIns="0" rIns="0" tIns="0" bIns="0">
            <a:spAutoFit/>
          </a:bodyPr>
          <a:lstStyle/>
          <a:p>
            <a:pPr algn="l">
              <a:lnSpc>
                <a:spcPct val="135000"/>
              </a:lnSpc>
            </a:pPr>
            <a:r>
              <a:rPr sz="1250" b="0">
                <a:solidFill>
                  <a:srgbClr val="6E6E6E"/>
                </a:solidFill>
                <a:latin typeface="Inter"/>
              </a:rPr>
              <a:t>Define a method for creating an object, and let each subclass decide which concrete class it produces.</a:t>
            </a:r>
          </a:p>
        </p:txBody>
      </p:sp>
      <p:cxnSp>
        <p:nvCxnSpPr>
          <p:cNvPr id="8" name="Connector 7"/>
          <p:cNvCxnSpPr/>
          <p:nvPr/>
        </p:nvCxnSpPr>
        <p:spPr>
          <a:xfrm>
            <a:off x="713232" y="3172968"/>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3232" y="3319272"/>
            <a:ext cx="2240280" cy="548640"/>
          </a:xfrm>
          <a:prstGeom prst="rect">
            <a:avLst/>
          </a:prstGeom>
          <a:noFill/>
        </p:spPr>
        <p:txBody>
          <a:bodyPr wrap="square" anchor="t" lIns="0" rIns="0" tIns="0" bIns="0">
            <a:spAutoFit/>
          </a:bodyPr>
          <a:lstStyle/>
          <a:p>
            <a:pPr algn="l"/>
            <a:r>
              <a:rPr sz="1100" b="1" spc="160">
                <a:solidFill>
                  <a:srgbClr val="0B0B0B"/>
                </a:solidFill>
                <a:latin typeface="Inter"/>
              </a:rPr>
              <a:t>WHY HERE</a:t>
            </a:r>
          </a:p>
        </p:txBody>
      </p:sp>
      <p:sp>
        <p:nvSpPr>
          <p:cNvPr id="10" name="TextBox 9"/>
          <p:cNvSpPr txBox="1"/>
          <p:nvPr/>
        </p:nvSpPr>
        <p:spPr>
          <a:xfrm>
            <a:off x="3136392" y="3291840"/>
            <a:ext cx="8342071" cy="877824"/>
          </a:xfrm>
          <a:prstGeom prst="rect">
            <a:avLst/>
          </a:prstGeom>
          <a:noFill/>
        </p:spPr>
        <p:txBody>
          <a:bodyPr wrap="square" anchor="t" lIns="0" rIns="0" tIns="0" bIns="0">
            <a:spAutoFit/>
          </a:bodyPr>
          <a:lstStyle/>
          <a:p>
            <a:pPr algn="l">
              <a:lnSpc>
                <a:spcPct val="135000"/>
              </a:lnSpc>
            </a:pPr>
            <a:r>
              <a:rPr sz="1250" b="0">
                <a:solidFill>
                  <a:srgbClr val="6E6E6E"/>
                </a:solidFill>
                <a:latin typeface="Inter"/>
              </a:rPr>
              <a:t>Every task type has its own construction rules and defaults. The caller should not have to know them.</a:t>
            </a:r>
          </a:p>
        </p:txBody>
      </p:sp>
      <p:cxnSp>
        <p:nvCxnSpPr>
          <p:cNvPr id="11" name="Connector 10"/>
          <p:cNvCxnSpPr/>
          <p:nvPr/>
        </p:nvCxnSpPr>
        <p:spPr>
          <a:xfrm>
            <a:off x="713232" y="4105656"/>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3232" y="4251960"/>
            <a:ext cx="2240280" cy="548640"/>
          </a:xfrm>
          <a:prstGeom prst="rect">
            <a:avLst/>
          </a:prstGeom>
          <a:noFill/>
        </p:spPr>
        <p:txBody>
          <a:bodyPr wrap="square" anchor="t" lIns="0" rIns="0" tIns="0" bIns="0">
            <a:spAutoFit/>
          </a:bodyPr>
          <a:lstStyle/>
          <a:p>
            <a:pPr algn="l"/>
            <a:r>
              <a:rPr sz="1100" b="1" spc="160">
                <a:solidFill>
                  <a:srgbClr val="0B0B0B"/>
                </a:solidFill>
                <a:latin typeface="Inter"/>
              </a:rPr>
              <a:t>ADVANTAGE</a:t>
            </a:r>
          </a:p>
        </p:txBody>
      </p:sp>
      <p:sp>
        <p:nvSpPr>
          <p:cNvPr id="13" name="TextBox 12"/>
          <p:cNvSpPr txBox="1"/>
          <p:nvPr/>
        </p:nvSpPr>
        <p:spPr>
          <a:xfrm>
            <a:off x="3136392" y="4224528"/>
            <a:ext cx="8342071" cy="877824"/>
          </a:xfrm>
          <a:prstGeom prst="rect">
            <a:avLst/>
          </a:prstGeom>
          <a:noFill/>
        </p:spPr>
        <p:txBody>
          <a:bodyPr wrap="square" anchor="t" lIns="0" rIns="0" tIns="0" bIns="0">
            <a:spAutoFit/>
          </a:bodyPr>
          <a:lstStyle/>
          <a:p>
            <a:pPr algn="l">
              <a:lnSpc>
                <a:spcPct val="135000"/>
              </a:lnSpc>
            </a:pPr>
            <a:r>
              <a:rPr sz="1250" b="0">
                <a:solidFill>
                  <a:srgbClr val="6E6E6E"/>
                </a:solidFill>
                <a:latin typeface="Inter"/>
              </a:rPr>
              <a:t>A new task type is a new class. Code that creates tasks never changes when a type is added.</a:t>
            </a:r>
          </a:p>
        </p:txBody>
      </p:sp>
      <p:cxnSp>
        <p:nvCxnSpPr>
          <p:cNvPr id="14" name="Connector 13"/>
          <p:cNvCxnSpPr/>
          <p:nvPr/>
        </p:nvCxnSpPr>
        <p:spPr>
          <a:xfrm>
            <a:off x="713232" y="5038344"/>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13232" y="5184648"/>
            <a:ext cx="2240280" cy="548640"/>
          </a:xfrm>
          <a:prstGeom prst="rect">
            <a:avLst/>
          </a:prstGeom>
          <a:noFill/>
        </p:spPr>
        <p:txBody>
          <a:bodyPr wrap="square" anchor="t" lIns="0" rIns="0" tIns="0" bIns="0">
            <a:spAutoFit/>
          </a:bodyPr>
          <a:lstStyle/>
          <a:p>
            <a:pPr algn="l"/>
            <a:r>
              <a:rPr sz="1100" b="1" spc="160">
                <a:solidFill>
                  <a:srgbClr val="0B0B0B"/>
                </a:solidFill>
                <a:latin typeface="Inter"/>
              </a:rPr>
              <a:t>REAL-WORLD</a:t>
            </a:r>
          </a:p>
        </p:txBody>
      </p:sp>
      <p:sp>
        <p:nvSpPr>
          <p:cNvPr id="16" name="TextBox 15"/>
          <p:cNvSpPr txBox="1"/>
          <p:nvPr/>
        </p:nvSpPr>
        <p:spPr>
          <a:xfrm>
            <a:off x="3136392" y="5157216"/>
            <a:ext cx="8342071" cy="877824"/>
          </a:xfrm>
          <a:prstGeom prst="rect">
            <a:avLst/>
          </a:prstGeom>
          <a:noFill/>
        </p:spPr>
        <p:txBody>
          <a:bodyPr wrap="square" anchor="t" lIns="0" rIns="0" tIns="0" bIns="0">
            <a:spAutoFit/>
          </a:bodyPr>
          <a:lstStyle/>
          <a:p>
            <a:pPr algn="l">
              <a:lnSpc>
                <a:spcPct val="135000"/>
              </a:lnSpc>
            </a:pPr>
            <a:r>
              <a:rPr sz="1250" b="0">
                <a:solidFill>
                  <a:srgbClr val="6E6E6E"/>
                </a:solidFill>
                <a:latin typeface="Inter"/>
              </a:rPr>
              <a:t>The same idea behind a document app that opens .pdf, .docx, or .txt through one Open action.</a:t>
            </a:r>
          </a:p>
        </p:txBody>
      </p:sp>
      <p:sp>
        <p:nvSpPr>
          <p:cNvPr id="17" name="TextBox 16"/>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8" name="TextBox 17"/>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PATTERN 1 · FACTORY METHOD</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How we implemented it.</a:t>
            </a:r>
          </a:p>
        </p:txBody>
      </p:sp>
      <p:sp>
        <p:nvSpPr>
          <p:cNvPr id="5" name="TextBox 4"/>
          <p:cNvSpPr txBox="1"/>
          <p:nvPr/>
        </p:nvSpPr>
        <p:spPr>
          <a:xfrm>
            <a:off x="713232" y="2084831"/>
            <a:ext cx="10765231" cy="640080"/>
          </a:xfrm>
          <a:prstGeom prst="rect">
            <a:avLst/>
          </a:prstGeom>
          <a:noFill/>
        </p:spPr>
        <p:txBody>
          <a:bodyPr wrap="square" anchor="t" lIns="0" rIns="0" tIns="0" bIns="0">
            <a:spAutoFit/>
          </a:bodyPr>
          <a:lstStyle/>
          <a:p>
            <a:pPr algn="l">
              <a:lnSpc>
                <a:spcPct val="135000"/>
              </a:lnSpc>
            </a:pPr>
            <a:r>
              <a:rPr sz="1300" b="0">
                <a:solidFill>
                  <a:srgbClr val="6E6E6E"/>
                </a:solidFill>
                <a:latin typeface="Inter"/>
              </a:rPr>
              <a:t>The manager keeps a registry of factories keyed by a string. The caller asks for a type by name and never sees a concrete class.</a:t>
            </a:r>
          </a:p>
        </p:txBody>
      </p:sp>
      <p:sp>
        <p:nvSpPr>
          <p:cNvPr id="6" name="Rounded Rectangle 5"/>
          <p:cNvSpPr/>
          <p:nvPr/>
        </p:nvSpPr>
        <p:spPr>
          <a:xfrm>
            <a:off x="713232" y="2697480"/>
            <a:ext cx="10765231" cy="821309"/>
          </a:xfrm>
          <a:prstGeom prst="roundRect">
            <a:avLst>
              <a:gd name="adj" fmla="val 4000"/>
            </a:avLst>
          </a:prstGeom>
          <a:solidFill>
            <a:srgbClr val="F6F6F4"/>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t" wrap="none" lIns="256032" rIns="182880" tIns="146304" bIns="109728">
            <a:spAutoFit/>
          </a:bodyPr>
          <a:lstStyle/>
          <a:p>
            <a:pPr algn="l">
              <a:lnSpc>
                <a:spcPct val="142000"/>
              </a:lnSpc>
            </a:pPr>
            <a:r>
              <a:rPr sz="1250">
                <a:solidFill>
                  <a:srgbClr val="0B0B0B"/>
                </a:solidFill>
                <a:latin typeface="Consolas"/>
              </a:rPr>
              <a:t>manager</a:t>
            </a:r>
            <a:r>
              <a:rPr sz="1250">
                <a:solidFill>
                  <a:srgbClr val="0B0B0B"/>
                </a:solidFill>
                <a:latin typeface="Consolas"/>
              </a:rPr>
              <a:t>.</a:t>
            </a:r>
            <a:r>
              <a:rPr sz="1250">
                <a:solidFill>
                  <a:srgbClr val="0B0B0B"/>
                </a:solidFill>
                <a:latin typeface="Consolas"/>
              </a:rPr>
              <a:t>createTask</a:t>
            </a:r>
            <a:r>
              <a:rPr sz="1250">
                <a:solidFill>
                  <a:srgbClr val="0B0B0B"/>
                </a:solidFill>
                <a:latin typeface="Consolas"/>
              </a:rPr>
              <a:t>(</a:t>
            </a:r>
            <a:r>
              <a:rPr sz="1250">
                <a:solidFill>
                  <a:srgbClr val="0A7B33"/>
                </a:solidFill>
                <a:latin typeface="Consolas"/>
              </a:rPr>
              <a:t>"BUG"</a:t>
            </a:r>
            <a:r>
              <a:rPr sz="1250">
                <a:solidFill>
                  <a:srgbClr val="0B0B0B"/>
                </a:solidFill>
                <a:latin typeface="Consolas"/>
              </a:rPr>
              <a:t>,</a:t>
            </a:r>
            <a:r>
              <a:rPr sz="1250">
                <a:solidFill>
                  <a:srgbClr val="0B0B0B"/>
                </a:solidFill>
                <a:latin typeface="Consolas"/>
              </a:rPr>
              <a:t> </a:t>
            </a:r>
            <a:r>
              <a:rPr sz="1250">
                <a:solidFill>
                  <a:srgbClr val="0A7B33"/>
                </a:solidFill>
                <a:latin typeface="Consolas"/>
              </a:rPr>
              <a:t>"Login broken"</a:t>
            </a:r>
            <a:r>
              <a:rPr sz="1250">
                <a:solidFill>
                  <a:srgbClr val="0B0B0B"/>
                </a:solidFill>
                <a:latin typeface="Consolas"/>
              </a:rPr>
              <a:t>,</a:t>
            </a:r>
            <a:r>
              <a:rPr sz="1250">
                <a:solidFill>
                  <a:srgbClr val="0B0B0B"/>
                </a:solidFill>
                <a:latin typeface="Consolas"/>
              </a:rPr>
              <a:t> </a:t>
            </a:r>
            <a:r>
              <a:rPr sz="1250">
                <a:solidFill>
                  <a:srgbClr val="0A7B33"/>
                </a:solidFill>
                <a:latin typeface="Consolas"/>
              </a:rPr>
              <a:t>"OAuth callback fails"</a:t>
            </a:r>
            <a:r>
              <a:rPr sz="1250">
                <a:solidFill>
                  <a:srgbClr val="0B0B0B"/>
                </a:solidFill>
                <a:latin typeface="Consolas"/>
              </a:rPr>
              <a:t>,</a:t>
            </a:r>
            <a:r>
              <a:rPr sz="1250">
                <a:solidFill>
                  <a:srgbClr val="0B0B0B"/>
                </a:solidFill>
                <a:latin typeface="Consolas"/>
              </a:rPr>
              <a:t> </a:t>
            </a:r>
            <a:r>
              <a:rPr sz="1250">
                <a:solidFill>
                  <a:srgbClr val="0550AE"/>
                </a:solidFill>
                <a:latin typeface="Consolas"/>
              </a:rPr>
              <a:t>8</a:t>
            </a:r>
            <a:r>
              <a:rPr sz="1250">
                <a:solidFill>
                  <a:srgbClr val="0B0B0B"/>
                </a:solidFill>
                <a:latin typeface="Consolas"/>
              </a:rPr>
              <a:t>)</a:t>
            </a:r>
            <a:r>
              <a:rPr sz="1250">
                <a:solidFill>
                  <a:srgbClr val="0B0B0B"/>
                </a:solidFill>
                <a:latin typeface="Consolas"/>
              </a:rPr>
              <a:t>;</a:t>
            </a:r>
          </a:p>
          <a:p>
            <a:pPr algn="l">
              <a:lnSpc>
                <a:spcPct val="142000"/>
              </a:lnSpc>
            </a:pPr>
            <a:r>
              <a:rPr sz="1250">
                <a:solidFill>
                  <a:srgbClr val="0B0B0B"/>
                </a:solidFill>
                <a:latin typeface="Consolas"/>
              </a:rPr>
              <a:t>manager</a:t>
            </a:r>
            <a:r>
              <a:rPr sz="1250">
                <a:solidFill>
                  <a:srgbClr val="0B0B0B"/>
                </a:solidFill>
                <a:latin typeface="Consolas"/>
              </a:rPr>
              <a:t>.</a:t>
            </a:r>
            <a:r>
              <a:rPr sz="1250">
                <a:solidFill>
                  <a:srgbClr val="0B0B0B"/>
                </a:solidFill>
                <a:latin typeface="Consolas"/>
              </a:rPr>
              <a:t>createTask</a:t>
            </a:r>
            <a:r>
              <a:rPr sz="1250">
                <a:solidFill>
                  <a:srgbClr val="0B0B0B"/>
                </a:solidFill>
                <a:latin typeface="Consolas"/>
              </a:rPr>
              <a:t>(</a:t>
            </a:r>
            <a:r>
              <a:rPr sz="1250">
                <a:solidFill>
                  <a:srgbClr val="0A7B33"/>
                </a:solidFill>
                <a:latin typeface="Consolas"/>
              </a:rPr>
              <a:t>"FEATURE"</a:t>
            </a:r>
            <a:r>
              <a:rPr sz="1250">
                <a:solidFill>
                  <a:srgbClr val="0B0B0B"/>
                </a:solidFill>
                <a:latin typeface="Consolas"/>
              </a:rPr>
              <a:t>,</a:t>
            </a:r>
            <a:r>
              <a:rPr sz="1250">
                <a:solidFill>
                  <a:srgbClr val="0B0B0B"/>
                </a:solidFill>
                <a:latin typeface="Consolas"/>
              </a:rPr>
              <a:t> </a:t>
            </a:r>
            <a:r>
              <a:rPr sz="1250">
                <a:solidFill>
                  <a:srgbClr val="0A7B33"/>
                </a:solidFill>
                <a:latin typeface="Consolas"/>
              </a:rPr>
              <a:t>"Dark mode"</a:t>
            </a:r>
            <a:r>
              <a:rPr sz="1250">
                <a:solidFill>
                  <a:srgbClr val="0B0B0B"/>
                </a:solidFill>
                <a:latin typeface="Consolas"/>
              </a:rPr>
              <a:t>,</a:t>
            </a:r>
            <a:r>
              <a:rPr sz="1250">
                <a:solidFill>
                  <a:srgbClr val="0B0B0B"/>
                </a:solidFill>
                <a:latin typeface="Consolas"/>
              </a:rPr>
              <a:t> </a:t>
            </a:r>
            <a:r>
              <a:rPr sz="1250">
                <a:solidFill>
                  <a:srgbClr val="0A7B33"/>
                </a:solidFill>
                <a:latin typeface="Consolas"/>
              </a:rPr>
              <a:t>"Top user request"</a:t>
            </a:r>
            <a:r>
              <a:rPr sz="1250">
                <a:solidFill>
                  <a:srgbClr val="0B0B0B"/>
                </a:solidFill>
                <a:latin typeface="Consolas"/>
              </a:rPr>
              <a:t>,</a:t>
            </a:r>
            <a:r>
              <a:rPr sz="1250">
                <a:solidFill>
                  <a:srgbClr val="0B0B0B"/>
                </a:solidFill>
                <a:latin typeface="Consolas"/>
              </a:rPr>
              <a:t> </a:t>
            </a:r>
            <a:r>
              <a:rPr sz="1250">
                <a:solidFill>
                  <a:srgbClr val="0550AE"/>
                </a:solidFill>
                <a:latin typeface="Consolas"/>
              </a:rPr>
              <a:t>5</a:t>
            </a:r>
            <a:r>
              <a:rPr sz="1250">
                <a:solidFill>
                  <a:srgbClr val="0B0B0B"/>
                </a:solidFill>
                <a:latin typeface="Consolas"/>
              </a:rPr>
              <a:t>)</a:t>
            </a:r>
            <a:r>
              <a:rPr sz="1250">
                <a:solidFill>
                  <a:srgbClr val="0B0B0B"/>
                </a:solidFill>
                <a:latin typeface="Consolas"/>
              </a:rPr>
              <a:t>;</a:t>
            </a:r>
          </a:p>
        </p:txBody>
      </p:sp>
      <p:cxnSp>
        <p:nvCxnSpPr>
          <p:cNvPr id="7" name="Connector 6"/>
          <p:cNvCxnSpPr/>
          <p:nvPr/>
        </p:nvCxnSpPr>
        <p:spPr>
          <a:xfrm>
            <a:off x="713232" y="4343400"/>
            <a:ext cx="5062575"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4480560"/>
            <a:ext cx="5062575" cy="1280160"/>
          </a:xfrm>
          <a:prstGeom prst="rect">
            <a:avLst/>
          </a:prstGeom>
          <a:noFill/>
        </p:spPr>
        <p:txBody>
          <a:bodyPr wrap="square" anchor="t" lIns="0" rIns="0" tIns="0" bIns="0">
            <a:spAutoFit/>
          </a:bodyPr>
          <a:lstStyle/>
          <a:p>
            <a:pPr algn="l">
              <a:spcAft>
                <a:spcPts val="400"/>
              </a:spcAft>
            </a:pPr>
            <a:r>
              <a:rPr sz="1350" b="1">
                <a:solidFill>
                  <a:srgbClr val="0B0B0B"/>
                </a:solidFill>
                <a:latin typeface="Inter"/>
              </a:rPr>
              <a:t>Abstract class, not an interface</a:t>
            </a:r>
          </a:p>
          <a:p>
            <a:pPr algn="l">
              <a:lnSpc>
                <a:spcPct val="130000"/>
              </a:lnSpc>
            </a:pPr>
            <a:r>
              <a:rPr sz="1150" b="0">
                <a:solidFill>
                  <a:srgbClr val="6E6E6E"/>
                </a:solidFill>
                <a:latin typeface="Inter"/>
              </a:rPr>
              <a:t>Each subclass owns its defaults: a bug is MEDIUM severity, a feature is 8h effort and value 5, a doc targets developers.</a:t>
            </a:r>
          </a:p>
        </p:txBody>
      </p:sp>
      <p:cxnSp>
        <p:nvCxnSpPr>
          <p:cNvPr id="9" name="Connector 8"/>
          <p:cNvCxnSpPr/>
          <p:nvPr/>
        </p:nvCxnSpPr>
        <p:spPr>
          <a:xfrm>
            <a:off x="6415887" y="4343400"/>
            <a:ext cx="5062576"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15887" y="4480560"/>
            <a:ext cx="5062575" cy="1280160"/>
          </a:xfrm>
          <a:prstGeom prst="rect">
            <a:avLst/>
          </a:prstGeom>
          <a:noFill/>
        </p:spPr>
        <p:txBody>
          <a:bodyPr wrap="square" anchor="t" lIns="0" rIns="0" tIns="0" bIns="0">
            <a:spAutoFit/>
          </a:bodyPr>
          <a:lstStyle/>
          <a:p>
            <a:pPr algn="l">
              <a:spcAft>
                <a:spcPts val="400"/>
              </a:spcAft>
            </a:pPr>
            <a:r>
              <a:rPr sz="1350" b="1">
                <a:solidFill>
                  <a:srgbClr val="0B0B0B"/>
                </a:solidFill>
                <a:latin typeface="Inter"/>
              </a:rPr>
              <a:t>createTaskWithDeadline() on the base</a:t>
            </a:r>
          </a:p>
          <a:p>
            <a:pPr algn="l">
              <a:lnSpc>
                <a:spcPct val="130000"/>
              </a:lnSpc>
            </a:pPr>
            <a:r>
              <a:rPr sz="1150" b="0">
                <a:solidFill>
                  <a:srgbClr val="6E6E6E"/>
                </a:solidFill>
                <a:latin typeface="Inter"/>
              </a:rPr>
              <a:t>The base wraps createTask() and attaches a deadline once. That is Template Method, reused by all three factories.</a:t>
            </a:r>
          </a:p>
        </p:txBody>
      </p:sp>
      <p:sp>
        <p:nvSpPr>
          <p:cNvPr id="11" name="TextBox 10"/>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2" name="TextBox 11"/>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PATTERN 2 · STRATEGY</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Strategy, and why it fits.</a:t>
            </a:r>
          </a:p>
        </p:txBody>
      </p:sp>
      <p:cxnSp>
        <p:nvCxnSpPr>
          <p:cNvPr id="5" name="Connector 4"/>
          <p:cNvCxnSpPr/>
          <p:nvPr/>
        </p:nvCxnSpPr>
        <p:spPr>
          <a:xfrm>
            <a:off x="713232" y="2240280"/>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2386584"/>
            <a:ext cx="2240280" cy="548640"/>
          </a:xfrm>
          <a:prstGeom prst="rect">
            <a:avLst/>
          </a:prstGeom>
          <a:noFill/>
        </p:spPr>
        <p:txBody>
          <a:bodyPr wrap="square" anchor="t" lIns="0" rIns="0" tIns="0" bIns="0">
            <a:spAutoFit/>
          </a:bodyPr>
          <a:lstStyle/>
          <a:p>
            <a:pPr algn="l"/>
            <a:r>
              <a:rPr sz="1100" b="1" spc="160">
                <a:solidFill>
                  <a:srgbClr val="0B0B0B"/>
                </a:solidFill>
                <a:latin typeface="Inter"/>
              </a:rPr>
              <a:t>DEFINITION</a:t>
            </a:r>
          </a:p>
        </p:txBody>
      </p:sp>
      <p:sp>
        <p:nvSpPr>
          <p:cNvPr id="7" name="TextBox 6"/>
          <p:cNvSpPr txBox="1"/>
          <p:nvPr/>
        </p:nvSpPr>
        <p:spPr>
          <a:xfrm>
            <a:off x="3136392" y="2359152"/>
            <a:ext cx="8342071" cy="877824"/>
          </a:xfrm>
          <a:prstGeom prst="rect">
            <a:avLst/>
          </a:prstGeom>
          <a:noFill/>
        </p:spPr>
        <p:txBody>
          <a:bodyPr wrap="square" anchor="t" lIns="0" rIns="0" tIns="0" bIns="0">
            <a:spAutoFit/>
          </a:bodyPr>
          <a:lstStyle/>
          <a:p>
            <a:pPr algn="l">
              <a:lnSpc>
                <a:spcPct val="135000"/>
              </a:lnSpc>
            </a:pPr>
            <a:r>
              <a:rPr sz="1250" b="0">
                <a:solidFill>
                  <a:srgbClr val="6E6E6E"/>
                </a:solidFill>
                <a:latin typeface="Inter"/>
              </a:rPr>
              <a:t>Define a family of interchangeable algorithms, encapsulate each one, and select between them at runtime.</a:t>
            </a:r>
          </a:p>
        </p:txBody>
      </p:sp>
      <p:cxnSp>
        <p:nvCxnSpPr>
          <p:cNvPr id="8" name="Connector 7"/>
          <p:cNvCxnSpPr/>
          <p:nvPr/>
        </p:nvCxnSpPr>
        <p:spPr>
          <a:xfrm>
            <a:off x="713232" y="3172968"/>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3232" y="3319272"/>
            <a:ext cx="2240280" cy="548640"/>
          </a:xfrm>
          <a:prstGeom prst="rect">
            <a:avLst/>
          </a:prstGeom>
          <a:noFill/>
        </p:spPr>
        <p:txBody>
          <a:bodyPr wrap="square" anchor="t" lIns="0" rIns="0" tIns="0" bIns="0">
            <a:spAutoFit/>
          </a:bodyPr>
          <a:lstStyle/>
          <a:p>
            <a:pPr algn="l"/>
            <a:r>
              <a:rPr sz="1100" b="1" spc="160">
                <a:solidFill>
                  <a:srgbClr val="0B0B0B"/>
                </a:solidFill>
                <a:latin typeface="Inter"/>
              </a:rPr>
              <a:t>WHY HERE</a:t>
            </a:r>
          </a:p>
        </p:txBody>
      </p:sp>
      <p:sp>
        <p:nvSpPr>
          <p:cNvPr id="10" name="TextBox 9"/>
          <p:cNvSpPr txBox="1"/>
          <p:nvPr/>
        </p:nvSpPr>
        <p:spPr>
          <a:xfrm>
            <a:off x="3136392" y="3291840"/>
            <a:ext cx="8342071" cy="877824"/>
          </a:xfrm>
          <a:prstGeom prst="rect">
            <a:avLst/>
          </a:prstGeom>
          <a:noFill/>
        </p:spPr>
        <p:txBody>
          <a:bodyPr wrap="square" anchor="t" lIns="0" rIns="0" tIns="0" bIns="0">
            <a:spAutoFit/>
          </a:bodyPr>
          <a:lstStyle/>
          <a:p>
            <a:pPr algn="l">
              <a:lnSpc>
                <a:spcPct val="135000"/>
              </a:lnSpc>
            </a:pPr>
            <a:r>
              <a:rPr sz="1250" b="0">
                <a:solidFill>
                  <a:srgbClr val="6E6E6E"/>
                </a:solidFill>
                <a:latin typeface="Inter"/>
              </a:rPr>
              <a:t>The same task list must be ordered differently in different contexts, while the app is running.</a:t>
            </a:r>
          </a:p>
        </p:txBody>
      </p:sp>
      <p:cxnSp>
        <p:nvCxnSpPr>
          <p:cNvPr id="11" name="Connector 10"/>
          <p:cNvCxnSpPr/>
          <p:nvPr/>
        </p:nvCxnSpPr>
        <p:spPr>
          <a:xfrm>
            <a:off x="713232" y="4105656"/>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3232" y="4251960"/>
            <a:ext cx="2240280" cy="548640"/>
          </a:xfrm>
          <a:prstGeom prst="rect">
            <a:avLst/>
          </a:prstGeom>
          <a:noFill/>
        </p:spPr>
        <p:txBody>
          <a:bodyPr wrap="square" anchor="t" lIns="0" rIns="0" tIns="0" bIns="0">
            <a:spAutoFit/>
          </a:bodyPr>
          <a:lstStyle/>
          <a:p>
            <a:pPr algn="l"/>
            <a:r>
              <a:rPr sz="1100" b="1" spc="160">
                <a:solidFill>
                  <a:srgbClr val="0B0B0B"/>
                </a:solidFill>
                <a:latin typeface="Inter"/>
              </a:rPr>
              <a:t>ADVANTAGE</a:t>
            </a:r>
          </a:p>
        </p:txBody>
      </p:sp>
      <p:sp>
        <p:nvSpPr>
          <p:cNvPr id="13" name="TextBox 12"/>
          <p:cNvSpPr txBox="1"/>
          <p:nvPr/>
        </p:nvSpPr>
        <p:spPr>
          <a:xfrm>
            <a:off x="3136392" y="4224528"/>
            <a:ext cx="8342071" cy="877824"/>
          </a:xfrm>
          <a:prstGeom prst="rect">
            <a:avLst/>
          </a:prstGeom>
          <a:noFill/>
        </p:spPr>
        <p:txBody>
          <a:bodyPr wrap="square" anchor="t" lIns="0" rIns="0" tIns="0" bIns="0">
            <a:spAutoFit/>
          </a:bodyPr>
          <a:lstStyle/>
          <a:p>
            <a:pPr algn="l">
              <a:lnSpc>
                <a:spcPct val="135000"/>
              </a:lnSpc>
            </a:pPr>
            <a:r>
              <a:rPr sz="1250" b="0">
                <a:solidFill>
                  <a:srgbClr val="6E6E6E"/>
                </a:solidFill>
                <a:latin typeface="Inter"/>
              </a:rPr>
              <a:t>Add or switch an ordering without touching the code that holds and manages the list.</a:t>
            </a:r>
          </a:p>
        </p:txBody>
      </p:sp>
      <p:cxnSp>
        <p:nvCxnSpPr>
          <p:cNvPr id="14" name="Connector 13"/>
          <p:cNvCxnSpPr/>
          <p:nvPr/>
        </p:nvCxnSpPr>
        <p:spPr>
          <a:xfrm>
            <a:off x="713232" y="5038344"/>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13232" y="5184648"/>
            <a:ext cx="2240280" cy="548640"/>
          </a:xfrm>
          <a:prstGeom prst="rect">
            <a:avLst/>
          </a:prstGeom>
          <a:noFill/>
        </p:spPr>
        <p:txBody>
          <a:bodyPr wrap="square" anchor="t" lIns="0" rIns="0" tIns="0" bIns="0">
            <a:spAutoFit/>
          </a:bodyPr>
          <a:lstStyle/>
          <a:p>
            <a:pPr algn="l"/>
            <a:r>
              <a:rPr sz="1100" b="1" spc="160">
                <a:solidFill>
                  <a:srgbClr val="0B0B0B"/>
                </a:solidFill>
                <a:latin typeface="Inter"/>
              </a:rPr>
              <a:t>REAL-WORLD</a:t>
            </a:r>
          </a:p>
        </p:txBody>
      </p:sp>
      <p:sp>
        <p:nvSpPr>
          <p:cNvPr id="16" name="TextBox 15"/>
          <p:cNvSpPr txBox="1"/>
          <p:nvPr/>
        </p:nvSpPr>
        <p:spPr>
          <a:xfrm>
            <a:off x="3136392" y="5157216"/>
            <a:ext cx="8342071" cy="877824"/>
          </a:xfrm>
          <a:prstGeom prst="rect">
            <a:avLst/>
          </a:prstGeom>
          <a:noFill/>
        </p:spPr>
        <p:txBody>
          <a:bodyPr wrap="square" anchor="t" lIns="0" rIns="0" tIns="0" bIns="0">
            <a:spAutoFit/>
          </a:bodyPr>
          <a:lstStyle/>
          <a:p>
            <a:pPr algn="l">
              <a:lnSpc>
                <a:spcPct val="135000"/>
              </a:lnSpc>
            </a:pPr>
            <a:r>
              <a:rPr sz="1250" b="0">
                <a:solidFill>
                  <a:srgbClr val="6E6E6E"/>
                </a:solidFill>
                <a:latin typeface="Inter"/>
              </a:rPr>
              <a:t>Like choosing a route in a maps app: fastest, shortest, or no tolls, computed over the same map.</a:t>
            </a:r>
          </a:p>
        </p:txBody>
      </p:sp>
      <p:sp>
        <p:nvSpPr>
          <p:cNvPr id="17" name="TextBox 16"/>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8" name="TextBox 17"/>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PATTERN 2 · STRATEGY</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How we implemented it.</a:t>
            </a:r>
          </a:p>
        </p:txBody>
      </p:sp>
      <p:sp>
        <p:nvSpPr>
          <p:cNvPr id="5" name="TextBox 4"/>
          <p:cNvSpPr txBox="1"/>
          <p:nvPr/>
        </p:nvSpPr>
        <p:spPr>
          <a:xfrm>
            <a:off x="713232" y="2084831"/>
            <a:ext cx="10765231" cy="640080"/>
          </a:xfrm>
          <a:prstGeom prst="rect">
            <a:avLst/>
          </a:prstGeom>
          <a:noFill/>
        </p:spPr>
        <p:txBody>
          <a:bodyPr wrap="square" anchor="t" lIns="0" rIns="0" tIns="0" bIns="0">
            <a:spAutoFit/>
          </a:bodyPr>
          <a:lstStyle/>
          <a:p>
            <a:pPr algn="l">
              <a:lnSpc>
                <a:spcPct val="135000"/>
              </a:lnSpc>
            </a:pPr>
            <a:r>
              <a:rPr sz="1300" b="0">
                <a:solidFill>
                  <a:srgbClr val="6E6E6E"/>
                </a:solidFill>
                <a:latin typeface="Inter"/>
              </a:rPr>
              <a:t>Each ordering is a swappable object behind one interface. Changing the sort is a single setter call; the manager stays unaware of which is active.</a:t>
            </a:r>
          </a:p>
        </p:txBody>
      </p:sp>
      <p:sp>
        <p:nvSpPr>
          <p:cNvPr id="6" name="Rounded Rectangle 5"/>
          <p:cNvSpPr/>
          <p:nvPr/>
        </p:nvSpPr>
        <p:spPr>
          <a:xfrm>
            <a:off x="713232" y="2697480"/>
            <a:ext cx="10765231" cy="821309"/>
          </a:xfrm>
          <a:prstGeom prst="roundRect">
            <a:avLst>
              <a:gd name="adj" fmla="val 4000"/>
            </a:avLst>
          </a:prstGeom>
          <a:solidFill>
            <a:srgbClr val="F6F6F4"/>
          </a:solidFill>
          <a:ln w="12700">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t" wrap="none" lIns="256032" rIns="182880" tIns="146304" bIns="109728">
            <a:spAutoFit/>
          </a:bodyPr>
          <a:lstStyle/>
          <a:p>
            <a:pPr algn="l">
              <a:lnSpc>
                <a:spcPct val="142000"/>
              </a:lnSpc>
            </a:pPr>
            <a:r>
              <a:rPr sz="1250">
                <a:solidFill>
                  <a:srgbClr val="0B0B0B"/>
                </a:solidFill>
                <a:latin typeface="Consolas"/>
              </a:rPr>
              <a:t>manager</a:t>
            </a:r>
            <a:r>
              <a:rPr sz="1250">
                <a:solidFill>
                  <a:srgbClr val="0B0B0B"/>
                </a:solidFill>
                <a:latin typeface="Consolas"/>
              </a:rPr>
              <a:t>.</a:t>
            </a:r>
            <a:r>
              <a:rPr sz="1250">
                <a:solidFill>
                  <a:srgbClr val="0B0B0B"/>
                </a:solidFill>
                <a:latin typeface="Consolas"/>
              </a:rPr>
              <a:t>setPriorityStrategy</a:t>
            </a:r>
            <a:r>
              <a:rPr sz="1250">
                <a:solidFill>
                  <a:srgbClr val="0B0B0B"/>
                </a:solidFill>
                <a:latin typeface="Consolas"/>
              </a:rPr>
              <a:t>(</a:t>
            </a:r>
            <a:r>
              <a:rPr sz="1250">
                <a:solidFill>
                  <a:srgbClr val="8250DF"/>
                </a:solidFill>
                <a:latin typeface="Consolas"/>
              </a:rPr>
              <a:t>new</a:t>
            </a:r>
            <a:r>
              <a:rPr sz="1250">
                <a:solidFill>
                  <a:srgbClr val="0B0B0B"/>
                </a:solidFill>
                <a:latin typeface="Consolas"/>
              </a:rPr>
              <a:t> </a:t>
            </a:r>
            <a:r>
              <a:rPr sz="1250">
                <a:solidFill>
                  <a:srgbClr val="0550AE"/>
                </a:solidFill>
                <a:latin typeface="Consolas"/>
              </a:rPr>
              <a:t>SeverityFirstStrategy</a:t>
            </a:r>
            <a:r>
              <a:rPr sz="1250">
                <a:solidFill>
                  <a:srgbClr val="0B0B0B"/>
                </a:solidFill>
                <a:latin typeface="Consolas"/>
              </a:rPr>
              <a:t>(</a:t>
            </a:r>
            <a:r>
              <a:rPr sz="1250">
                <a:solidFill>
                  <a:srgbClr val="0B0B0B"/>
                </a:solidFill>
                <a:latin typeface="Consolas"/>
              </a:rPr>
              <a:t>)</a:t>
            </a:r>
            <a:r>
              <a:rPr sz="1250">
                <a:solidFill>
                  <a:srgbClr val="0B0B0B"/>
                </a:solidFill>
                <a:latin typeface="Consolas"/>
              </a:rPr>
              <a:t>)</a:t>
            </a:r>
            <a:r>
              <a:rPr sz="1250">
                <a:solidFill>
                  <a:srgbClr val="0B0B0B"/>
                </a:solidFill>
                <a:latin typeface="Consolas"/>
              </a:rPr>
              <a:t>;</a:t>
            </a:r>
          </a:p>
          <a:p>
            <a:pPr algn="l">
              <a:lnSpc>
                <a:spcPct val="142000"/>
              </a:lnSpc>
            </a:pPr>
            <a:r>
              <a:rPr sz="1250">
                <a:solidFill>
                  <a:srgbClr val="6E7781"/>
                </a:solidFill>
                <a:latin typeface="Consolas"/>
              </a:rPr>
              <a:t>// the next call to getPrioritizedTasks() returns the new order</a:t>
            </a:r>
          </a:p>
        </p:txBody>
      </p:sp>
      <p:cxnSp>
        <p:nvCxnSpPr>
          <p:cNvPr id="7" name="Connector 6"/>
          <p:cNvCxnSpPr/>
          <p:nvPr/>
        </p:nvCxnSpPr>
        <p:spPr>
          <a:xfrm>
            <a:off x="713232" y="4343400"/>
            <a:ext cx="5062575"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4480560"/>
            <a:ext cx="5062575" cy="1280160"/>
          </a:xfrm>
          <a:prstGeom prst="rect">
            <a:avLst/>
          </a:prstGeom>
          <a:noFill/>
        </p:spPr>
        <p:txBody>
          <a:bodyPr wrap="square" anchor="t" lIns="0" rIns="0" tIns="0" bIns="0">
            <a:spAutoFit/>
          </a:bodyPr>
          <a:lstStyle/>
          <a:p>
            <a:pPr algn="l">
              <a:spcAft>
                <a:spcPts val="400"/>
              </a:spcAft>
            </a:pPr>
            <a:r>
              <a:rPr sz="1350" b="1">
                <a:solidFill>
                  <a:srgbClr val="0B0B0B"/>
                </a:solidFill>
                <a:latin typeface="Inter"/>
              </a:rPr>
              <a:t>An interface, not a raw Comparator</a:t>
            </a:r>
          </a:p>
          <a:p>
            <a:pPr algn="l">
              <a:lnSpc>
                <a:spcPct val="130000"/>
              </a:lnSpc>
            </a:pPr>
            <a:r>
              <a:rPr sz="1150" b="0">
                <a:solidFill>
                  <a:srgbClr val="6E6E6E"/>
                </a:solidFill>
                <a:latin typeface="Inter"/>
              </a:rPr>
              <a:t>PriorityStrategy names the role. SeverityFirst also partitions bugs to the top, which a pairwise Comparator handles awkwardly.</a:t>
            </a:r>
          </a:p>
        </p:txBody>
      </p:sp>
      <p:cxnSp>
        <p:nvCxnSpPr>
          <p:cNvPr id="9" name="Connector 8"/>
          <p:cNvCxnSpPr/>
          <p:nvPr/>
        </p:nvCxnSpPr>
        <p:spPr>
          <a:xfrm>
            <a:off x="6415887" y="4343400"/>
            <a:ext cx="5062576"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15887" y="4480560"/>
            <a:ext cx="5062575" cy="1280160"/>
          </a:xfrm>
          <a:prstGeom prst="rect">
            <a:avLst/>
          </a:prstGeom>
          <a:noFill/>
        </p:spPr>
        <p:txBody>
          <a:bodyPr wrap="square" anchor="t" lIns="0" rIns="0" tIns="0" bIns="0">
            <a:spAutoFit/>
          </a:bodyPr>
          <a:lstStyle/>
          <a:p>
            <a:pPr algn="l">
              <a:spcAft>
                <a:spcPts val="400"/>
              </a:spcAft>
            </a:pPr>
            <a:r>
              <a:rPr sz="1350" b="1">
                <a:solidFill>
                  <a:srgbClr val="0B0B0B"/>
                </a:solidFill>
                <a:latin typeface="Inter"/>
              </a:rPr>
              <a:t>A setter, not a constructor argument</a:t>
            </a:r>
          </a:p>
          <a:p>
            <a:pPr algn="l">
              <a:lnSpc>
                <a:spcPct val="130000"/>
              </a:lnSpc>
            </a:pPr>
            <a:r>
              <a:rPr sz="1150" b="0">
                <a:solidFill>
                  <a:srgbClr val="6E6E6E"/>
                </a:solidFill>
                <a:latin typeface="Inter"/>
              </a:rPr>
              <a:t>Users change the sort mid-session. A setter avoids rebuilding the manager and copying every task into a new instance.</a:t>
            </a:r>
          </a:p>
        </p:txBody>
      </p:sp>
      <p:sp>
        <p:nvSpPr>
          <p:cNvPr id="11" name="TextBox 10"/>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2" name="TextBox 11"/>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PATTERN 2 · STRATEGY · EVIDENCE</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The same list, reordered live.</a:t>
            </a:r>
          </a:p>
        </p:txBody>
      </p:sp>
      <p:pic>
        <p:nvPicPr>
          <p:cNvPr id="5" name="Picture 4" descr="gui-strategy.png"/>
          <p:cNvPicPr>
            <a:picLocks noChangeAspect="1"/>
          </p:cNvPicPr>
          <p:nvPr/>
        </p:nvPicPr>
        <p:blipFill>
          <a:blip r:embed="rId2"/>
          <a:stretch>
            <a:fillRect/>
          </a:stretch>
        </p:blipFill>
        <p:spPr>
          <a:xfrm>
            <a:off x="839321" y="2148840"/>
            <a:ext cx="4901837" cy="3611880"/>
          </a:xfrm>
          <a:prstGeom prst="rect">
            <a:avLst/>
          </a:prstGeom>
          <a:ln w="9525">
            <a:solidFill>
              <a:srgbClr val="DEDEDE"/>
            </a:solidFill>
          </a:ln>
          <a:effectLst/>
        </p:spPr>
      </p:pic>
      <p:pic>
        <p:nvPicPr>
          <p:cNvPr id="6" name="Picture 5" descr="gui-severity.png"/>
          <p:cNvPicPr>
            <a:picLocks noChangeAspect="1"/>
          </p:cNvPicPr>
          <p:nvPr/>
        </p:nvPicPr>
        <p:blipFill>
          <a:blip r:embed="rId3"/>
          <a:stretch>
            <a:fillRect/>
          </a:stretch>
        </p:blipFill>
        <p:spPr>
          <a:xfrm>
            <a:off x="6450536" y="2148840"/>
            <a:ext cx="4901837" cy="3611880"/>
          </a:xfrm>
          <a:prstGeom prst="rect">
            <a:avLst/>
          </a:prstGeom>
          <a:ln w="9525">
            <a:solidFill>
              <a:srgbClr val="DEDEDE"/>
            </a:solidFill>
          </a:ln>
          <a:effectLst/>
        </p:spPr>
      </p:pic>
      <p:sp>
        <p:nvSpPr>
          <p:cNvPr id="7" name="TextBox 6"/>
          <p:cNvSpPr txBox="1"/>
          <p:nvPr/>
        </p:nvSpPr>
        <p:spPr>
          <a:xfrm>
            <a:off x="713232" y="5779008"/>
            <a:ext cx="5154015" cy="365760"/>
          </a:xfrm>
          <a:prstGeom prst="rect">
            <a:avLst/>
          </a:prstGeom>
          <a:noFill/>
        </p:spPr>
        <p:txBody>
          <a:bodyPr wrap="square" anchor="t" lIns="0" rIns="0" tIns="0" bIns="0">
            <a:spAutoFit/>
          </a:bodyPr>
          <a:lstStyle/>
          <a:p>
            <a:pPr algn="l"/>
            <a:r>
              <a:rPr sz="1050" b="0" spc="40">
                <a:solidFill>
                  <a:srgbClr val="6E6E6E"/>
                </a:solidFill>
                <a:latin typeface="Inter"/>
              </a:rPr>
              <a:t>Urgent First sort: priority 5 down to 1.</a:t>
            </a:r>
          </a:p>
        </p:txBody>
      </p:sp>
      <p:sp>
        <p:nvSpPr>
          <p:cNvPr id="8" name="TextBox 7"/>
          <p:cNvSpPr txBox="1"/>
          <p:nvPr/>
        </p:nvSpPr>
        <p:spPr>
          <a:xfrm>
            <a:off x="6324447" y="5779008"/>
            <a:ext cx="5154015" cy="365760"/>
          </a:xfrm>
          <a:prstGeom prst="rect">
            <a:avLst/>
          </a:prstGeom>
          <a:noFill/>
        </p:spPr>
        <p:txBody>
          <a:bodyPr wrap="square" anchor="t" lIns="0" rIns="0" tIns="0" bIns="0">
            <a:spAutoFit/>
          </a:bodyPr>
          <a:lstStyle/>
          <a:p>
            <a:pPr algn="l"/>
            <a:r>
              <a:rPr sz="1050" b="0" spc="40">
                <a:solidFill>
                  <a:srgbClr val="6E6E6E"/>
                </a:solidFill>
                <a:latin typeface="Inter"/>
              </a:rPr>
              <a:t>Severity First sort: both bugs rise to the top.</a:t>
            </a:r>
          </a:p>
        </p:txBody>
      </p:sp>
      <p:sp>
        <p:nvSpPr>
          <p:cNvPr id="9" name="TextBox 8"/>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0" name="TextBox 9"/>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BONUS PATTERN · STATE</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The lifecycle is a state machine.</a:t>
            </a:r>
          </a:p>
        </p:txBody>
      </p:sp>
      <p:pic>
        <p:nvPicPr>
          <p:cNvPr id="5" name="Picture 4" descr="state-diagram.png"/>
          <p:cNvPicPr>
            <a:picLocks noChangeAspect="1"/>
          </p:cNvPicPr>
          <p:nvPr/>
        </p:nvPicPr>
        <p:blipFill>
          <a:blip r:embed="rId2"/>
          <a:stretch>
            <a:fillRect/>
          </a:stretch>
        </p:blipFill>
        <p:spPr>
          <a:xfrm>
            <a:off x="1527072" y="2194560"/>
            <a:ext cx="3858719" cy="3749039"/>
          </a:xfrm>
          <a:prstGeom prst="rect">
            <a:avLst/>
          </a:prstGeom>
          <a:ln w="9525">
            <a:solidFill>
              <a:srgbClr val="DEDEDE"/>
            </a:solidFill>
          </a:ln>
          <a:effectLst/>
        </p:spPr>
      </p:pic>
      <p:sp>
        <p:nvSpPr>
          <p:cNvPr id="6" name="TextBox 5"/>
          <p:cNvSpPr txBox="1"/>
          <p:nvPr/>
        </p:nvSpPr>
        <p:spPr>
          <a:xfrm>
            <a:off x="6629400" y="2331720"/>
            <a:ext cx="4849063" cy="3657600"/>
          </a:xfrm>
          <a:prstGeom prst="rect">
            <a:avLst/>
          </a:prstGeom>
          <a:noFill/>
        </p:spPr>
        <p:txBody>
          <a:bodyPr wrap="square" anchor="t" lIns="0" rIns="0" tIns="0" bIns="0">
            <a:spAutoFit/>
          </a:bodyPr>
          <a:lstStyle/>
          <a:p>
            <a:pPr algn="l">
              <a:spcAft>
                <a:spcPts val="800"/>
              </a:spcAft>
            </a:pPr>
            <a:r>
              <a:rPr sz="1350" b="1">
                <a:solidFill>
                  <a:srgbClr val="0B0B0B"/>
                </a:solidFill>
                <a:latin typeface="Inter"/>
              </a:rPr>
              <a:t>TaskStatus encodes its own transitions.</a:t>
            </a:r>
          </a:p>
          <a:p>
            <a:pPr algn="l">
              <a:lnSpc>
                <a:spcPct val="135000"/>
              </a:lnSpc>
              <a:spcAft>
                <a:spcPts val="700"/>
              </a:spcAft>
            </a:pPr>
            <a:r>
              <a:rPr sz="1200" b="0">
                <a:solidFill>
                  <a:srgbClr val="6E6E6E"/>
                </a:solidFill>
                <a:latin typeface="Inter"/>
              </a:rPr>
              <a:t>Each enum constant declares its legal next states through canTransitionTo().</a:t>
            </a:r>
          </a:p>
          <a:p>
            <a:pPr algn="l">
              <a:lnSpc>
                <a:spcPct val="135000"/>
              </a:lnSpc>
              <a:spcAft>
                <a:spcPts val="700"/>
              </a:spcAft>
            </a:pPr>
            <a:r>
              <a:rPr sz="1200" b="0">
                <a:solidFill>
                  <a:srgbClr val="6E6E6E"/>
                </a:solidFill>
                <a:latin typeface="Inter"/>
              </a:rPr>
              <a:t>AbstractTask.setStatus() checks that table and throws on an illegal move.</a:t>
            </a:r>
          </a:p>
          <a:p>
            <a:pPr algn="l">
              <a:lnSpc>
                <a:spcPct val="135000"/>
              </a:lnSpc>
              <a:spcAft>
                <a:spcPts val="700"/>
              </a:spcAft>
            </a:pPr>
            <a:r>
              <a:rPr sz="1200" b="0">
                <a:solidFill>
                  <a:srgbClr val="6E6E6E"/>
                </a:solidFill>
                <a:latin typeface="Inter"/>
              </a:rPr>
              <a:t>The engine refuses to skip OPEN straight to DONE: the cycle must be walked.</a:t>
            </a:r>
          </a:p>
          <a:p>
            <a:pPr algn="l">
              <a:lnSpc>
                <a:spcPct val="135000"/>
              </a:lnSpc>
            </a:pPr>
            <a:r>
              <a:rPr sz="1200" b="1">
                <a:solidFill>
                  <a:srgbClr val="0B0B0B"/>
                </a:solidFill>
                <a:latin typeface="Inter"/>
              </a:rPr>
              <a:t>The State pattern, in a single enum file, with no extra classes.</a:t>
            </a:r>
          </a:p>
        </p:txBody>
      </p:sp>
      <p:sp>
        <p:nvSpPr>
          <p:cNvPr id="7" name="TextBox 6"/>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8" name="TextBox 7"/>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80">
                <a:solidFill>
                  <a:srgbClr val="9A9A9A"/>
                </a:solidFill>
                <a:latin typeface="Inter"/>
              </a:rPr>
              <a:t>SECTION 03</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cxnSp>
        <p:nvCxnSpPr>
          <p:cNvPr id="4" name="Connector 3"/>
          <p:cNvCxnSpPr/>
          <p:nvPr/>
        </p:nvCxnSpPr>
        <p:spPr>
          <a:xfrm>
            <a:off x="713232" y="2743200"/>
            <a:ext cx="10765231" cy="0"/>
          </a:xfrm>
          <a:prstGeom prst="line">
            <a:avLst/>
          </a:prstGeom>
          <a:ln w="12700">
            <a:solidFill>
              <a:srgbClr val="2E2E2E"/>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3232" y="3017520"/>
            <a:ext cx="10765231" cy="1645920"/>
          </a:xfrm>
          <a:prstGeom prst="rect">
            <a:avLst/>
          </a:prstGeom>
          <a:noFill/>
        </p:spPr>
        <p:txBody>
          <a:bodyPr wrap="square" anchor="t" lIns="0" rIns="0" tIns="0" bIns="0">
            <a:spAutoFit/>
          </a:bodyPr>
          <a:lstStyle/>
          <a:p>
            <a:pPr algn="l">
              <a:lnSpc>
                <a:spcPct val="106000"/>
              </a:lnSpc>
            </a:pPr>
            <a:r>
              <a:rPr sz="3600" b="1">
                <a:solidFill>
                  <a:srgbClr val="FFFFFF"/>
                </a:solidFill>
                <a:latin typeface="Inter"/>
              </a:rPr>
              <a:t>Architecture &amp; implementation.</a:t>
            </a:r>
          </a:p>
        </p:txBody>
      </p:sp>
      <p:sp>
        <p:nvSpPr>
          <p:cNvPr id="6" name="TextBox 5"/>
          <p:cNvSpPr txBox="1"/>
          <p:nvPr/>
        </p:nvSpPr>
        <p:spPr>
          <a:xfrm>
            <a:off x="713232" y="5029200"/>
            <a:ext cx="10479938" cy="822960"/>
          </a:xfrm>
          <a:prstGeom prst="rect">
            <a:avLst/>
          </a:prstGeom>
          <a:noFill/>
        </p:spPr>
        <p:txBody>
          <a:bodyPr wrap="square" anchor="t" lIns="0" rIns="0" tIns="0" bIns="0">
            <a:spAutoFit/>
          </a:bodyPr>
          <a:lstStyle/>
          <a:p>
            <a:pPr algn="l">
              <a:lnSpc>
                <a:spcPct val="140000"/>
              </a:lnSpc>
            </a:pPr>
            <a:r>
              <a:rPr sz="1400" b="0">
                <a:solidFill>
                  <a:srgbClr val="9A9A9A"/>
                </a:solidFill>
                <a:latin typeface="Inter"/>
              </a:rPr>
              <a:t>How the design looks as classes, how a single request flows through it, and how it maps to Java and to SOLID.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ARCHITECTURE · STRUCTURE</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sp>
        <p:nvSpPr>
          <p:cNvPr id="4" name="TextBox 3"/>
          <p:cNvSpPr txBox="1"/>
          <p:nvPr/>
        </p:nvSpPr>
        <p:spPr>
          <a:xfrm>
            <a:off x="713232" y="1097280"/>
            <a:ext cx="7772400" cy="457200"/>
          </a:xfrm>
          <a:prstGeom prst="rect">
            <a:avLst/>
          </a:prstGeom>
          <a:noFill/>
        </p:spPr>
        <p:txBody>
          <a:bodyPr wrap="square" anchor="t" lIns="0" rIns="0" tIns="0" bIns="0">
            <a:spAutoFit/>
          </a:bodyPr>
          <a:lstStyle/>
          <a:p>
            <a:pPr algn="l"/>
            <a:r>
              <a:rPr sz="2200" b="1">
                <a:solidFill>
                  <a:srgbClr val="0B0B0B"/>
                </a:solidFill>
                <a:latin typeface="Inter"/>
              </a:rPr>
              <a:t>The class diagram.</a:t>
            </a:r>
          </a:p>
        </p:txBody>
      </p:sp>
      <p:sp>
        <p:nvSpPr>
          <p:cNvPr id="5" name="TextBox 4"/>
          <p:cNvSpPr txBox="1"/>
          <p:nvPr/>
        </p:nvSpPr>
        <p:spPr>
          <a:xfrm>
            <a:off x="713232" y="1591056"/>
            <a:ext cx="10765231" cy="365760"/>
          </a:xfrm>
          <a:prstGeom prst="rect">
            <a:avLst/>
          </a:prstGeom>
          <a:noFill/>
        </p:spPr>
        <p:txBody>
          <a:bodyPr wrap="square" anchor="t" lIns="0" rIns="0" tIns="0" bIns="0">
            <a:spAutoFit/>
          </a:bodyPr>
          <a:lstStyle/>
          <a:p>
            <a:pPr algn="l">
              <a:lnSpc>
                <a:spcPct val="130000"/>
              </a:lnSpc>
            </a:pPr>
            <a:r>
              <a:rPr sz="1100" b="0">
                <a:solidFill>
                  <a:srgbClr val="B4B4B4"/>
                </a:solidFill>
                <a:latin typeface="Inter"/>
              </a:rPr>
              <a:t>Three layers: product (tasks) · pattern (factories + strategies) · coordination (the manager and entry points).   Every arrow points toward an abstraction.</a:t>
            </a:r>
          </a:p>
        </p:txBody>
      </p:sp>
      <p:pic>
        <p:nvPicPr>
          <p:cNvPr id="6" name="Picture 5" descr="class-diagram.png"/>
          <p:cNvPicPr>
            <a:picLocks noChangeAspect="1"/>
          </p:cNvPicPr>
          <p:nvPr/>
        </p:nvPicPr>
        <p:blipFill>
          <a:blip r:embed="rId2"/>
          <a:stretch>
            <a:fillRect/>
          </a:stretch>
        </p:blipFill>
        <p:spPr>
          <a:xfrm>
            <a:off x="1168585" y="2057400"/>
            <a:ext cx="9854524" cy="4160520"/>
          </a:xfrm>
          <a:prstGeom prst="rect">
            <a:avLst/>
          </a:prstGeom>
          <a:ln w="9525">
            <a:solidFill>
              <a:srgbClr val="DEDEDE"/>
            </a:solidFill>
          </a:ln>
          <a:effectLst/>
        </p:spPr>
      </p:pic>
      <p:sp>
        <p:nvSpPr>
          <p:cNvPr id="7" name="TextBox 6"/>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8" name="TextBox 7"/>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ARCHITECTURE · BEHAVIOUR</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sp>
        <p:nvSpPr>
          <p:cNvPr id="4" name="TextBox 3"/>
          <p:cNvSpPr txBox="1"/>
          <p:nvPr/>
        </p:nvSpPr>
        <p:spPr>
          <a:xfrm>
            <a:off x="713232" y="1097280"/>
            <a:ext cx="7772400" cy="457200"/>
          </a:xfrm>
          <a:prstGeom prst="rect">
            <a:avLst/>
          </a:prstGeom>
          <a:noFill/>
        </p:spPr>
        <p:txBody>
          <a:bodyPr wrap="square" anchor="t" lIns="0" rIns="0" tIns="0" bIns="0">
            <a:spAutoFit/>
          </a:bodyPr>
          <a:lstStyle/>
          <a:p>
            <a:pPr algn="l"/>
            <a:r>
              <a:rPr sz="2200" b="1">
                <a:solidFill>
                  <a:srgbClr val="0B0B0B"/>
                </a:solidFill>
                <a:latin typeface="Inter"/>
              </a:rPr>
              <a:t>Creating a task, step by step.</a:t>
            </a:r>
          </a:p>
        </p:txBody>
      </p:sp>
      <p:sp>
        <p:nvSpPr>
          <p:cNvPr id="5" name="TextBox 4"/>
          <p:cNvSpPr txBox="1"/>
          <p:nvPr/>
        </p:nvSpPr>
        <p:spPr>
          <a:xfrm>
            <a:off x="713232" y="1591056"/>
            <a:ext cx="10765231" cy="365760"/>
          </a:xfrm>
          <a:prstGeom prst="rect">
            <a:avLst/>
          </a:prstGeom>
          <a:noFill/>
        </p:spPr>
        <p:txBody>
          <a:bodyPr wrap="square" anchor="t" lIns="0" rIns="0" tIns="0" bIns="0">
            <a:spAutoFit/>
          </a:bodyPr>
          <a:lstStyle/>
          <a:p>
            <a:pPr algn="l">
              <a:lnSpc>
                <a:spcPct val="130000"/>
              </a:lnSpc>
            </a:pPr>
            <a:r>
              <a:rPr sz="1100" b="0">
                <a:solidFill>
                  <a:srgbClr val="B4B4B4"/>
                </a:solidFill>
                <a:latin typeface="Inter"/>
              </a:rPr>
              <a:t>The caller passes a type string. The manager finds the registered factory and returns a Task. No concrete class is ever named by the caller.</a:t>
            </a:r>
          </a:p>
        </p:txBody>
      </p:sp>
      <p:pic>
        <p:nvPicPr>
          <p:cNvPr id="6" name="Picture 5" descr="sequence-diagram.png"/>
          <p:cNvPicPr>
            <a:picLocks noChangeAspect="1"/>
          </p:cNvPicPr>
          <p:nvPr/>
        </p:nvPicPr>
        <p:blipFill>
          <a:blip r:embed="rId2"/>
          <a:stretch>
            <a:fillRect/>
          </a:stretch>
        </p:blipFill>
        <p:spPr>
          <a:xfrm>
            <a:off x="3035952" y="2057400"/>
            <a:ext cx="6119789" cy="4160520"/>
          </a:xfrm>
          <a:prstGeom prst="rect">
            <a:avLst/>
          </a:prstGeom>
          <a:ln w="9525">
            <a:solidFill>
              <a:srgbClr val="DEDEDE"/>
            </a:solidFill>
          </a:ln>
          <a:effectLst/>
        </p:spPr>
      </p:pic>
      <p:sp>
        <p:nvSpPr>
          <p:cNvPr id="7" name="TextBox 6"/>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8" name="TextBox 7"/>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IMPLEMENTATION · STRUCTURE</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Sixteen files, three layers.</a:t>
            </a:r>
          </a:p>
        </p:txBody>
      </p:sp>
      <p:sp>
        <p:nvSpPr>
          <p:cNvPr id="5" name="TextBox 4"/>
          <p:cNvSpPr txBox="1"/>
          <p:nvPr/>
        </p:nvSpPr>
        <p:spPr>
          <a:xfrm>
            <a:off x="713232" y="2084831"/>
            <a:ext cx="10765231" cy="640080"/>
          </a:xfrm>
          <a:prstGeom prst="rect">
            <a:avLst/>
          </a:prstGeom>
          <a:noFill/>
        </p:spPr>
        <p:txBody>
          <a:bodyPr wrap="square" anchor="t" lIns="0" rIns="0" tIns="0" bIns="0">
            <a:spAutoFit/>
          </a:bodyPr>
          <a:lstStyle/>
          <a:p>
            <a:pPr algn="l">
              <a:lnSpc>
                <a:spcPct val="135000"/>
              </a:lnSpc>
            </a:pPr>
            <a:r>
              <a:rPr sz="1300" b="0">
                <a:solidFill>
                  <a:srgbClr val="6E6E6E"/>
                </a:solidFill>
                <a:latin typeface="Inter"/>
              </a:rPr>
              <a:t>No package declarations, only java.util and java.time imported. The folders below mirror the three layers of the class diagram.</a:t>
            </a:r>
          </a:p>
        </p:txBody>
      </p:sp>
      <p:sp>
        <p:nvSpPr>
          <p:cNvPr id="6" name="TextBox 5"/>
          <p:cNvSpPr txBox="1"/>
          <p:nvPr/>
        </p:nvSpPr>
        <p:spPr>
          <a:xfrm>
            <a:off x="713232" y="2697480"/>
            <a:ext cx="3283610" cy="274320"/>
          </a:xfrm>
          <a:prstGeom prst="rect">
            <a:avLst/>
          </a:prstGeom>
          <a:noFill/>
        </p:spPr>
        <p:txBody>
          <a:bodyPr wrap="square" anchor="t" lIns="0" rIns="0" tIns="0" bIns="0">
            <a:spAutoFit/>
          </a:bodyPr>
          <a:lstStyle/>
          <a:p>
            <a:pPr algn="l"/>
            <a:r>
              <a:rPr sz="1100" b="1" spc="160">
                <a:solidFill>
                  <a:srgbClr val="6E6E6E"/>
                </a:solidFill>
                <a:latin typeface="Inter"/>
              </a:rPr>
              <a:t>PRODUCT LAYER</a:t>
            </a:r>
          </a:p>
        </p:txBody>
      </p:sp>
      <p:cxnSp>
        <p:nvCxnSpPr>
          <p:cNvPr id="7" name="Connector 6"/>
          <p:cNvCxnSpPr/>
          <p:nvPr/>
        </p:nvCxnSpPr>
        <p:spPr>
          <a:xfrm>
            <a:off x="713232" y="3026664"/>
            <a:ext cx="3283610"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320040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9" name="TextBox 8"/>
          <p:cNvSpPr txBox="1"/>
          <p:nvPr/>
        </p:nvSpPr>
        <p:spPr>
          <a:xfrm>
            <a:off x="987552" y="319125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Task (interface)</a:t>
            </a:r>
          </a:p>
        </p:txBody>
      </p:sp>
      <p:sp>
        <p:nvSpPr>
          <p:cNvPr id="10" name="TextBox 9"/>
          <p:cNvSpPr txBox="1"/>
          <p:nvPr/>
        </p:nvSpPr>
        <p:spPr>
          <a:xfrm>
            <a:off x="713232" y="3749039"/>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1" name="TextBox 10"/>
          <p:cNvSpPr txBox="1"/>
          <p:nvPr/>
        </p:nvSpPr>
        <p:spPr>
          <a:xfrm>
            <a:off x="987552" y="373989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AbstractTask (base)</a:t>
            </a:r>
          </a:p>
        </p:txBody>
      </p:sp>
      <p:sp>
        <p:nvSpPr>
          <p:cNvPr id="12" name="TextBox 11"/>
          <p:cNvSpPr txBox="1"/>
          <p:nvPr/>
        </p:nvSpPr>
        <p:spPr>
          <a:xfrm>
            <a:off x="713232" y="429768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3" name="TextBox 12"/>
          <p:cNvSpPr txBox="1"/>
          <p:nvPr/>
        </p:nvSpPr>
        <p:spPr>
          <a:xfrm>
            <a:off x="987552" y="428853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BugTask · FeatureTask</a:t>
            </a:r>
          </a:p>
        </p:txBody>
      </p:sp>
      <p:sp>
        <p:nvSpPr>
          <p:cNvPr id="14" name="TextBox 13"/>
          <p:cNvSpPr txBox="1"/>
          <p:nvPr/>
        </p:nvSpPr>
        <p:spPr>
          <a:xfrm>
            <a:off x="713232" y="484632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5" name="TextBox 14"/>
          <p:cNvSpPr txBox="1"/>
          <p:nvPr/>
        </p:nvSpPr>
        <p:spPr>
          <a:xfrm>
            <a:off x="987552" y="483717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DocumentationTask</a:t>
            </a:r>
          </a:p>
        </p:txBody>
      </p:sp>
      <p:sp>
        <p:nvSpPr>
          <p:cNvPr id="16" name="TextBox 15"/>
          <p:cNvSpPr txBox="1"/>
          <p:nvPr/>
        </p:nvSpPr>
        <p:spPr>
          <a:xfrm>
            <a:off x="713232" y="539496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7" name="TextBox 16"/>
          <p:cNvSpPr txBox="1"/>
          <p:nvPr/>
        </p:nvSpPr>
        <p:spPr>
          <a:xfrm>
            <a:off x="987552" y="538581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TaskStatus (enum)</a:t>
            </a:r>
          </a:p>
        </p:txBody>
      </p:sp>
      <p:sp>
        <p:nvSpPr>
          <p:cNvPr id="18" name="TextBox 17"/>
          <p:cNvSpPr txBox="1"/>
          <p:nvPr/>
        </p:nvSpPr>
        <p:spPr>
          <a:xfrm>
            <a:off x="4454042" y="2697480"/>
            <a:ext cx="3283610" cy="274320"/>
          </a:xfrm>
          <a:prstGeom prst="rect">
            <a:avLst/>
          </a:prstGeom>
          <a:noFill/>
        </p:spPr>
        <p:txBody>
          <a:bodyPr wrap="square" anchor="t" lIns="0" rIns="0" tIns="0" bIns="0">
            <a:spAutoFit/>
          </a:bodyPr>
          <a:lstStyle/>
          <a:p>
            <a:pPr algn="l"/>
            <a:r>
              <a:rPr sz="1100" b="1" spc="160">
                <a:solidFill>
                  <a:srgbClr val="6E6E6E"/>
                </a:solidFill>
                <a:latin typeface="Inter"/>
              </a:rPr>
              <a:t>PATTERN LAYER</a:t>
            </a:r>
          </a:p>
        </p:txBody>
      </p:sp>
      <p:cxnSp>
        <p:nvCxnSpPr>
          <p:cNvPr id="19" name="Connector 18"/>
          <p:cNvCxnSpPr/>
          <p:nvPr/>
        </p:nvCxnSpPr>
        <p:spPr>
          <a:xfrm>
            <a:off x="4454042" y="3026664"/>
            <a:ext cx="3283610"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54042" y="320040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1" name="TextBox 20"/>
          <p:cNvSpPr txBox="1"/>
          <p:nvPr/>
        </p:nvSpPr>
        <p:spPr>
          <a:xfrm>
            <a:off x="4728362" y="319125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TaskFactory (abstract)</a:t>
            </a:r>
          </a:p>
        </p:txBody>
      </p:sp>
      <p:sp>
        <p:nvSpPr>
          <p:cNvPr id="22" name="TextBox 21"/>
          <p:cNvSpPr txBox="1"/>
          <p:nvPr/>
        </p:nvSpPr>
        <p:spPr>
          <a:xfrm>
            <a:off x="4454042" y="3749039"/>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3" name="TextBox 22"/>
          <p:cNvSpPr txBox="1"/>
          <p:nvPr/>
        </p:nvSpPr>
        <p:spPr>
          <a:xfrm>
            <a:off x="4728362" y="373989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Bug / Feature / Doc factories</a:t>
            </a:r>
          </a:p>
        </p:txBody>
      </p:sp>
      <p:sp>
        <p:nvSpPr>
          <p:cNvPr id="24" name="TextBox 23"/>
          <p:cNvSpPr txBox="1"/>
          <p:nvPr/>
        </p:nvSpPr>
        <p:spPr>
          <a:xfrm>
            <a:off x="4454042" y="429768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5" name="TextBox 24"/>
          <p:cNvSpPr txBox="1"/>
          <p:nvPr/>
        </p:nvSpPr>
        <p:spPr>
          <a:xfrm>
            <a:off x="4728362" y="428853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PriorityStrategy (interface)</a:t>
            </a:r>
          </a:p>
        </p:txBody>
      </p:sp>
      <p:sp>
        <p:nvSpPr>
          <p:cNvPr id="26" name="TextBox 25"/>
          <p:cNvSpPr txBox="1"/>
          <p:nvPr/>
        </p:nvSpPr>
        <p:spPr>
          <a:xfrm>
            <a:off x="4454042" y="484632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7" name="TextBox 26"/>
          <p:cNvSpPr txBox="1"/>
          <p:nvPr/>
        </p:nvSpPr>
        <p:spPr>
          <a:xfrm>
            <a:off x="4728362" y="483717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UrgentFirst · DeadlineFirst</a:t>
            </a:r>
          </a:p>
        </p:txBody>
      </p:sp>
      <p:sp>
        <p:nvSpPr>
          <p:cNvPr id="28" name="TextBox 27"/>
          <p:cNvSpPr txBox="1"/>
          <p:nvPr/>
        </p:nvSpPr>
        <p:spPr>
          <a:xfrm>
            <a:off x="4454042" y="539496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9" name="TextBox 28"/>
          <p:cNvSpPr txBox="1"/>
          <p:nvPr/>
        </p:nvSpPr>
        <p:spPr>
          <a:xfrm>
            <a:off x="4728362" y="538581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SeverityFirst</a:t>
            </a:r>
          </a:p>
        </p:txBody>
      </p:sp>
      <p:sp>
        <p:nvSpPr>
          <p:cNvPr id="30" name="TextBox 29"/>
          <p:cNvSpPr txBox="1"/>
          <p:nvPr/>
        </p:nvSpPr>
        <p:spPr>
          <a:xfrm>
            <a:off x="8194852" y="2697480"/>
            <a:ext cx="3283610" cy="274320"/>
          </a:xfrm>
          <a:prstGeom prst="rect">
            <a:avLst/>
          </a:prstGeom>
          <a:noFill/>
        </p:spPr>
        <p:txBody>
          <a:bodyPr wrap="square" anchor="t" lIns="0" rIns="0" tIns="0" bIns="0">
            <a:spAutoFit/>
          </a:bodyPr>
          <a:lstStyle/>
          <a:p>
            <a:pPr algn="l"/>
            <a:r>
              <a:rPr sz="1100" b="1" spc="160">
                <a:solidFill>
                  <a:srgbClr val="6E6E6E"/>
                </a:solidFill>
                <a:latin typeface="Inter"/>
              </a:rPr>
              <a:t>COORDINATION &amp; ENTRY</a:t>
            </a:r>
          </a:p>
        </p:txBody>
      </p:sp>
      <p:cxnSp>
        <p:nvCxnSpPr>
          <p:cNvPr id="31" name="Connector 30"/>
          <p:cNvCxnSpPr/>
          <p:nvPr/>
        </p:nvCxnSpPr>
        <p:spPr>
          <a:xfrm>
            <a:off x="8194852" y="3026664"/>
            <a:ext cx="3283611"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194852" y="320040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33" name="TextBox 32"/>
          <p:cNvSpPr txBox="1"/>
          <p:nvPr/>
        </p:nvSpPr>
        <p:spPr>
          <a:xfrm>
            <a:off x="8469172" y="319125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TaskManager (coordinator)</a:t>
            </a:r>
          </a:p>
        </p:txBody>
      </p:sp>
      <p:sp>
        <p:nvSpPr>
          <p:cNvPr id="34" name="TextBox 33"/>
          <p:cNvSpPr txBox="1"/>
          <p:nvPr/>
        </p:nvSpPr>
        <p:spPr>
          <a:xfrm>
            <a:off x="8194852" y="3749039"/>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35" name="TextBox 34"/>
          <p:cNvSpPr txBox="1"/>
          <p:nvPr/>
        </p:nvSpPr>
        <p:spPr>
          <a:xfrm>
            <a:off x="8469172" y="373989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Main (automated tests)</a:t>
            </a:r>
          </a:p>
        </p:txBody>
      </p:sp>
      <p:sp>
        <p:nvSpPr>
          <p:cNvPr id="36" name="TextBox 35"/>
          <p:cNvSpPr txBox="1"/>
          <p:nvPr/>
        </p:nvSpPr>
        <p:spPr>
          <a:xfrm>
            <a:off x="8194852" y="429768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37" name="TextBox 36"/>
          <p:cNvSpPr txBox="1"/>
          <p:nvPr/>
        </p:nvSpPr>
        <p:spPr>
          <a:xfrm>
            <a:off x="8469172" y="428853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TaskManagementApp (console)</a:t>
            </a:r>
          </a:p>
        </p:txBody>
      </p:sp>
      <p:sp>
        <p:nvSpPr>
          <p:cNvPr id="38" name="TextBox 37"/>
          <p:cNvSpPr txBox="1"/>
          <p:nvPr/>
        </p:nvSpPr>
        <p:spPr>
          <a:xfrm>
            <a:off x="8194852" y="484632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39" name="TextBox 38"/>
          <p:cNvSpPr txBox="1"/>
          <p:nvPr/>
        </p:nvSpPr>
        <p:spPr>
          <a:xfrm>
            <a:off x="8469172" y="4837176"/>
            <a:ext cx="3009290" cy="640080"/>
          </a:xfrm>
          <a:prstGeom prst="rect">
            <a:avLst/>
          </a:prstGeom>
          <a:noFill/>
        </p:spPr>
        <p:txBody>
          <a:bodyPr wrap="square" anchor="t" lIns="0" rIns="0" tIns="0" bIns="0">
            <a:spAutoFit/>
          </a:bodyPr>
          <a:lstStyle/>
          <a:p>
            <a:pPr algn="l">
              <a:lnSpc>
                <a:spcPct val="118000"/>
              </a:lnSpc>
            </a:pPr>
            <a:r>
              <a:rPr sz="1200" b="0">
                <a:solidFill>
                  <a:srgbClr val="161616"/>
                </a:solidFill>
                <a:latin typeface="Inter"/>
              </a:rPr>
              <a:t>gui.TaskManagerGUI (Swing)</a:t>
            </a:r>
          </a:p>
        </p:txBody>
      </p:sp>
      <p:cxnSp>
        <p:nvCxnSpPr>
          <p:cNvPr id="40" name="Connector 39"/>
          <p:cNvCxnSpPr/>
          <p:nvPr/>
        </p:nvCxnSpPr>
        <p:spPr>
          <a:xfrm>
            <a:off x="713232" y="5806440"/>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13232" y="5943600"/>
            <a:ext cx="10765231" cy="365760"/>
          </a:xfrm>
          <a:prstGeom prst="rect">
            <a:avLst/>
          </a:prstGeom>
          <a:noFill/>
        </p:spPr>
        <p:txBody>
          <a:bodyPr wrap="square" anchor="t" lIns="0" rIns="0" tIns="0" bIns="0">
            <a:spAutoFit/>
          </a:bodyPr>
          <a:lstStyle/>
          <a:p>
            <a:pPr algn="l">
              <a:lnSpc>
                <a:spcPct val="130000"/>
              </a:lnSpc>
            </a:pPr>
            <a:r>
              <a:rPr sz="1100" b="0">
                <a:solidFill>
                  <a:srgbClr val="6E6E6E"/>
                </a:solidFill>
                <a:latin typeface="Inter"/>
              </a:rPr>
              <a:t>All three entry points drive the same engine through its public API. 2 interfaces · 1 enum · 1 abstract · 12 concrete classes.</a:t>
            </a:r>
          </a:p>
        </p:txBody>
      </p:sp>
      <p:sp>
        <p:nvSpPr>
          <p:cNvPr id="42" name="TextBox 41"/>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43" name="TextBox 42"/>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IMPLEMENTATION · PRINCIPLES</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MOUHAMMAD</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How the design meets SOLID.</a:t>
            </a:r>
          </a:p>
        </p:txBody>
      </p:sp>
      <p:sp>
        <p:nvSpPr>
          <p:cNvPr id="5" name="TextBox 4"/>
          <p:cNvSpPr txBox="1"/>
          <p:nvPr/>
        </p:nvSpPr>
        <p:spPr>
          <a:xfrm>
            <a:off x="713232" y="2350008"/>
            <a:ext cx="274320" cy="365760"/>
          </a:xfrm>
          <a:prstGeom prst="rect">
            <a:avLst/>
          </a:prstGeom>
          <a:noFill/>
        </p:spPr>
        <p:txBody>
          <a:bodyPr wrap="square" anchor="t" lIns="0" rIns="0" tIns="0" bIns="0">
            <a:spAutoFit/>
          </a:bodyPr>
          <a:lstStyle/>
          <a:p>
            <a:pPr algn="l"/>
            <a:r>
              <a:rPr sz="1300" b="1">
                <a:solidFill>
                  <a:srgbClr val="0B0B0B"/>
                </a:solidFill>
                <a:latin typeface="Inter"/>
              </a:rPr>
              <a:t>·</a:t>
            </a:r>
          </a:p>
        </p:txBody>
      </p:sp>
      <p:sp>
        <p:nvSpPr>
          <p:cNvPr id="6" name="TextBox 5"/>
          <p:cNvSpPr txBox="1"/>
          <p:nvPr/>
        </p:nvSpPr>
        <p:spPr>
          <a:xfrm>
            <a:off x="1024128" y="2331720"/>
            <a:ext cx="4751679" cy="1097280"/>
          </a:xfrm>
          <a:prstGeom prst="rect">
            <a:avLst/>
          </a:prstGeom>
          <a:noFill/>
        </p:spPr>
        <p:txBody>
          <a:bodyPr wrap="square" anchor="t" lIns="0" rIns="0" tIns="0" bIns="0">
            <a:spAutoFit/>
          </a:bodyPr>
          <a:lstStyle/>
          <a:p>
            <a:pPr algn="l">
              <a:spcAft>
                <a:spcPts val="200"/>
              </a:spcAft>
            </a:pPr>
            <a:r>
              <a:rPr sz="1300" b="1">
                <a:solidFill>
                  <a:srgbClr val="0B0B0B"/>
                </a:solidFill>
                <a:latin typeface="Inter"/>
              </a:rPr>
              <a:t>S · Single responsibility</a:t>
            </a:r>
          </a:p>
          <a:p>
            <a:pPr algn="l">
              <a:lnSpc>
                <a:spcPct val="125000"/>
              </a:lnSpc>
            </a:pPr>
            <a:r>
              <a:rPr sz="1100" b="0">
                <a:solidFill>
                  <a:srgbClr val="6E6E6E"/>
                </a:solidFill>
                <a:latin typeface="Inter"/>
              </a:rPr>
              <a:t>Factories build, strategies sort, the manager coordinates. One reason to change each.</a:t>
            </a:r>
          </a:p>
        </p:txBody>
      </p:sp>
      <p:sp>
        <p:nvSpPr>
          <p:cNvPr id="7" name="TextBox 6"/>
          <p:cNvSpPr txBox="1"/>
          <p:nvPr/>
        </p:nvSpPr>
        <p:spPr>
          <a:xfrm>
            <a:off x="6415887" y="2350008"/>
            <a:ext cx="274320" cy="365760"/>
          </a:xfrm>
          <a:prstGeom prst="rect">
            <a:avLst/>
          </a:prstGeom>
          <a:noFill/>
        </p:spPr>
        <p:txBody>
          <a:bodyPr wrap="square" anchor="t" lIns="0" rIns="0" tIns="0" bIns="0">
            <a:spAutoFit/>
          </a:bodyPr>
          <a:lstStyle/>
          <a:p>
            <a:pPr algn="l"/>
            <a:r>
              <a:rPr sz="1300" b="1">
                <a:solidFill>
                  <a:srgbClr val="0B0B0B"/>
                </a:solidFill>
                <a:latin typeface="Inter"/>
              </a:rPr>
              <a:t>·</a:t>
            </a:r>
          </a:p>
        </p:txBody>
      </p:sp>
      <p:sp>
        <p:nvSpPr>
          <p:cNvPr id="8" name="TextBox 7"/>
          <p:cNvSpPr txBox="1"/>
          <p:nvPr/>
        </p:nvSpPr>
        <p:spPr>
          <a:xfrm>
            <a:off x="6726783" y="2331720"/>
            <a:ext cx="4751679" cy="1097280"/>
          </a:xfrm>
          <a:prstGeom prst="rect">
            <a:avLst/>
          </a:prstGeom>
          <a:noFill/>
        </p:spPr>
        <p:txBody>
          <a:bodyPr wrap="square" anchor="t" lIns="0" rIns="0" tIns="0" bIns="0">
            <a:spAutoFit/>
          </a:bodyPr>
          <a:lstStyle/>
          <a:p>
            <a:pPr algn="l">
              <a:spcAft>
                <a:spcPts val="200"/>
              </a:spcAft>
            </a:pPr>
            <a:r>
              <a:rPr sz="1300" b="1">
                <a:solidFill>
                  <a:srgbClr val="0B0B0B"/>
                </a:solidFill>
                <a:latin typeface="Inter"/>
              </a:rPr>
              <a:t>O · Open / Closed</a:t>
            </a:r>
          </a:p>
          <a:p>
            <a:pPr algn="l">
              <a:lnSpc>
                <a:spcPct val="125000"/>
              </a:lnSpc>
            </a:pPr>
            <a:r>
              <a:rPr sz="1100" b="0">
                <a:solidFill>
                  <a:srgbClr val="6E6E6E"/>
                </a:solidFill>
                <a:latin typeface="Inter"/>
              </a:rPr>
              <a:t>A new task type or sort is a new file plus one line. Zero edits to existing classes.</a:t>
            </a:r>
          </a:p>
        </p:txBody>
      </p:sp>
      <p:sp>
        <p:nvSpPr>
          <p:cNvPr id="9" name="TextBox 8"/>
          <p:cNvSpPr txBox="1"/>
          <p:nvPr/>
        </p:nvSpPr>
        <p:spPr>
          <a:xfrm>
            <a:off x="713232" y="3584448"/>
            <a:ext cx="274320" cy="365760"/>
          </a:xfrm>
          <a:prstGeom prst="rect">
            <a:avLst/>
          </a:prstGeom>
          <a:noFill/>
        </p:spPr>
        <p:txBody>
          <a:bodyPr wrap="square" anchor="t" lIns="0" rIns="0" tIns="0" bIns="0">
            <a:spAutoFit/>
          </a:bodyPr>
          <a:lstStyle/>
          <a:p>
            <a:pPr algn="l"/>
            <a:r>
              <a:rPr sz="1300" b="1">
                <a:solidFill>
                  <a:srgbClr val="0B0B0B"/>
                </a:solidFill>
                <a:latin typeface="Inter"/>
              </a:rPr>
              <a:t>·</a:t>
            </a:r>
          </a:p>
        </p:txBody>
      </p:sp>
      <p:sp>
        <p:nvSpPr>
          <p:cNvPr id="10" name="TextBox 9"/>
          <p:cNvSpPr txBox="1"/>
          <p:nvPr/>
        </p:nvSpPr>
        <p:spPr>
          <a:xfrm>
            <a:off x="1024128" y="3566160"/>
            <a:ext cx="4751679" cy="1097280"/>
          </a:xfrm>
          <a:prstGeom prst="rect">
            <a:avLst/>
          </a:prstGeom>
          <a:noFill/>
        </p:spPr>
        <p:txBody>
          <a:bodyPr wrap="square" anchor="t" lIns="0" rIns="0" tIns="0" bIns="0">
            <a:spAutoFit/>
          </a:bodyPr>
          <a:lstStyle/>
          <a:p>
            <a:pPr algn="l">
              <a:spcAft>
                <a:spcPts val="200"/>
              </a:spcAft>
            </a:pPr>
            <a:r>
              <a:rPr sz="1300" b="1">
                <a:solidFill>
                  <a:srgbClr val="0B0B0B"/>
                </a:solidFill>
                <a:latin typeface="Inter"/>
              </a:rPr>
              <a:t>L · Liskov substitution</a:t>
            </a:r>
          </a:p>
          <a:p>
            <a:pPr algn="l">
              <a:lnSpc>
                <a:spcPct val="125000"/>
              </a:lnSpc>
            </a:pPr>
            <a:r>
              <a:rPr sz="1100" b="0">
                <a:solidFill>
                  <a:srgbClr val="6E6E6E"/>
                </a:solidFill>
                <a:latin typeface="Inter"/>
              </a:rPr>
              <a:t>Every factory works through the abstract reference; every strategy through the interface.</a:t>
            </a:r>
          </a:p>
        </p:txBody>
      </p:sp>
      <p:sp>
        <p:nvSpPr>
          <p:cNvPr id="11" name="TextBox 10"/>
          <p:cNvSpPr txBox="1"/>
          <p:nvPr/>
        </p:nvSpPr>
        <p:spPr>
          <a:xfrm>
            <a:off x="6415887" y="3584448"/>
            <a:ext cx="274320" cy="365760"/>
          </a:xfrm>
          <a:prstGeom prst="rect">
            <a:avLst/>
          </a:prstGeom>
          <a:noFill/>
        </p:spPr>
        <p:txBody>
          <a:bodyPr wrap="square" anchor="t" lIns="0" rIns="0" tIns="0" bIns="0">
            <a:spAutoFit/>
          </a:bodyPr>
          <a:lstStyle/>
          <a:p>
            <a:pPr algn="l"/>
            <a:r>
              <a:rPr sz="1300" b="1">
                <a:solidFill>
                  <a:srgbClr val="0B0B0B"/>
                </a:solidFill>
                <a:latin typeface="Inter"/>
              </a:rPr>
              <a:t>·</a:t>
            </a:r>
          </a:p>
        </p:txBody>
      </p:sp>
      <p:sp>
        <p:nvSpPr>
          <p:cNvPr id="12" name="TextBox 11"/>
          <p:cNvSpPr txBox="1"/>
          <p:nvPr/>
        </p:nvSpPr>
        <p:spPr>
          <a:xfrm>
            <a:off x="6726783" y="3566160"/>
            <a:ext cx="4751679" cy="1097280"/>
          </a:xfrm>
          <a:prstGeom prst="rect">
            <a:avLst/>
          </a:prstGeom>
          <a:noFill/>
        </p:spPr>
        <p:txBody>
          <a:bodyPr wrap="square" anchor="t" lIns="0" rIns="0" tIns="0" bIns="0">
            <a:spAutoFit/>
          </a:bodyPr>
          <a:lstStyle/>
          <a:p>
            <a:pPr algn="l">
              <a:spcAft>
                <a:spcPts val="200"/>
              </a:spcAft>
            </a:pPr>
            <a:r>
              <a:rPr sz="1300" b="1">
                <a:solidFill>
                  <a:srgbClr val="0B0B0B"/>
                </a:solidFill>
                <a:latin typeface="Inter"/>
              </a:rPr>
              <a:t>I · Interface segregation</a:t>
            </a:r>
          </a:p>
          <a:p>
            <a:pPr algn="l">
              <a:lnSpc>
                <a:spcPct val="125000"/>
              </a:lnSpc>
            </a:pPr>
            <a:r>
              <a:rPr sz="1100" b="0">
                <a:solidFill>
                  <a:srgbClr val="6E6E6E"/>
                </a:solidFill>
                <a:latin typeface="Inter"/>
              </a:rPr>
              <a:t>PriorityStrategy declares one method; the Task interface stays minimal.</a:t>
            </a:r>
          </a:p>
        </p:txBody>
      </p:sp>
      <p:sp>
        <p:nvSpPr>
          <p:cNvPr id="13" name="TextBox 12"/>
          <p:cNvSpPr txBox="1"/>
          <p:nvPr/>
        </p:nvSpPr>
        <p:spPr>
          <a:xfrm>
            <a:off x="713232" y="4818888"/>
            <a:ext cx="274320" cy="365760"/>
          </a:xfrm>
          <a:prstGeom prst="rect">
            <a:avLst/>
          </a:prstGeom>
          <a:noFill/>
        </p:spPr>
        <p:txBody>
          <a:bodyPr wrap="square" anchor="t" lIns="0" rIns="0" tIns="0" bIns="0">
            <a:spAutoFit/>
          </a:bodyPr>
          <a:lstStyle/>
          <a:p>
            <a:pPr algn="l"/>
            <a:r>
              <a:rPr sz="1300" b="1">
                <a:solidFill>
                  <a:srgbClr val="0B0B0B"/>
                </a:solidFill>
                <a:latin typeface="Inter"/>
              </a:rPr>
              <a:t>·</a:t>
            </a:r>
          </a:p>
        </p:txBody>
      </p:sp>
      <p:sp>
        <p:nvSpPr>
          <p:cNvPr id="14" name="TextBox 13"/>
          <p:cNvSpPr txBox="1"/>
          <p:nvPr/>
        </p:nvSpPr>
        <p:spPr>
          <a:xfrm>
            <a:off x="1024128" y="4800600"/>
            <a:ext cx="4751679" cy="1097280"/>
          </a:xfrm>
          <a:prstGeom prst="rect">
            <a:avLst/>
          </a:prstGeom>
          <a:noFill/>
        </p:spPr>
        <p:txBody>
          <a:bodyPr wrap="square" anchor="t" lIns="0" rIns="0" tIns="0" bIns="0">
            <a:spAutoFit/>
          </a:bodyPr>
          <a:lstStyle/>
          <a:p>
            <a:pPr algn="l">
              <a:spcAft>
                <a:spcPts val="200"/>
              </a:spcAft>
            </a:pPr>
            <a:r>
              <a:rPr sz="1300" b="1">
                <a:solidFill>
                  <a:srgbClr val="0B0B0B"/>
                </a:solidFill>
                <a:latin typeface="Inter"/>
              </a:rPr>
              <a:t>D · Dependency inversion</a:t>
            </a:r>
          </a:p>
          <a:p>
            <a:pPr algn="l">
              <a:lnSpc>
                <a:spcPct val="125000"/>
              </a:lnSpc>
            </a:pPr>
            <a:r>
              <a:rPr sz="1100" b="0">
                <a:solidFill>
                  <a:srgbClr val="6E6E6E"/>
                </a:solidFill>
                <a:latin typeface="Inter"/>
              </a:rPr>
              <a:t>The manager's fields are all interfaces and abstract types, never concretes.</a:t>
            </a:r>
          </a:p>
        </p:txBody>
      </p:sp>
      <p:sp>
        <p:nvSpPr>
          <p:cNvPr id="15" name="TextBox 14"/>
          <p:cNvSpPr txBox="1"/>
          <p:nvPr/>
        </p:nvSpPr>
        <p:spPr>
          <a:xfrm>
            <a:off x="6415887" y="4818888"/>
            <a:ext cx="274320" cy="365760"/>
          </a:xfrm>
          <a:prstGeom prst="rect">
            <a:avLst/>
          </a:prstGeom>
          <a:noFill/>
        </p:spPr>
        <p:txBody>
          <a:bodyPr wrap="square" anchor="t" lIns="0" rIns="0" tIns="0" bIns="0">
            <a:spAutoFit/>
          </a:bodyPr>
          <a:lstStyle/>
          <a:p>
            <a:pPr algn="l"/>
            <a:r>
              <a:rPr sz="1300" b="1">
                <a:solidFill>
                  <a:srgbClr val="0B0B0B"/>
                </a:solidFill>
                <a:latin typeface="Inter"/>
              </a:rPr>
              <a:t>·</a:t>
            </a:r>
          </a:p>
        </p:txBody>
      </p:sp>
      <p:sp>
        <p:nvSpPr>
          <p:cNvPr id="16" name="TextBox 15"/>
          <p:cNvSpPr txBox="1"/>
          <p:nvPr/>
        </p:nvSpPr>
        <p:spPr>
          <a:xfrm>
            <a:off x="6726783" y="4800600"/>
            <a:ext cx="4751679" cy="1097280"/>
          </a:xfrm>
          <a:prstGeom prst="rect">
            <a:avLst/>
          </a:prstGeom>
          <a:noFill/>
        </p:spPr>
        <p:txBody>
          <a:bodyPr wrap="square" anchor="t" lIns="0" rIns="0" tIns="0" bIns="0">
            <a:spAutoFit/>
          </a:bodyPr>
          <a:lstStyle/>
          <a:p>
            <a:pPr algn="l">
              <a:spcAft>
                <a:spcPts val="200"/>
              </a:spcAft>
            </a:pPr>
            <a:r>
              <a:rPr sz="1300" b="1">
                <a:solidFill>
                  <a:srgbClr val="0B0B0B"/>
                </a:solidFill>
                <a:latin typeface="Inter"/>
              </a:rPr>
              <a:t>The throughline</a:t>
            </a:r>
          </a:p>
          <a:p>
            <a:pPr algn="l">
              <a:lnSpc>
                <a:spcPct val="125000"/>
              </a:lnSpc>
            </a:pPr>
            <a:r>
              <a:rPr sz="1100" b="0">
                <a:solidFill>
                  <a:srgbClr val="6E6E6E"/>
                </a:solidFill>
                <a:latin typeface="Inter"/>
              </a:rPr>
              <a:t>Abstractions sit in the middle of the system; concrete classes live at the edges.</a:t>
            </a:r>
          </a:p>
        </p:txBody>
      </p:sp>
      <p:sp>
        <p:nvSpPr>
          <p:cNvPr id="17" name="TextBox 16"/>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8" name="TextBox 17"/>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80">
                <a:solidFill>
                  <a:srgbClr val="9A9A9A"/>
                </a:solidFill>
                <a:latin typeface="Inter"/>
              </a:rPr>
              <a:t>SECTION 04</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BOTH</a:t>
            </a:r>
          </a:p>
        </p:txBody>
      </p:sp>
      <p:cxnSp>
        <p:nvCxnSpPr>
          <p:cNvPr id="4" name="Connector 3"/>
          <p:cNvCxnSpPr/>
          <p:nvPr/>
        </p:nvCxnSpPr>
        <p:spPr>
          <a:xfrm>
            <a:off x="713232" y="2743200"/>
            <a:ext cx="10765231" cy="0"/>
          </a:xfrm>
          <a:prstGeom prst="line">
            <a:avLst/>
          </a:prstGeom>
          <a:ln w="12700">
            <a:solidFill>
              <a:srgbClr val="2E2E2E"/>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3232" y="3017520"/>
            <a:ext cx="10765231" cy="1645920"/>
          </a:xfrm>
          <a:prstGeom prst="rect">
            <a:avLst/>
          </a:prstGeom>
          <a:noFill/>
        </p:spPr>
        <p:txBody>
          <a:bodyPr wrap="square" anchor="t" lIns="0" rIns="0" tIns="0" bIns="0">
            <a:spAutoFit/>
          </a:bodyPr>
          <a:lstStyle/>
          <a:p>
            <a:pPr algn="l">
              <a:lnSpc>
                <a:spcPct val="106000"/>
              </a:lnSpc>
            </a:pPr>
            <a:r>
              <a:rPr sz="3600" b="1">
                <a:solidFill>
                  <a:srgbClr val="FFFFFF"/>
                </a:solidFill>
                <a:latin typeface="Inter"/>
              </a:rPr>
              <a:t>Live demonstration.</a:t>
            </a:r>
          </a:p>
        </p:txBody>
      </p:sp>
      <p:sp>
        <p:nvSpPr>
          <p:cNvPr id="6" name="TextBox 5"/>
          <p:cNvSpPr txBox="1"/>
          <p:nvPr/>
        </p:nvSpPr>
        <p:spPr>
          <a:xfrm>
            <a:off x="713232" y="5029200"/>
            <a:ext cx="10479938" cy="822960"/>
          </a:xfrm>
          <a:prstGeom prst="rect">
            <a:avLst/>
          </a:prstGeom>
          <a:noFill/>
        </p:spPr>
        <p:txBody>
          <a:bodyPr wrap="square" anchor="t" lIns="0" rIns="0" tIns="0" bIns="0">
            <a:spAutoFit/>
          </a:bodyPr>
          <a:lstStyle/>
          <a:p>
            <a:pPr algn="l">
              <a:lnSpc>
                <a:spcPct val="140000"/>
              </a:lnSpc>
            </a:pPr>
            <a:r>
              <a:rPr sz="1400" b="0">
                <a:solidFill>
                  <a:srgbClr val="9A9A9A"/>
                </a:solidFill>
                <a:latin typeface="Inter"/>
              </a:rPr>
              <a:t>The compiled system, run three ways: the automated test suite, the interactive console, and the Swing GUI.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LIVE DEMONSTRATION · RUNBOOK</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 NARRATES · MOUHAMMAD DRIVES</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Running the system.</a:t>
            </a:r>
          </a:p>
        </p:txBody>
      </p:sp>
      <p:sp>
        <p:nvSpPr>
          <p:cNvPr id="5" name="TextBox 4"/>
          <p:cNvSpPr txBox="1"/>
          <p:nvPr/>
        </p:nvSpPr>
        <p:spPr>
          <a:xfrm>
            <a:off x="713232" y="1883664"/>
            <a:ext cx="1417320" cy="274320"/>
          </a:xfrm>
          <a:prstGeom prst="rect">
            <a:avLst/>
          </a:prstGeom>
          <a:noFill/>
        </p:spPr>
        <p:txBody>
          <a:bodyPr wrap="square" anchor="t" lIns="0" rIns="0" tIns="0" bIns="0">
            <a:spAutoFit/>
          </a:bodyPr>
          <a:lstStyle/>
          <a:p>
            <a:pPr algn="l"/>
            <a:r>
              <a:rPr sz="950" b="1" spc="180">
                <a:solidFill>
                  <a:srgbClr val="6E6E6E"/>
                </a:solidFill>
                <a:latin typeface="Inter"/>
              </a:rPr>
              <a:t>BUILD ONCE</a:t>
            </a:r>
          </a:p>
        </p:txBody>
      </p:sp>
      <p:sp>
        <p:nvSpPr>
          <p:cNvPr id="6" name="TextBox 5"/>
          <p:cNvSpPr txBox="1"/>
          <p:nvPr/>
        </p:nvSpPr>
        <p:spPr>
          <a:xfrm>
            <a:off x="2130552" y="1828800"/>
            <a:ext cx="9347911" cy="310896"/>
          </a:xfrm>
          <a:prstGeom prst="rect">
            <a:avLst/>
          </a:prstGeom>
          <a:noFill/>
        </p:spPr>
        <p:txBody>
          <a:bodyPr wrap="square" anchor="t" lIns="0" rIns="0" tIns="0" bIns="0">
            <a:spAutoFit/>
          </a:bodyPr>
          <a:lstStyle/>
          <a:p>
            <a:pPr algn="l"/>
            <a:r>
              <a:rPr sz="1150" b="0">
                <a:solidFill>
                  <a:srgbClr val="161616"/>
                </a:solidFill>
                <a:latin typeface="Consolas"/>
              </a:rPr>
              <a:t>javac -d bin src/main/java/*.java src/main/java/gui/*.java</a:t>
            </a:r>
          </a:p>
        </p:txBody>
      </p:sp>
      <p:cxnSp>
        <p:nvCxnSpPr>
          <p:cNvPr id="7" name="Connector 6"/>
          <p:cNvCxnSpPr/>
          <p:nvPr/>
        </p:nvCxnSpPr>
        <p:spPr>
          <a:xfrm>
            <a:off x="713232" y="2286000"/>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pic>
        <p:nvPicPr>
          <p:cNvPr id="8" name="Picture 7" descr="gui-strategy.png"/>
          <p:cNvPicPr>
            <a:picLocks noChangeAspect="1"/>
          </p:cNvPicPr>
          <p:nvPr/>
        </p:nvPicPr>
        <p:blipFill>
          <a:blip r:embed="rId2"/>
          <a:stretch>
            <a:fillRect/>
          </a:stretch>
        </p:blipFill>
        <p:spPr>
          <a:xfrm>
            <a:off x="713232" y="2526631"/>
            <a:ext cx="4434840" cy="3267776"/>
          </a:xfrm>
          <a:prstGeom prst="rect">
            <a:avLst/>
          </a:prstGeom>
          <a:ln w="9525">
            <a:solidFill>
              <a:srgbClr val="DEDEDE"/>
            </a:solidFill>
          </a:ln>
          <a:effectLst/>
        </p:spPr>
      </p:pic>
      <p:sp>
        <p:nvSpPr>
          <p:cNvPr id="9" name="TextBox 8"/>
          <p:cNvSpPr txBox="1"/>
          <p:nvPr/>
        </p:nvSpPr>
        <p:spPr>
          <a:xfrm>
            <a:off x="5513832" y="2542032"/>
            <a:ext cx="5964631" cy="274320"/>
          </a:xfrm>
          <a:prstGeom prst="rect">
            <a:avLst/>
          </a:prstGeom>
          <a:noFill/>
        </p:spPr>
        <p:txBody>
          <a:bodyPr wrap="square" anchor="t" lIns="0" rIns="0" tIns="0" bIns="0">
            <a:spAutoFit/>
          </a:bodyPr>
          <a:lstStyle/>
          <a:p>
            <a:pPr algn="l"/>
            <a:r>
              <a:rPr sz="1250" b="1">
                <a:solidFill>
                  <a:srgbClr val="0B0B0B"/>
                </a:solidFill>
                <a:latin typeface="Inter"/>
              </a:rPr>
              <a:t>1 · Automated tests</a:t>
            </a:r>
          </a:p>
        </p:txBody>
      </p:sp>
      <p:sp>
        <p:nvSpPr>
          <p:cNvPr id="10" name="TextBox 9"/>
          <p:cNvSpPr txBox="1"/>
          <p:nvPr/>
        </p:nvSpPr>
        <p:spPr>
          <a:xfrm>
            <a:off x="5513832" y="2798063"/>
            <a:ext cx="5964631" cy="384048"/>
          </a:xfrm>
          <a:prstGeom prst="rect">
            <a:avLst/>
          </a:prstGeom>
          <a:noFill/>
        </p:spPr>
        <p:txBody>
          <a:bodyPr wrap="square" anchor="t" lIns="0" rIns="0" tIns="0" bIns="0">
            <a:spAutoFit/>
          </a:bodyPr>
          <a:lstStyle/>
          <a:p>
            <a:pPr algn="l">
              <a:lnSpc>
                <a:spcPct val="120000"/>
              </a:lnSpc>
            </a:pPr>
            <a:r>
              <a:rPr sz="1050" b="0">
                <a:solidFill>
                  <a:srgbClr val="6E6E6E"/>
                </a:solidFill>
                <a:latin typeface="Consolas"/>
              </a:rPr>
              <a:t>java -cp bin Main</a:t>
            </a:r>
            <a:r>
              <a:rPr sz="1050" b="0">
                <a:solidFill>
                  <a:srgbClr val="6E6E6E"/>
                </a:solidFill>
                <a:latin typeface="Inter"/>
              </a:rPr>
              <a:t>  six sections, ends ALL TESTS PASSED.</a:t>
            </a:r>
          </a:p>
        </p:txBody>
      </p:sp>
      <p:sp>
        <p:nvSpPr>
          <p:cNvPr id="11" name="TextBox 10"/>
          <p:cNvSpPr txBox="1"/>
          <p:nvPr/>
        </p:nvSpPr>
        <p:spPr>
          <a:xfrm>
            <a:off x="5513832" y="3218687"/>
            <a:ext cx="5964631" cy="274320"/>
          </a:xfrm>
          <a:prstGeom prst="rect">
            <a:avLst/>
          </a:prstGeom>
          <a:noFill/>
        </p:spPr>
        <p:txBody>
          <a:bodyPr wrap="square" anchor="t" lIns="0" rIns="0" tIns="0" bIns="0">
            <a:spAutoFit/>
          </a:bodyPr>
          <a:lstStyle/>
          <a:p>
            <a:pPr algn="l"/>
            <a:r>
              <a:rPr sz="1250" b="1">
                <a:solidFill>
                  <a:srgbClr val="0B0B0B"/>
                </a:solidFill>
                <a:latin typeface="Inter"/>
              </a:rPr>
              <a:t>2 · Open the GUI</a:t>
            </a:r>
          </a:p>
        </p:txBody>
      </p:sp>
      <p:sp>
        <p:nvSpPr>
          <p:cNvPr id="12" name="TextBox 11"/>
          <p:cNvSpPr txBox="1"/>
          <p:nvPr/>
        </p:nvSpPr>
        <p:spPr>
          <a:xfrm>
            <a:off x="5513832" y="3474720"/>
            <a:ext cx="5964631" cy="384048"/>
          </a:xfrm>
          <a:prstGeom prst="rect">
            <a:avLst/>
          </a:prstGeom>
          <a:noFill/>
        </p:spPr>
        <p:txBody>
          <a:bodyPr wrap="square" anchor="t" lIns="0" rIns="0" tIns="0" bIns="0">
            <a:spAutoFit/>
          </a:bodyPr>
          <a:lstStyle/>
          <a:p>
            <a:pPr algn="l">
              <a:lnSpc>
                <a:spcPct val="120000"/>
              </a:lnSpc>
            </a:pPr>
            <a:r>
              <a:rPr sz="1050" b="0">
                <a:solidFill>
                  <a:srgbClr val="6E6E6E"/>
                </a:solidFill>
                <a:latin typeface="Consolas"/>
              </a:rPr>
              <a:t>java -jar TaskManagerGUI.jar</a:t>
            </a:r>
            <a:r>
              <a:rPr sz="1050" b="0">
                <a:solidFill>
                  <a:srgbClr val="6E6E6E"/>
                </a:solidFill>
                <a:latin typeface="Inter"/>
              </a:rPr>
              <a:t>  then Demo, Load Strategy Demo.</a:t>
            </a:r>
          </a:p>
        </p:txBody>
      </p:sp>
      <p:sp>
        <p:nvSpPr>
          <p:cNvPr id="13" name="TextBox 12"/>
          <p:cNvSpPr txBox="1"/>
          <p:nvPr/>
        </p:nvSpPr>
        <p:spPr>
          <a:xfrm>
            <a:off x="5513832" y="3895344"/>
            <a:ext cx="5964631" cy="274320"/>
          </a:xfrm>
          <a:prstGeom prst="rect">
            <a:avLst/>
          </a:prstGeom>
          <a:noFill/>
        </p:spPr>
        <p:txBody>
          <a:bodyPr wrap="square" anchor="t" lIns="0" rIns="0" tIns="0" bIns="0">
            <a:spAutoFit/>
          </a:bodyPr>
          <a:lstStyle/>
          <a:p>
            <a:pPr algn="l"/>
            <a:r>
              <a:rPr sz="1250" b="1">
                <a:solidFill>
                  <a:srgbClr val="0B0B0B"/>
                </a:solidFill>
                <a:latin typeface="Inter"/>
              </a:rPr>
              <a:t>3 · Strategy, live</a:t>
            </a:r>
          </a:p>
        </p:txBody>
      </p:sp>
      <p:sp>
        <p:nvSpPr>
          <p:cNvPr id="14" name="TextBox 13"/>
          <p:cNvSpPr txBox="1"/>
          <p:nvPr/>
        </p:nvSpPr>
        <p:spPr>
          <a:xfrm>
            <a:off x="5513832" y="4151376"/>
            <a:ext cx="5964631" cy="384048"/>
          </a:xfrm>
          <a:prstGeom prst="rect">
            <a:avLst/>
          </a:prstGeom>
          <a:noFill/>
        </p:spPr>
        <p:txBody>
          <a:bodyPr wrap="square" anchor="t" lIns="0" rIns="0" tIns="0" bIns="0">
            <a:spAutoFit/>
          </a:bodyPr>
          <a:lstStyle/>
          <a:p>
            <a:pPr algn="l">
              <a:lnSpc>
                <a:spcPct val="120000"/>
              </a:lnSpc>
            </a:pPr>
            <a:r>
              <a:rPr sz="1050" b="0">
                <a:solidFill>
                  <a:srgbClr val="6E6E6E"/>
                </a:solidFill>
                <a:latin typeface="Inter"/>
              </a:rPr>
              <a:t>switch Sort by: Urgent, Deadline, Severity. The table reorders, no recompile.</a:t>
            </a:r>
          </a:p>
        </p:txBody>
      </p:sp>
      <p:sp>
        <p:nvSpPr>
          <p:cNvPr id="15" name="TextBox 14"/>
          <p:cNvSpPr txBox="1"/>
          <p:nvPr/>
        </p:nvSpPr>
        <p:spPr>
          <a:xfrm>
            <a:off x="5513832" y="4572000"/>
            <a:ext cx="5964631" cy="274320"/>
          </a:xfrm>
          <a:prstGeom prst="rect">
            <a:avLst/>
          </a:prstGeom>
          <a:noFill/>
        </p:spPr>
        <p:txBody>
          <a:bodyPr wrap="square" anchor="t" lIns="0" rIns="0" tIns="0" bIns="0">
            <a:spAutoFit/>
          </a:bodyPr>
          <a:lstStyle/>
          <a:p>
            <a:pPr algn="l"/>
            <a:r>
              <a:rPr sz="1250" b="1">
                <a:solidFill>
                  <a:srgbClr val="0B0B0B"/>
                </a:solidFill>
                <a:latin typeface="Inter"/>
              </a:rPr>
              <a:t>4 · Factory, live</a:t>
            </a:r>
          </a:p>
        </p:txBody>
      </p:sp>
      <p:sp>
        <p:nvSpPr>
          <p:cNvPr id="16" name="TextBox 15"/>
          <p:cNvSpPr txBox="1"/>
          <p:nvPr/>
        </p:nvSpPr>
        <p:spPr>
          <a:xfrm>
            <a:off x="5513832" y="4828032"/>
            <a:ext cx="5964631" cy="384048"/>
          </a:xfrm>
          <a:prstGeom prst="rect">
            <a:avLst/>
          </a:prstGeom>
          <a:noFill/>
        </p:spPr>
        <p:txBody>
          <a:bodyPr wrap="square" anchor="t" lIns="0" rIns="0" tIns="0" bIns="0">
            <a:spAutoFit/>
          </a:bodyPr>
          <a:lstStyle/>
          <a:p>
            <a:pPr algn="l">
              <a:lnSpc>
                <a:spcPct val="120000"/>
              </a:lnSpc>
            </a:pPr>
            <a:r>
              <a:rPr sz="1050" b="0">
                <a:solidFill>
                  <a:srgbClr val="6E6E6E"/>
                </a:solidFill>
                <a:latin typeface="Inter"/>
              </a:rPr>
              <a:t>add a task from the form. Type is BUG, FEATURE, or DOCUMENTATION.</a:t>
            </a:r>
          </a:p>
        </p:txBody>
      </p:sp>
      <p:sp>
        <p:nvSpPr>
          <p:cNvPr id="17" name="TextBox 16"/>
          <p:cNvSpPr txBox="1"/>
          <p:nvPr/>
        </p:nvSpPr>
        <p:spPr>
          <a:xfrm>
            <a:off x="5513832" y="5248656"/>
            <a:ext cx="5964631" cy="274320"/>
          </a:xfrm>
          <a:prstGeom prst="rect">
            <a:avLst/>
          </a:prstGeom>
          <a:noFill/>
        </p:spPr>
        <p:txBody>
          <a:bodyPr wrap="square" anchor="t" lIns="0" rIns="0" tIns="0" bIns="0">
            <a:spAutoFit/>
          </a:bodyPr>
          <a:lstStyle/>
          <a:p>
            <a:pPr algn="l"/>
            <a:r>
              <a:rPr sz="1250" b="1">
                <a:solidFill>
                  <a:srgbClr val="0B0B0B"/>
                </a:solidFill>
                <a:latin typeface="Inter"/>
              </a:rPr>
              <a:t>5 · State machine</a:t>
            </a:r>
          </a:p>
        </p:txBody>
      </p:sp>
      <p:sp>
        <p:nvSpPr>
          <p:cNvPr id="18" name="TextBox 17"/>
          <p:cNvSpPr txBox="1"/>
          <p:nvPr/>
        </p:nvSpPr>
        <p:spPr>
          <a:xfrm>
            <a:off x="5513832" y="5504688"/>
            <a:ext cx="5964631" cy="384048"/>
          </a:xfrm>
          <a:prstGeom prst="rect">
            <a:avLst/>
          </a:prstGeom>
          <a:noFill/>
        </p:spPr>
        <p:txBody>
          <a:bodyPr wrap="square" anchor="t" lIns="0" rIns="0" tIns="0" bIns="0">
            <a:spAutoFit/>
          </a:bodyPr>
          <a:lstStyle/>
          <a:p>
            <a:pPr algn="l">
              <a:lnSpc>
                <a:spcPct val="120000"/>
              </a:lnSpc>
            </a:pPr>
            <a:r>
              <a:rPr sz="1050" b="0">
                <a:solidFill>
                  <a:srgbClr val="6E6E6E"/>
                </a:solidFill>
                <a:latin typeface="Inter"/>
              </a:rPr>
              <a:t>click a row: OPEN to DONE is refused, OPEN to IN_PROGRESS is allowed.</a:t>
            </a:r>
          </a:p>
        </p:txBody>
      </p:sp>
      <p:sp>
        <p:nvSpPr>
          <p:cNvPr id="19" name="TextBox 18"/>
          <p:cNvSpPr txBox="1"/>
          <p:nvPr/>
        </p:nvSpPr>
        <p:spPr>
          <a:xfrm>
            <a:off x="713232" y="5989320"/>
            <a:ext cx="10765231" cy="365760"/>
          </a:xfrm>
          <a:prstGeom prst="rect">
            <a:avLst/>
          </a:prstGeom>
          <a:noFill/>
        </p:spPr>
        <p:txBody>
          <a:bodyPr wrap="square" anchor="t" lIns="0" rIns="0" tIns="0" bIns="0">
            <a:spAutoFit/>
          </a:bodyPr>
          <a:lstStyle/>
          <a:p>
            <a:pPr algn="l"/>
            <a:r>
              <a:rPr sz="1050" b="0">
                <a:solidFill>
                  <a:srgbClr val="B4B4B4"/>
                </a:solidFill>
                <a:latin typeface="Inter"/>
              </a:rPr>
              <a:t>Validation lives in the engine, not the GUI. Every entry point shares the same Factory Method + Strategy core.</a:t>
            </a:r>
          </a:p>
        </p:txBody>
      </p:sp>
      <p:sp>
        <p:nvSpPr>
          <p:cNvPr id="20" name="TextBox 19"/>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21" name="TextBox 20"/>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80">
                <a:solidFill>
                  <a:srgbClr val="9A9A9A"/>
                </a:solidFill>
                <a:latin typeface="Inter"/>
              </a:rPr>
              <a:t>SECTION 05</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cxnSp>
        <p:nvCxnSpPr>
          <p:cNvPr id="4" name="Connector 3"/>
          <p:cNvCxnSpPr/>
          <p:nvPr/>
        </p:nvCxnSpPr>
        <p:spPr>
          <a:xfrm>
            <a:off x="713232" y="2743200"/>
            <a:ext cx="10765231" cy="0"/>
          </a:xfrm>
          <a:prstGeom prst="line">
            <a:avLst/>
          </a:prstGeom>
          <a:ln w="12700">
            <a:solidFill>
              <a:srgbClr val="2E2E2E"/>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3232" y="3017520"/>
            <a:ext cx="10765231" cy="1645920"/>
          </a:xfrm>
          <a:prstGeom prst="rect">
            <a:avLst/>
          </a:prstGeom>
          <a:noFill/>
        </p:spPr>
        <p:txBody>
          <a:bodyPr wrap="square" anchor="t" lIns="0" rIns="0" tIns="0" bIns="0">
            <a:spAutoFit/>
          </a:bodyPr>
          <a:lstStyle/>
          <a:p>
            <a:pPr algn="l">
              <a:lnSpc>
                <a:spcPct val="106000"/>
              </a:lnSpc>
            </a:pPr>
            <a:r>
              <a:rPr sz="3600" b="1">
                <a:solidFill>
                  <a:srgbClr val="FFFFFF"/>
                </a:solidFill>
                <a:latin typeface="Inter"/>
              </a:rPr>
              <a:t>Results, evaluation &amp; conclusion.</a:t>
            </a:r>
          </a:p>
        </p:txBody>
      </p:sp>
      <p:sp>
        <p:nvSpPr>
          <p:cNvPr id="6" name="TextBox 5"/>
          <p:cNvSpPr txBox="1"/>
          <p:nvPr/>
        </p:nvSpPr>
        <p:spPr>
          <a:xfrm>
            <a:off x="713232" y="5029200"/>
            <a:ext cx="10479938" cy="822960"/>
          </a:xfrm>
          <a:prstGeom prst="rect">
            <a:avLst/>
          </a:prstGeom>
          <a:noFill/>
        </p:spPr>
        <p:txBody>
          <a:bodyPr wrap="square" anchor="t" lIns="0" rIns="0" tIns="0" bIns="0">
            <a:spAutoFit/>
          </a:bodyPr>
          <a:lstStyle/>
          <a:p>
            <a:pPr algn="l">
              <a:lnSpc>
                <a:spcPct val="140000"/>
              </a:lnSpc>
            </a:pPr>
            <a:r>
              <a:rPr sz="1400" b="0">
                <a:solidFill>
                  <a:srgbClr val="9A9A9A"/>
                </a:solidFill>
                <a:latin typeface="Inter"/>
              </a:rPr>
              <a:t>What the patterns delivered in practice, the honest limits of this implementation, and what we take away.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RESULTS · WHAT THE PATTERNS DELIVERED</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New features, without editing old code.</a:t>
            </a:r>
          </a:p>
        </p:txBody>
      </p:sp>
      <p:sp>
        <p:nvSpPr>
          <p:cNvPr id="5" name="TextBox 4"/>
          <p:cNvSpPr txBox="1"/>
          <p:nvPr/>
        </p:nvSpPr>
        <p:spPr>
          <a:xfrm>
            <a:off x="713232" y="2286000"/>
            <a:ext cx="5062575" cy="274320"/>
          </a:xfrm>
          <a:prstGeom prst="rect">
            <a:avLst/>
          </a:prstGeom>
          <a:noFill/>
        </p:spPr>
        <p:txBody>
          <a:bodyPr wrap="square" anchor="t" lIns="0" rIns="0" tIns="0" bIns="0">
            <a:spAutoFit/>
          </a:bodyPr>
          <a:lstStyle/>
          <a:p>
            <a:pPr algn="l"/>
            <a:r>
              <a:rPr sz="1100" b="1" spc="160">
                <a:solidFill>
                  <a:srgbClr val="6E6E6E"/>
                </a:solidFill>
                <a:latin typeface="Inter"/>
              </a:rPr>
              <a:t>EXTENSION, IN NUMBERS</a:t>
            </a:r>
          </a:p>
        </p:txBody>
      </p:sp>
      <p:cxnSp>
        <p:nvCxnSpPr>
          <p:cNvPr id="6" name="Connector 5"/>
          <p:cNvCxnSpPr/>
          <p:nvPr/>
        </p:nvCxnSpPr>
        <p:spPr>
          <a:xfrm>
            <a:off x="713232" y="2615184"/>
            <a:ext cx="5062575"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278892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8" name="TextBox 7"/>
          <p:cNvSpPr txBox="1"/>
          <p:nvPr/>
        </p:nvSpPr>
        <p:spPr>
          <a:xfrm>
            <a:off x="987552" y="2779776"/>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New task type: 2 new files, 1 line of registration, 0 edits.</a:t>
            </a:r>
          </a:p>
        </p:txBody>
      </p:sp>
      <p:sp>
        <p:nvSpPr>
          <p:cNvPr id="9" name="TextBox 8"/>
          <p:cNvSpPr txBox="1"/>
          <p:nvPr/>
        </p:nvSpPr>
        <p:spPr>
          <a:xfrm>
            <a:off x="713232" y="3392424"/>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0" name="TextBox 9"/>
          <p:cNvSpPr txBox="1"/>
          <p:nvPr/>
        </p:nvSpPr>
        <p:spPr>
          <a:xfrm>
            <a:off x="987552" y="3383280"/>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New ordering: 1 new file, 1 setter call, 0 edits.</a:t>
            </a:r>
          </a:p>
        </p:txBody>
      </p:sp>
      <p:sp>
        <p:nvSpPr>
          <p:cNvPr id="11" name="TextBox 10"/>
          <p:cNvSpPr txBox="1"/>
          <p:nvPr/>
        </p:nvSpPr>
        <p:spPr>
          <a:xfrm>
            <a:off x="713232" y="3995928"/>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2" name="TextBox 11"/>
          <p:cNvSpPr txBox="1"/>
          <p:nvPr/>
        </p:nvSpPr>
        <p:spPr>
          <a:xfrm>
            <a:off x="987552" y="3986784"/>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Test 5 in Main asserts this Open/Closed property at runtime.</a:t>
            </a:r>
          </a:p>
        </p:txBody>
      </p:sp>
      <p:sp>
        <p:nvSpPr>
          <p:cNvPr id="13" name="TextBox 12"/>
          <p:cNvSpPr txBox="1"/>
          <p:nvPr/>
        </p:nvSpPr>
        <p:spPr>
          <a:xfrm>
            <a:off x="6415887" y="2286000"/>
            <a:ext cx="5062575" cy="274320"/>
          </a:xfrm>
          <a:prstGeom prst="rect">
            <a:avLst/>
          </a:prstGeom>
          <a:noFill/>
        </p:spPr>
        <p:txBody>
          <a:bodyPr wrap="square" anchor="t" lIns="0" rIns="0" tIns="0" bIns="0">
            <a:spAutoFit/>
          </a:bodyPr>
          <a:lstStyle/>
          <a:p>
            <a:pPr algn="l"/>
            <a:r>
              <a:rPr sz="1100" b="1" spc="160">
                <a:solidFill>
                  <a:srgbClr val="6E6E6E"/>
                </a:solidFill>
                <a:latin typeface="Inter"/>
              </a:rPr>
              <a:t>WHAT WORKED IN PRACTICE</a:t>
            </a:r>
          </a:p>
        </p:txBody>
      </p:sp>
      <p:cxnSp>
        <p:nvCxnSpPr>
          <p:cNvPr id="14" name="Connector 13"/>
          <p:cNvCxnSpPr/>
          <p:nvPr/>
        </p:nvCxnSpPr>
        <p:spPr>
          <a:xfrm>
            <a:off x="6415887" y="2615184"/>
            <a:ext cx="5062576"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15887" y="2788920"/>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6" name="TextBox 15"/>
          <p:cNvSpPr txBox="1"/>
          <p:nvPr/>
        </p:nvSpPr>
        <p:spPr>
          <a:xfrm>
            <a:off x="6690207" y="2779776"/>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Documentation type was added late in under 30 minutes.</a:t>
            </a:r>
          </a:p>
        </p:txBody>
      </p:sp>
      <p:sp>
        <p:nvSpPr>
          <p:cNvPr id="17" name="TextBox 16"/>
          <p:cNvSpPr txBox="1"/>
          <p:nvPr/>
        </p:nvSpPr>
        <p:spPr>
          <a:xfrm>
            <a:off x="6415887" y="3392424"/>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18" name="TextBox 17"/>
          <p:cNvSpPr txBox="1"/>
          <p:nvPr/>
        </p:nvSpPr>
        <p:spPr>
          <a:xfrm>
            <a:off x="6690207" y="3383280"/>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The GUI dropdown proves the Strategy swap, live.</a:t>
            </a:r>
          </a:p>
        </p:txBody>
      </p:sp>
      <p:sp>
        <p:nvSpPr>
          <p:cNvPr id="19" name="TextBox 18"/>
          <p:cNvSpPr txBox="1"/>
          <p:nvPr/>
        </p:nvSpPr>
        <p:spPr>
          <a:xfrm>
            <a:off x="6415887" y="3995928"/>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0" name="TextBox 19"/>
          <p:cNvSpPr txBox="1"/>
          <p:nvPr/>
        </p:nvSpPr>
        <p:spPr>
          <a:xfrm>
            <a:off x="6690207" y="3986784"/>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The lifecycle enum caught two real bugs in development.</a:t>
            </a:r>
          </a:p>
        </p:txBody>
      </p:sp>
      <p:sp>
        <p:nvSpPr>
          <p:cNvPr id="21" name="TextBox 20"/>
          <p:cNvSpPr txBox="1"/>
          <p:nvPr/>
        </p:nvSpPr>
        <p:spPr>
          <a:xfrm>
            <a:off x="6415887" y="4599431"/>
            <a:ext cx="274320" cy="365760"/>
          </a:xfrm>
          <a:prstGeom prst="rect">
            <a:avLst/>
          </a:prstGeom>
          <a:noFill/>
        </p:spPr>
        <p:txBody>
          <a:bodyPr wrap="square" anchor="t" lIns="0" rIns="0" tIns="0" bIns="0">
            <a:spAutoFit/>
          </a:bodyPr>
          <a:lstStyle/>
          <a:p>
            <a:pPr algn="l"/>
            <a:r>
              <a:rPr sz="1200" b="1">
                <a:solidFill>
                  <a:srgbClr val="0B0B0B"/>
                </a:solidFill>
                <a:latin typeface="Inter"/>
              </a:rPr>
              <a:t>·</a:t>
            </a:r>
          </a:p>
        </p:txBody>
      </p:sp>
      <p:sp>
        <p:nvSpPr>
          <p:cNvPr id="22" name="TextBox 21"/>
          <p:cNvSpPr txBox="1"/>
          <p:nvPr/>
        </p:nvSpPr>
        <p:spPr>
          <a:xfrm>
            <a:off x="6690207" y="4590288"/>
            <a:ext cx="4788255" cy="694944"/>
          </a:xfrm>
          <a:prstGeom prst="rect">
            <a:avLst/>
          </a:prstGeom>
          <a:noFill/>
        </p:spPr>
        <p:txBody>
          <a:bodyPr wrap="square" anchor="t" lIns="0" rIns="0" tIns="0" bIns="0">
            <a:spAutoFit/>
          </a:bodyPr>
          <a:lstStyle/>
          <a:p>
            <a:pPr algn="l">
              <a:lnSpc>
                <a:spcPct val="118000"/>
              </a:lnSpc>
            </a:pPr>
            <a:r>
              <a:rPr sz="1250" b="0">
                <a:solidFill>
                  <a:srgbClr val="161616"/>
                </a:solidFill>
                <a:latin typeface="Inter"/>
              </a:rPr>
              <a:t>Main doubles as a test harness, with no JUnit needed.</a:t>
            </a:r>
          </a:p>
        </p:txBody>
      </p:sp>
      <p:sp>
        <p:nvSpPr>
          <p:cNvPr id="23" name="TextBox 22"/>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24" name="TextBox 23"/>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EVALUATION · LIMITATIONS &amp; ALTERNATIVES</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An honest look at the design.</a:t>
            </a:r>
          </a:p>
        </p:txBody>
      </p:sp>
      <p:cxnSp>
        <p:nvCxnSpPr>
          <p:cNvPr id="5" name="Connector 4"/>
          <p:cNvCxnSpPr/>
          <p:nvPr/>
        </p:nvCxnSpPr>
        <p:spPr>
          <a:xfrm>
            <a:off x="713232" y="2651760"/>
            <a:ext cx="3283610"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2788920"/>
            <a:ext cx="3283610" cy="155448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Limitations</a:t>
            </a:r>
          </a:p>
          <a:p>
            <a:pPr algn="l">
              <a:lnSpc>
                <a:spcPct val="130000"/>
              </a:lnSpc>
            </a:pPr>
            <a:r>
              <a:rPr sz="1150" b="0">
                <a:solidFill>
                  <a:srgbClr val="6E6E6E"/>
                </a:solidFill>
                <a:latin typeface="Inter"/>
              </a:rPr>
              <a:t>All data is in memory; nothing persists. Single user, no concurrency. Validation throws rather than collecting all errors.</a:t>
            </a:r>
          </a:p>
        </p:txBody>
      </p:sp>
      <p:cxnSp>
        <p:nvCxnSpPr>
          <p:cNvPr id="7" name="Connector 6"/>
          <p:cNvCxnSpPr/>
          <p:nvPr/>
        </p:nvCxnSpPr>
        <p:spPr>
          <a:xfrm>
            <a:off x="4454042" y="2651760"/>
            <a:ext cx="3283610"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454042" y="2788920"/>
            <a:ext cx="3283610" cy="155448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Alternatives we weighed</a:t>
            </a:r>
          </a:p>
          <a:p>
            <a:pPr algn="l">
              <a:lnSpc>
                <a:spcPct val="130000"/>
              </a:lnSpc>
            </a:pPr>
            <a:r>
              <a:rPr sz="1150" b="0">
                <a:solidFill>
                  <a:srgbClr val="6E6E6E"/>
                </a:solidFill>
                <a:latin typeface="Inter"/>
              </a:rPr>
              <a:t>Abstract Factory: rejected, there is only one product family. A raw Comparator: loses the named role and the stateful sort.</a:t>
            </a:r>
          </a:p>
        </p:txBody>
      </p:sp>
      <p:cxnSp>
        <p:nvCxnSpPr>
          <p:cNvPr id="9" name="Connector 8"/>
          <p:cNvCxnSpPr/>
          <p:nvPr/>
        </p:nvCxnSpPr>
        <p:spPr>
          <a:xfrm>
            <a:off x="8194852" y="2651760"/>
            <a:ext cx="3283611" cy="0"/>
          </a:xfrm>
          <a:prstGeom prst="line">
            <a:avLst/>
          </a:prstGeom>
          <a:ln w="17780">
            <a:solidFill>
              <a:srgbClr val="0B0B0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194852" y="2788920"/>
            <a:ext cx="3283610" cy="155448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Future work</a:t>
            </a:r>
          </a:p>
          <a:p>
            <a:pPr algn="l">
              <a:lnSpc>
                <a:spcPct val="130000"/>
              </a:lnSpc>
            </a:pPr>
            <a:r>
              <a:rPr sz="1150" b="0">
                <a:solidFill>
                  <a:srgbClr val="6E6E6E"/>
                </a:solidFill>
                <a:latin typeface="Inter"/>
              </a:rPr>
              <a:t>Persistence via Repository, tags via Specification, async dispatch, and a small REST layer over the same engine.</a:t>
            </a:r>
          </a:p>
        </p:txBody>
      </p:sp>
      <p:cxnSp>
        <p:nvCxnSpPr>
          <p:cNvPr id="11" name="Connector 10"/>
          <p:cNvCxnSpPr/>
          <p:nvPr/>
        </p:nvCxnSpPr>
        <p:spPr>
          <a:xfrm>
            <a:off x="713232" y="5120640"/>
            <a:ext cx="1076523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3232" y="5257800"/>
            <a:ext cx="10765231" cy="548640"/>
          </a:xfrm>
          <a:prstGeom prst="rect">
            <a:avLst/>
          </a:prstGeom>
          <a:noFill/>
        </p:spPr>
        <p:txBody>
          <a:bodyPr wrap="square" anchor="t" lIns="0" rIns="0" tIns="0" bIns="0">
            <a:spAutoFit/>
          </a:bodyPr>
          <a:lstStyle/>
          <a:p>
            <a:pPr algn="l">
              <a:lnSpc>
                <a:spcPct val="135000"/>
              </a:lnSpc>
            </a:pPr>
            <a:r>
              <a:rPr sz="1150" b="0">
                <a:solidFill>
                  <a:srgbClr val="6E6E6E"/>
                </a:solidFill>
                <a:latin typeface="Inter"/>
              </a:rPr>
              <a:t>Being explicit about what is not built, and why, is part of the design. The engine is decoupled enough that each item above is an addition, not a rewrite.</a:t>
            </a:r>
          </a:p>
        </p:txBody>
      </p:sp>
      <p:sp>
        <p:nvSpPr>
          <p:cNvPr id="13" name="TextBox 12"/>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4" name="TextBox 13"/>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CONCLUSION</a:t>
            </a:r>
          </a:p>
        </p:txBody>
      </p:sp>
      <p:sp>
        <p:nvSpPr>
          <p:cNvPr id="3" name="TextBox 2"/>
          <p:cNvSpPr txBox="1"/>
          <p:nvPr/>
        </p:nvSpPr>
        <p:spPr>
          <a:xfrm>
            <a:off x="5534863" y="548640"/>
            <a:ext cx="5943600" cy="274320"/>
          </a:xfrm>
          <a:prstGeom prst="rect">
            <a:avLst/>
          </a:prstGeom>
          <a:noFill/>
        </p:spPr>
        <p:txBody>
          <a:bodyPr wrap="square" anchor="t" lIns="0" rIns="0" tIns="0" bIns="0">
            <a:spAutoFit/>
          </a:bodyPr>
          <a:lstStyle/>
          <a:p>
            <a:pPr algn="r"/>
            <a:r>
              <a:rPr sz="950" b="1" spc="160">
                <a:solidFill>
                  <a:srgbClr val="B4B4B4"/>
                </a:solidFill>
                <a:latin typeface="Inter"/>
              </a:rPr>
              <a:t>ABDUL RAHMAN</a:t>
            </a:r>
          </a:p>
        </p:txBody>
      </p:sp>
      <p:sp>
        <p:nvSpPr>
          <p:cNvPr id="4" name="TextBox 3"/>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700" b="1">
                <a:solidFill>
                  <a:srgbClr val="0B0B0B"/>
                </a:solidFill>
                <a:latin typeface="Inter"/>
              </a:rPr>
              <a:t>What we set out to do, and what we learned.</a:t>
            </a:r>
          </a:p>
        </p:txBody>
      </p:sp>
      <p:cxnSp>
        <p:nvCxnSpPr>
          <p:cNvPr id="5" name="Connector 4"/>
          <p:cNvCxnSpPr/>
          <p:nvPr/>
        </p:nvCxnSpPr>
        <p:spPr>
          <a:xfrm>
            <a:off x="713232" y="2468880"/>
            <a:ext cx="509915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2596896"/>
            <a:ext cx="5099151" cy="137160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What we achieved</a:t>
            </a:r>
          </a:p>
          <a:p>
            <a:pPr algn="l">
              <a:lnSpc>
                <a:spcPct val="135000"/>
              </a:lnSpc>
            </a:pPr>
            <a:r>
              <a:rPr sz="1200" b="0">
                <a:solidFill>
                  <a:srgbClr val="6E6E6E"/>
                </a:solidFill>
                <a:latin typeface="Inter"/>
              </a:rPr>
              <a:t>A working task system where new types and new orderings cost no edits to existing, tested code.</a:t>
            </a:r>
          </a:p>
        </p:txBody>
      </p:sp>
      <p:cxnSp>
        <p:nvCxnSpPr>
          <p:cNvPr id="7" name="Connector 6"/>
          <p:cNvCxnSpPr/>
          <p:nvPr/>
        </p:nvCxnSpPr>
        <p:spPr>
          <a:xfrm>
            <a:off x="6379311" y="2468880"/>
            <a:ext cx="5099152"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79311" y="2596896"/>
            <a:ext cx="5099151" cy="137160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The patterns earned their place</a:t>
            </a:r>
          </a:p>
          <a:p>
            <a:pPr algn="l">
              <a:lnSpc>
                <a:spcPct val="135000"/>
              </a:lnSpc>
            </a:pPr>
            <a:r>
              <a:rPr sz="1200" b="0">
                <a:solidFill>
                  <a:srgbClr val="6E6E6E"/>
                </a:solidFill>
                <a:latin typeface="Inter"/>
              </a:rPr>
              <a:t>Each was chosen to solve a concrete problem from section one, not to satisfy a checklist.</a:t>
            </a:r>
          </a:p>
        </p:txBody>
      </p:sp>
      <p:cxnSp>
        <p:nvCxnSpPr>
          <p:cNvPr id="9" name="Connector 8"/>
          <p:cNvCxnSpPr/>
          <p:nvPr/>
        </p:nvCxnSpPr>
        <p:spPr>
          <a:xfrm>
            <a:off x="713232" y="4069080"/>
            <a:ext cx="5099151"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13232" y="4197096"/>
            <a:ext cx="5099151" cy="137160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The lesson</a:t>
            </a:r>
          </a:p>
          <a:p>
            <a:pPr algn="l">
              <a:lnSpc>
                <a:spcPct val="135000"/>
              </a:lnSpc>
            </a:pPr>
            <a:r>
              <a:rPr sz="1200" b="0">
                <a:solidFill>
                  <a:srgbClr val="6E6E6E"/>
                </a:solidFill>
                <a:latin typeface="Inter"/>
              </a:rPr>
              <a:t>Naming a role, a factory or a strategy, makes the codebase explain itself to the next reader.</a:t>
            </a:r>
          </a:p>
        </p:txBody>
      </p:sp>
      <p:cxnSp>
        <p:nvCxnSpPr>
          <p:cNvPr id="11" name="Connector 10"/>
          <p:cNvCxnSpPr/>
          <p:nvPr/>
        </p:nvCxnSpPr>
        <p:spPr>
          <a:xfrm>
            <a:off x="6379311" y="4069080"/>
            <a:ext cx="5099152" cy="0"/>
          </a:xfrm>
          <a:prstGeom prst="line">
            <a:avLst/>
          </a:prstGeom>
          <a:ln w="12700">
            <a:solidFill>
              <a:srgbClr val="DEDED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379311" y="4197096"/>
            <a:ext cx="5099151" cy="1371600"/>
          </a:xfrm>
          <a:prstGeom prst="rect">
            <a:avLst/>
          </a:prstGeom>
          <a:noFill/>
        </p:spPr>
        <p:txBody>
          <a:bodyPr wrap="square" anchor="t" lIns="0" rIns="0" tIns="0" bIns="0">
            <a:spAutoFit/>
          </a:bodyPr>
          <a:lstStyle/>
          <a:p>
            <a:pPr algn="l">
              <a:spcAft>
                <a:spcPts val="400"/>
              </a:spcAft>
            </a:pPr>
            <a:r>
              <a:rPr sz="1400" b="1">
                <a:solidFill>
                  <a:srgbClr val="0B0B0B"/>
                </a:solidFill>
                <a:latin typeface="Inter"/>
              </a:rPr>
              <a:t>The bigger point</a:t>
            </a:r>
          </a:p>
          <a:p>
            <a:pPr algn="l">
              <a:lnSpc>
                <a:spcPct val="135000"/>
              </a:lnSpc>
            </a:pPr>
            <a:r>
              <a:rPr sz="1200" b="0">
                <a:solidFill>
                  <a:srgbClr val="6E6E6E"/>
                </a:solidFill>
                <a:latin typeface="Inter"/>
              </a:rPr>
              <a:t>Design patterns are a shared vocabulary for keeping software open to change without fear.</a:t>
            </a:r>
          </a:p>
        </p:txBody>
      </p:sp>
      <p:sp>
        <p:nvSpPr>
          <p:cNvPr id="13" name="TextBox 12"/>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14" name="TextBox 13"/>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713232" y="2377440"/>
            <a:ext cx="10789920" cy="1554480"/>
          </a:xfrm>
          <a:prstGeom prst="rect">
            <a:avLst/>
          </a:prstGeom>
          <a:noFill/>
        </p:spPr>
        <p:txBody>
          <a:bodyPr wrap="square" anchor="t" lIns="0" rIns="0" tIns="0" bIns="0">
            <a:spAutoFit/>
          </a:bodyPr>
          <a:lstStyle/>
          <a:p>
            <a:pPr algn="l">
              <a:lnSpc>
                <a:spcPct val="106000"/>
              </a:lnSpc>
            </a:pPr>
            <a:r>
              <a:rPr sz="4400" b="1">
                <a:solidFill>
                  <a:srgbClr val="FFFFFF"/>
                </a:solidFill>
                <a:latin typeface="Inter"/>
              </a:rPr>
              <a:t>Thank you.</a:t>
            </a:r>
          </a:p>
          <a:p>
            <a:pPr algn="l">
              <a:lnSpc>
                <a:spcPct val="106000"/>
              </a:lnSpc>
            </a:pPr>
            <a:r>
              <a:rPr sz="4400" b="1">
                <a:solidFill>
                  <a:srgbClr val="B4B4B4"/>
                </a:solidFill>
                <a:latin typeface="Inter"/>
              </a:rPr>
              <a:t>Questions welcome.</a:t>
            </a:r>
          </a:p>
        </p:txBody>
      </p:sp>
      <p:cxnSp>
        <p:nvCxnSpPr>
          <p:cNvPr id="3" name="Connector 2"/>
          <p:cNvCxnSpPr/>
          <p:nvPr/>
        </p:nvCxnSpPr>
        <p:spPr>
          <a:xfrm>
            <a:off x="713232" y="4434840"/>
            <a:ext cx="10765231" cy="0"/>
          </a:xfrm>
          <a:prstGeom prst="line">
            <a:avLst/>
          </a:prstGeom>
          <a:ln w="12700">
            <a:solidFill>
              <a:srgbClr val="2E2E2E"/>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13232" y="4617720"/>
            <a:ext cx="8686800" cy="914400"/>
          </a:xfrm>
          <a:prstGeom prst="rect">
            <a:avLst/>
          </a:prstGeom>
          <a:noFill/>
        </p:spPr>
        <p:txBody>
          <a:bodyPr wrap="square" anchor="t" lIns="0" rIns="0" tIns="0" bIns="0">
            <a:spAutoFit/>
          </a:bodyPr>
          <a:lstStyle/>
          <a:p>
            <a:pPr algn="l">
              <a:lnSpc>
                <a:spcPct val="135000"/>
              </a:lnSpc>
              <a:spcAft>
                <a:spcPts val="600"/>
              </a:spcAft>
            </a:pPr>
            <a:r>
              <a:rPr sz="1300" b="0">
                <a:solidFill>
                  <a:srgbClr val="9A9A9A"/>
                </a:solidFill>
                <a:latin typeface="Inter"/>
              </a:rPr>
              <a:t>We can speak to any part: the problem, the patterns, the architecture, the code, or the demo.</a:t>
            </a:r>
          </a:p>
          <a:p>
            <a:pPr algn="l"/>
            <a:r>
              <a:rPr sz="1100" b="0">
                <a:solidFill>
                  <a:srgbClr val="9A9A9A"/>
                </a:solidFill>
                <a:latin typeface="Inter"/>
              </a:rPr>
              <a:t>SEN3006 Software Architecture · Abdul Rahman Malak · Mouhammad Houjeirat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548640"/>
            <a:ext cx="8229600" cy="274320"/>
          </a:xfrm>
          <a:prstGeom prst="rect">
            <a:avLst/>
          </a:prstGeom>
          <a:noFill/>
        </p:spPr>
        <p:txBody>
          <a:bodyPr wrap="square" anchor="t" lIns="0" rIns="0" tIns="0" bIns="0">
            <a:spAutoFit/>
          </a:bodyPr>
          <a:lstStyle/>
          <a:p>
            <a:pPr algn="l"/>
            <a:r>
              <a:rPr sz="1100" b="1" spc="220">
                <a:solidFill>
                  <a:srgbClr val="6E6E6E"/>
                </a:solidFill>
                <a:latin typeface="Inter"/>
              </a:rPr>
              <a:t>APPENDIX · SUPPORTING VIEWS</a:t>
            </a:r>
          </a:p>
        </p:txBody>
      </p:sp>
      <p:sp>
        <p:nvSpPr>
          <p:cNvPr id="3" name="TextBox 2"/>
          <p:cNvSpPr txBox="1"/>
          <p:nvPr/>
        </p:nvSpPr>
        <p:spPr>
          <a:xfrm>
            <a:off x="713232" y="1280160"/>
            <a:ext cx="10765231" cy="822960"/>
          </a:xfrm>
          <a:prstGeom prst="rect">
            <a:avLst/>
          </a:prstGeom>
          <a:noFill/>
        </p:spPr>
        <p:txBody>
          <a:bodyPr wrap="square" anchor="t" lIns="0" rIns="0" tIns="0" bIns="0">
            <a:spAutoFit/>
          </a:bodyPr>
          <a:lstStyle/>
          <a:p>
            <a:pPr algn="l">
              <a:lnSpc>
                <a:spcPct val="105000"/>
              </a:lnSpc>
            </a:pPr>
            <a:r>
              <a:rPr sz="2400" b="1">
                <a:solidFill>
                  <a:srgbClr val="0B0B0B"/>
                </a:solidFill>
                <a:latin typeface="Inter"/>
              </a:rPr>
              <a:t>Component &amp; deployment views.</a:t>
            </a:r>
          </a:p>
        </p:txBody>
      </p:sp>
      <p:pic>
        <p:nvPicPr>
          <p:cNvPr id="4" name="Picture 3" descr="component-diagram.png"/>
          <p:cNvPicPr>
            <a:picLocks noChangeAspect="1"/>
          </p:cNvPicPr>
          <p:nvPr/>
        </p:nvPicPr>
        <p:blipFill>
          <a:blip r:embed="rId2"/>
          <a:stretch>
            <a:fillRect/>
          </a:stretch>
        </p:blipFill>
        <p:spPr>
          <a:xfrm>
            <a:off x="713232" y="3294540"/>
            <a:ext cx="5154015" cy="1183319"/>
          </a:xfrm>
          <a:prstGeom prst="rect">
            <a:avLst/>
          </a:prstGeom>
          <a:ln w="9525">
            <a:solidFill>
              <a:srgbClr val="DEDEDE"/>
            </a:solidFill>
          </a:ln>
          <a:effectLst/>
        </p:spPr>
      </p:pic>
      <p:pic>
        <p:nvPicPr>
          <p:cNvPr id="5" name="Picture 4" descr="deployment-diagram.png"/>
          <p:cNvPicPr>
            <a:picLocks noChangeAspect="1"/>
          </p:cNvPicPr>
          <p:nvPr/>
        </p:nvPicPr>
        <p:blipFill>
          <a:blip r:embed="rId3"/>
          <a:stretch>
            <a:fillRect/>
          </a:stretch>
        </p:blipFill>
        <p:spPr>
          <a:xfrm>
            <a:off x="6361866" y="2286000"/>
            <a:ext cx="5079177" cy="3200400"/>
          </a:xfrm>
          <a:prstGeom prst="rect">
            <a:avLst/>
          </a:prstGeom>
          <a:ln w="9525">
            <a:solidFill>
              <a:srgbClr val="DEDEDE"/>
            </a:solidFill>
          </a:ln>
          <a:effectLst/>
        </p:spPr>
      </p:pic>
      <p:sp>
        <p:nvSpPr>
          <p:cNvPr id="6" name="TextBox 5"/>
          <p:cNvSpPr txBox="1"/>
          <p:nvPr/>
        </p:nvSpPr>
        <p:spPr>
          <a:xfrm>
            <a:off x="713232" y="5669280"/>
            <a:ext cx="5154015" cy="274320"/>
          </a:xfrm>
          <a:prstGeom prst="rect">
            <a:avLst/>
          </a:prstGeom>
          <a:noFill/>
        </p:spPr>
        <p:txBody>
          <a:bodyPr wrap="square" anchor="t" lIns="0" rIns="0" tIns="0" bIns="0">
            <a:spAutoFit/>
          </a:bodyPr>
          <a:lstStyle/>
          <a:p>
            <a:pPr algn="l"/>
            <a:r>
              <a:rPr sz="1050" b="0" spc="60">
                <a:solidFill>
                  <a:srgbClr val="6E6E6E"/>
                </a:solidFill>
                <a:latin typeface="Inter"/>
              </a:rPr>
              <a:t>Component view: the three layers as modules.</a:t>
            </a:r>
          </a:p>
        </p:txBody>
      </p:sp>
      <p:sp>
        <p:nvSpPr>
          <p:cNvPr id="7" name="TextBox 6"/>
          <p:cNvSpPr txBox="1"/>
          <p:nvPr/>
        </p:nvSpPr>
        <p:spPr>
          <a:xfrm>
            <a:off x="6324447" y="5669280"/>
            <a:ext cx="5154015" cy="274320"/>
          </a:xfrm>
          <a:prstGeom prst="rect">
            <a:avLst/>
          </a:prstGeom>
          <a:noFill/>
        </p:spPr>
        <p:txBody>
          <a:bodyPr wrap="square" anchor="t" lIns="0" rIns="0" tIns="0" bIns="0">
            <a:spAutoFit/>
          </a:bodyPr>
          <a:lstStyle/>
          <a:p>
            <a:pPr algn="l"/>
            <a:r>
              <a:rPr sz="1050" b="0" spc="60">
                <a:solidFill>
                  <a:srgbClr val="6E6E6E"/>
                </a:solidFill>
                <a:latin typeface="Inter"/>
              </a:rPr>
              <a:t>Deployment view: one JVM, three entry points.</a:t>
            </a:r>
          </a:p>
        </p:txBody>
      </p:sp>
      <p:sp>
        <p:nvSpPr>
          <p:cNvPr id="8" name="TextBox 7"/>
          <p:cNvSpPr txBox="1"/>
          <p:nvPr/>
        </p:nvSpPr>
        <p:spPr>
          <a:xfrm>
            <a:off x="713232" y="6400800"/>
            <a:ext cx="7315200" cy="274320"/>
          </a:xfrm>
          <a:prstGeom prst="rect">
            <a:avLst/>
          </a:prstGeom>
          <a:noFill/>
        </p:spPr>
        <p:txBody>
          <a:bodyPr wrap="square" anchor="t" lIns="0" rIns="0" tIns="0" bIns="0">
            <a:spAutoFit/>
          </a:bodyPr>
          <a:lstStyle/>
          <a:p>
            <a:pPr algn="l"/>
            <a:r>
              <a:rPr sz="850" b="0" spc="120">
                <a:solidFill>
                  <a:srgbClr val="B4B4B4"/>
                </a:solidFill>
                <a:latin typeface="Inter"/>
              </a:rPr>
              <a:t>Task Management System  ·  SEN3006</a:t>
            </a:r>
          </a:p>
        </p:txBody>
      </p:sp>
      <p:sp>
        <p:nvSpPr>
          <p:cNvPr id="9" name="TextBox 8"/>
          <p:cNvSpPr txBox="1"/>
          <p:nvPr/>
        </p:nvSpPr>
        <p:spPr>
          <a:xfrm>
            <a:off x="8735263" y="6400800"/>
            <a:ext cx="2743200" cy="274320"/>
          </a:xfrm>
          <a:prstGeom prst="rect">
            <a:avLst/>
          </a:prstGeom>
          <a:noFill/>
        </p:spPr>
        <p:txBody>
          <a:bodyPr wrap="square" anchor="t" lIns="0" rIns="0" tIns="0" bIns="0">
            <a:spAutoFit/>
          </a:bodyPr>
          <a:lstStyle/>
          <a:p>
            <a:pPr algn="r"/>
            <a:r>
              <a:rPr sz="850" b="0" spc="120">
                <a:solidFill>
                  <a:srgbClr val="B4B4B4"/>
                </a:solidFill>
                <a:latin typeface="Inter"/>
              </a:rPr>
              <a:t>28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
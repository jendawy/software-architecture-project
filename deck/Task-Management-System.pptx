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a:t>
            </a:r>
          </a:p>
          <a:p>
            <a:r>
              <a:t>We're Abdul Rahman Malak and Mouhammad Houjeirat — our SEN3006 Task Management System, in pure Java. Two patterns, Factory Method + Strategy, plus State from the lifecycle. Zero dependencies, so the architecture is what's graded. Abdul Rahman Malak takes the contents.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Abdul Rahman Malak.</a:t>
            </a:r>
          </a:p>
          <a:p>
            <a:r>
              <a:t>Five sections: problem, patterns (the big one), architecture, live demo, evaluation. About sixteen minutes, then questions. Hold questions to the end unless something on screen is unclear. Section one is mine.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Abdul Rahman Malak.</a:t>
            </a:r>
          </a:p>
          <a:p>
            <a:r>
              <a:t>Section one — define the problem first; it's graded. Domain and objectives, the requirements, then the two problems the patterns solve.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Abdul Rahman Malak.</a:t>
            </a:r>
          </a:p>
          <a:p>
            <a:r>
              <a:t>Domain: a task tracker for bugs, features, and docs on one lifecycle. Two recurring sources of code-sprawl match two course patterns. Objective, concrete and testable: add a new type or ordering without touching working code. One engine, three entry points, sixteen files, no libraries.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Abdul Rahman Malak.</a:t>
            </a:r>
          </a:p>
          <a:p>
            <a:r>
              <a:t>Functional: create three task types, order three ways, validated lifecycle, filter and summarise. Non-functional, where the architecture lives: extensible with no edits to old code, pure Java, runs three ways, explainable. One line: different creation, different ordering. Next, why each is hard.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Abdul Rahman Malak.</a:t>
            </a:r>
          </a:p>
          <a:p>
            <a:r>
              <a:t>Creation. The three constructors are genuinely different — own fields and defaults. Flaw: every caller imports each concrete class. Cost: a fourth type means editing every call site. Need: build from an identifier like "BUG". That's Factory Method.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Abdul Rahman Malak.</a:t>
            </a:r>
          </a:p>
          <a:p>
            <a:r>
              <a:t>Ordering. Same list, three moments — deadline, severity, priority; only the rule changes. A switch inside the manager grows forever, and every new context edits tested code: an Open/Closed violation. Need: swap the ordering at runtime. That's Strategy. On to section two.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Abdul Rahman Malak.</a:t>
            </a:r>
          </a:p>
          <a:p>
            <a:r>
              <a:t>Section two — the patterns, and most of the grade. For each: definition, why it fits, advantage, how we built it. Map the problems to the patterns, then Factory, Strategy, and a State bonus. Colour code through the deck: clay Factory, teal Strategy, violet State.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Abdul Rahman Malak.</a:t>
            </a:r>
          </a:p>
          <a:p>
            <a:r>
              <a:t>The bridge. Problem 1, creation, maps to Factory Method (clay). Problem 2, ordering, maps to Strategy (teal). Bonus: the lifecycle is naturally a State machine in one enum (violet). Natural mappings, not forced. Starting with Factory Method.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Abdul Rahman Malak.</a:t>
            </a:r>
          </a:p>
          <a:p>
            <a:r>
              <a:t>Factory Method: a method makes the object, each subclass decides the concrete class. We have an abstract TaskFactory and three subclasses. Why: each type has its own rules and defaults the caller shouldn't carry. Advantage: a new type is a new class, no creation code changes. Like an editor opening many formats through one Open. Next, the code.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Abdul Rahman Malak.</a:t>
            </a:r>
          </a:p>
          <a:p>
            <a:r>
              <a:t>The manager keeps a Map from a string key to a factory; createTask("BUG", ...) looks it up — the caller never imports BugTask. We added Documentation late and it just appeared in the menu. Two choices: an abstract class so each subclass owns its defaults, and createTaskWithDeadline as a Template Method on the base, written once. Now, Strategy.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Abdul Rahman Malak.</a:t>
            </a:r>
          </a:p>
          <a:p>
            <a:r>
              <a:t>Strategy: a family of interchangeable algorithms behind one interface, chosen at runtime. Ours is PriorityStrategy, one sort method, three implementations. Why: the same list needs different orders while the app runs. Advantage: a new ordering is a new class; the manager never changes. Like routes in a maps app. Next, the code.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Abdul Rahman Malak.</a:t>
            </a:r>
          </a:p>
          <a:p>
            <a:r>
              <a:t>Small implementation: the manager holds one PriorityStrategy; one setter call changes the order, no recompile. Two choices: a named interface, not a raw Comparator, because SeverityFirst lifts bugs first (stateful); and a setter, not constructor injection, because users swap mid-session. Next slide shows it live.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Abdul Rahman Malak.</a:t>
            </a:r>
          </a:p>
          <a:p>
            <a:r>
              <a:t>Two real GUI screenshots, same five tasks. Left, Urgent First by priority; right, after switching to Severity First, both bugs jump to the top. Nothing recompiled — only the strategy object changed, via one setter on the dropdown. We'll do this live in the demo.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Abdul Rahman Malak.</a:t>
            </a:r>
          </a:p>
          <a:p>
            <a:r>
              <a:t>Bonus. The rubric needs one creational and one behavioural; the lifecycle is a free State machine. Path: OPEN, IN_PROGRESS, REVIEW, DONE, plus BLOCKED and reject-back. Each status declares its legal next states via canTransitionTo, and setStatus throws on an illegal jump like OPEN to DONE. One enum, no extra classes. Over to Mouhammad Houjeirat for the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Mouhammad Houjeirat.</a:t>
            </a:r>
          </a:p>
          <a:p>
            <a:r>
              <a:t>Section three — the system as a whole. The class diagram by pattern, one create-task call at runtime, the file layout, and SOLID.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Mouhammad Houjeirat.</a:t>
            </a:r>
          </a:p>
          <a:p>
            <a:r>
              <a:t>Factory side, split out for clarity. TaskManager depends only on the abstract TaskFactory; the three factories extend it; it creates a Task. Right is the product family. Every arrow points at an abstraction — Dependency Inversion — so a new type never touches the manager.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Mouhammad Houjeirat.</a:t>
            </a:r>
          </a:p>
          <a:p>
            <a:r>
              <a:t>Strategy side, deliberately simple. The manager holds one PriorityStrategy through its two methods. The three orderings each implement one sort. Knowing only the interface, we add or swap an ordering with no edit to the manager — Open/Closed, straight from the pattern.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Mouhammad Houjeirat.</a:t>
            </a:r>
          </a:p>
          <a:p>
            <a:r>
              <a:t>Runtime view of Factory Method. Main asks the manager for a BUG; the manager looks up the registered factory, which builds a BugTask and returns it as a Task. The caller never writes new BugTask. The dynamic side of the class diagram.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Mouhammad Houjeirat.</a:t>
            </a:r>
          </a:p>
          <a:p>
            <a:r>
              <a:t>Runtime view of Strategy. Set a strategy — DeadlineFirst — then ask for the prioritized list. The manager doesn't sort; it delegates to whichever strategy is set. Swap in SeverityFirst and the same call returns a new order, no recompile. The manager owns the list, the strategy owns the rule.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Mouhammad Houjeirat.</a:t>
            </a:r>
          </a:p>
          <a:p>
            <a:r>
              <a:t>Sixteen files, three layers: product (Task, AbstractTask, three tasks, the enum), pattern (the abstract factory and its three, the strategy interface and its three), coordination (one TaskManager plus three entry points). Only java.util and java.time. All three entry points drive the same engine, so GUI and console behave identically.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Mouhammad Houjeirat.</a:t>
            </a:r>
          </a:p>
          <a:p>
            <a:r>
              <a:t>SOLID falls out of the two patterns. S: factories build, strategies sort, manager coordinates. O: a new type or sort is a new file, zero edits. L: every factory and strategy stands in for its abstraction. I: one-method strategy interface, minimal Task. D: the manager references only abstractions — no new BugTask anywhere inside it. On to the live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Mouhammad Houjeirat.</a:t>
            </a:r>
          </a:p>
          <a:p>
            <a:r>
              <a:t>Section four, the live demo. Terminal first to prove the architecture, then the GUI. Rehearsed to about three minutes; screenshots as backup if the projector fails.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Mouhammad Houjeirat.</a:t>
            </a:r>
          </a:p>
          <a:p>
            <a:r>
              <a:t>Terminal first — it proves the architecture, not just the UI. Build once, then java -cp bin Main: six sections, ends ALL TESTS PASSED (the screen on the left). Then java -cp bin TaskManagementApp for the interactive console on the same engine — menu 1 creates via the factory, 4 then 3 swaps and re-lists, 5 walks the lifecycle. Then the GUI.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Mouhammad Houjeirat.</a:t>
            </a:r>
          </a:p>
          <a:p>
            <a:r>
              <a:t>Same engine, Swing window. One command: java -jar TaskManagerGUI.jar, then load the demo data. Then clicks: cycle Sort by for Strategy; add a task, where Type picks the factory; mark OPEN to DONE — refused, OPEN to IN_PROGRESS — allowed, the State machine. On to the evaluation.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Mouhammad Houjeirat.</a:t>
            </a:r>
          </a:p>
          <a:p>
            <a:r>
              <a:t>Final section — measure against the objective, the honest limits, and the conclusion.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Mouhammad Houjeirat.</a:t>
            </a:r>
          </a:p>
          <a:p>
            <a:r>
              <a:t>Did it work? A new type costs two files and one line; a new ordering, one file and one setter — zero edits either way, and Test 5 checks it at runtime. In practice: Documentation was added late with no edits, the GUI proves the live swap, the enum blocks illegal transitions, and Main was the test harness — no JUnit.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Mouhammad Houjeirat.</a:t>
            </a:r>
          </a:p>
          <a:p>
            <a:r>
              <a:t>Honest limits: in-memory only, single-user, validation throws on first error — deliberate scoping. Alternatives weighed: Abstract Factory (rejected — one product family), raw Comparator (loses the named role and the bugs-first sort). Future: persistence, tags, async, a REST layer. Each is an addition, not a rewrite.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Mouhammad Houjeirat.</a:t>
            </a:r>
          </a:p>
          <a:p>
            <a:r>
              <a:t>Achieved the objective: new types and orderings with no edits to working code. The patterns earned their place — each answered a real problem, not a checklist. The lesson: naming a factory or a strategy makes the code explain itself. The bigger point: patterns are a shared vocabulary for extending software safely. Thank you — questions welcome.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a:t>
            </a:r>
          </a:p>
          <a:p>
            <a:r>
              <a:t>Questions split by area: Abdul Rahman Malak takes the problem and the three patterns; Mouhammad Houjeirat takes the architecture, demo, SOLID, and evaluation. Likely asks: abstract class vs interface (per-subclass defaults + Template Method); strategy vs Comparator (named role + partition-then-sort); string registry (runtime lookup); no JUnit (zero-dependency rule, Main as harness).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for questions.</a:t>
            </a:r>
          </a:p>
          <a:p>
            <a:r>
              <a:t>Component view: UI, manager, factory, strategy, and domain modules. Every dependency points inward toward the manager and the abstractions — the module-level echo of the class diagram.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for questions.</a:t>
            </a:r>
          </a:p>
          <a:p>
            <a:r>
              <a:t>Deployment view: one JVM, one shared engine, three entry points. No network, no database — what zero dependencies means in practice.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png"/><Relationship Id="rId5" Type="http://schemas.openxmlformats.org/officeDocument/2006/relationships/image" Target="../media/image9.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24.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9.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19.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image" Target="../media/image29.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24.png"/><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44.png"/><Relationship Id="rId4" Type="http://schemas.openxmlformats.org/officeDocument/2006/relationships/image" Target="../media/image18.png"/><Relationship Id="rId5" Type="http://schemas.openxmlformats.org/officeDocument/2006/relationships/image" Target="../media/image45.png"/><Relationship Id="rId6" Type="http://schemas.openxmlformats.org/officeDocument/2006/relationships/image" Target="../media/image19.png"/><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48.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2.png"/><Relationship Id="rId4" Type="http://schemas.openxmlformats.org/officeDocument/2006/relationships/image" Target="../media/image53.png"/><Relationship Id="rId5" Type="http://schemas.openxmlformats.org/officeDocument/2006/relationships/image" Target="../media/image5.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1A16"/>
        </a:solidFill>
        <a:effectLst/>
      </p:bgPr>
    </p:bg>
    <p:spTree>
      <p:nvGrpSpPr>
        <p:cNvPr id="1" name=""/>
        <p:cNvGrpSpPr/>
        <p:nvPr/>
      </p:nvGrpSpPr>
      <p:grpSpPr/>
      <p:sp>
        <p:nvSpPr>
          <p:cNvPr id="2" name="TextBox 1"/>
          <p:cNvSpPr txBox="1"/>
          <p:nvPr/>
        </p:nvSpPr>
        <p:spPr>
          <a:xfrm>
            <a:off x="749808" y="603504"/>
            <a:ext cx="8229600" cy="274320"/>
          </a:xfrm>
          <a:prstGeom prst="rect">
            <a:avLst/>
          </a:prstGeom>
          <a:noFill/>
        </p:spPr>
        <p:txBody>
          <a:bodyPr wrap="square" anchor="t" lIns="0" rIns="0" tIns="0" bIns="0">
            <a:spAutoFit/>
          </a:bodyPr>
          <a:lstStyle/>
          <a:p>
            <a:pPr algn="l"/>
            <a:r>
              <a:rPr sz="1100" b="0" spc="240">
                <a:solidFill>
                  <a:srgbClr val="A8A299"/>
                </a:solidFill>
                <a:latin typeface="Inter SemiBold"/>
              </a:rPr>
              <a:t>SEN3006  ·  SOFTWARE ARCHITECTURE</a:t>
            </a:r>
          </a:p>
        </p:txBody>
      </p:sp>
      <p:sp>
        <p:nvSpPr>
          <p:cNvPr id="3" name="TextBox 2"/>
          <p:cNvSpPr txBox="1"/>
          <p:nvPr/>
        </p:nvSpPr>
        <p:spPr>
          <a:xfrm>
            <a:off x="5955487" y="603504"/>
            <a:ext cx="5486400" cy="274320"/>
          </a:xfrm>
          <a:prstGeom prst="rect">
            <a:avLst/>
          </a:prstGeom>
          <a:noFill/>
        </p:spPr>
        <p:txBody>
          <a:bodyPr wrap="square" anchor="t" lIns="0" rIns="0" tIns="0" bIns="0">
            <a:spAutoFit/>
          </a:bodyPr>
          <a:lstStyle/>
          <a:p>
            <a:pPr algn="r"/>
            <a:r>
              <a:rPr sz="1100" b="0" spc="180">
                <a:solidFill>
                  <a:srgbClr val="A8A299"/>
                </a:solidFill>
                <a:latin typeface="Inter SemiBold"/>
              </a:rPr>
              <a:t>PROJECT PRESENTATION</a:t>
            </a:r>
          </a:p>
        </p:txBody>
      </p:sp>
      <p:sp>
        <p:nvSpPr>
          <p:cNvPr id="4" name="TextBox 3"/>
          <p:cNvSpPr txBox="1"/>
          <p:nvPr/>
        </p:nvSpPr>
        <p:spPr>
          <a:xfrm>
            <a:off x="749808" y="2148840"/>
            <a:ext cx="10881360" cy="1371600"/>
          </a:xfrm>
          <a:prstGeom prst="rect">
            <a:avLst/>
          </a:prstGeom>
          <a:noFill/>
        </p:spPr>
        <p:txBody>
          <a:bodyPr wrap="square" anchor="t" lIns="0" rIns="0" tIns="0" bIns="0">
            <a:spAutoFit/>
          </a:bodyPr>
          <a:lstStyle/>
          <a:p>
            <a:pPr algn="l">
              <a:lnSpc>
                <a:spcPct val="100000"/>
              </a:lnSpc>
            </a:pPr>
            <a:r>
              <a:rPr sz="5000" b="0">
                <a:solidFill>
                  <a:srgbClr val="FFFFFF"/>
                </a:solidFill>
                <a:latin typeface="Spectral SemiBold"/>
              </a:rPr>
              <a:t>Task Management System.</a:t>
            </a:r>
          </a:p>
        </p:txBody>
      </p:sp>
      <p:sp>
        <p:nvSpPr>
          <p:cNvPr id="5" name="TextBox 4"/>
          <p:cNvSpPr txBox="1"/>
          <p:nvPr/>
        </p:nvSpPr>
        <p:spPr>
          <a:xfrm>
            <a:off x="749808" y="3310128"/>
            <a:ext cx="10881360" cy="640080"/>
          </a:xfrm>
          <a:prstGeom prst="rect">
            <a:avLst/>
          </a:prstGeom>
          <a:noFill/>
        </p:spPr>
        <p:txBody>
          <a:bodyPr wrap="square" anchor="t" lIns="0" rIns="0" tIns="0" bIns="0">
            <a:spAutoFit/>
          </a:bodyPr>
          <a:lstStyle/>
          <a:p>
            <a:pPr algn="l">
              <a:lnSpc>
                <a:spcPct val="120000"/>
              </a:lnSpc>
            </a:pPr>
            <a:r>
              <a:rPr sz="2100" b="0" i="1">
                <a:solidFill>
                  <a:srgbClr val="8E8BF5"/>
                </a:solidFill>
                <a:latin typeface="Spectral Medium"/>
              </a:rPr>
              <a:t>Factory Method and Strategy, built in pure Java.</a:t>
            </a:r>
          </a:p>
        </p:txBody>
      </p:sp>
      <p:sp>
        <p:nvSpPr>
          <p:cNvPr id="6" name="Rounded Rectangle 5"/>
          <p:cNvSpPr/>
          <p:nvPr/>
        </p:nvSpPr>
        <p:spPr>
          <a:xfrm>
            <a:off x="749808" y="4370832"/>
            <a:ext cx="274320" cy="91440"/>
          </a:xfrm>
          <a:prstGeom prst="roundRect">
            <a:avLst>
              <a:gd name="adj" fmla="val 50000"/>
            </a:avLst>
          </a:prstGeom>
          <a:solidFill>
            <a:srgbClr val="BC5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5568" y="4261104"/>
            <a:ext cx="2377440" cy="310896"/>
          </a:xfrm>
          <a:prstGeom prst="rect">
            <a:avLst/>
          </a:prstGeom>
          <a:noFill/>
        </p:spPr>
        <p:txBody>
          <a:bodyPr wrap="square" anchor="t" lIns="0" rIns="0" tIns="0" bIns="0">
            <a:spAutoFit/>
          </a:bodyPr>
          <a:lstStyle/>
          <a:p>
            <a:pPr algn="l"/>
            <a:r>
              <a:rPr sz="1150" b="0" spc="60">
                <a:solidFill>
                  <a:srgbClr val="A8A299"/>
                </a:solidFill>
                <a:latin typeface="Inter SemiBold"/>
              </a:rPr>
              <a:t>Factory Method</a:t>
            </a:r>
          </a:p>
        </p:txBody>
      </p:sp>
      <p:sp>
        <p:nvSpPr>
          <p:cNvPr id="8" name="Rounded Rectangle 7"/>
          <p:cNvSpPr/>
          <p:nvPr/>
        </p:nvSpPr>
        <p:spPr>
          <a:xfrm>
            <a:off x="2898648" y="4370832"/>
            <a:ext cx="274320" cy="91440"/>
          </a:xfrm>
          <a:prstGeom prst="roundRect">
            <a:avLst>
              <a:gd name="adj" fmla="val 50000"/>
            </a:avLst>
          </a:prstGeom>
          <a:solidFill>
            <a:srgbClr val="0E7C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64408" y="4261104"/>
            <a:ext cx="2377440" cy="310896"/>
          </a:xfrm>
          <a:prstGeom prst="rect">
            <a:avLst/>
          </a:prstGeom>
          <a:noFill/>
        </p:spPr>
        <p:txBody>
          <a:bodyPr wrap="square" anchor="t" lIns="0" rIns="0" tIns="0" bIns="0">
            <a:spAutoFit/>
          </a:bodyPr>
          <a:lstStyle/>
          <a:p>
            <a:pPr algn="l"/>
            <a:r>
              <a:rPr sz="1150" b="0" spc="60">
                <a:solidFill>
                  <a:srgbClr val="A8A299"/>
                </a:solidFill>
                <a:latin typeface="Inter SemiBold"/>
              </a:rPr>
              <a:t>Strategy</a:t>
            </a:r>
          </a:p>
        </p:txBody>
      </p:sp>
      <p:sp>
        <p:nvSpPr>
          <p:cNvPr id="10" name="Rounded Rectangle 9"/>
          <p:cNvSpPr/>
          <p:nvPr/>
        </p:nvSpPr>
        <p:spPr>
          <a:xfrm>
            <a:off x="4590288" y="4370832"/>
            <a:ext cx="274320" cy="91440"/>
          </a:xfrm>
          <a:prstGeom prst="roundRect">
            <a:avLst>
              <a:gd name="adj" fmla="val 50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56048" y="4261104"/>
            <a:ext cx="2377440" cy="310896"/>
          </a:xfrm>
          <a:prstGeom prst="rect">
            <a:avLst/>
          </a:prstGeom>
          <a:noFill/>
        </p:spPr>
        <p:txBody>
          <a:bodyPr wrap="square" anchor="t" lIns="0" rIns="0" tIns="0" bIns="0">
            <a:spAutoFit/>
          </a:bodyPr>
          <a:lstStyle/>
          <a:p>
            <a:pPr algn="l"/>
            <a:r>
              <a:rPr sz="1150" b="0" spc="60">
                <a:solidFill>
                  <a:srgbClr val="A8A299"/>
                </a:solidFill>
                <a:latin typeface="Inter SemiBold"/>
              </a:rPr>
              <a:t>State</a:t>
            </a:r>
          </a:p>
        </p:txBody>
      </p:sp>
      <p:cxnSp>
        <p:nvCxnSpPr>
          <p:cNvPr id="12" name="Connector 11"/>
          <p:cNvCxnSpPr/>
          <p:nvPr/>
        </p:nvCxnSpPr>
        <p:spPr>
          <a:xfrm>
            <a:off x="749808" y="5413248"/>
            <a:ext cx="10692079" cy="0"/>
          </a:xfrm>
          <a:prstGeom prst="line">
            <a:avLst/>
          </a:prstGeom>
          <a:ln w="12700">
            <a:solidFill>
              <a:srgbClr val="3A352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49808" y="5614416"/>
            <a:ext cx="6949440" cy="731520"/>
          </a:xfrm>
          <a:prstGeom prst="rect">
            <a:avLst/>
          </a:prstGeom>
          <a:noFill/>
        </p:spPr>
        <p:txBody>
          <a:bodyPr wrap="square" anchor="t" lIns="0" rIns="0" tIns="0" bIns="0">
            <a:spAutoFit/>
          </a:bodyPr>
          <a:lstStyle/>
          <a:p>
            <a:pPr algn="l">
              <a:lnSpc>
                <a:spcPct val="135000"/>
              </a:lnSpc>
            </a:pPr>
            <a:r>
              <a:rPr sz="1250" b="0">
                <a:solidFill>
                  <a:srgbClr val="A8A299"/>
                </a:solidFill>
                <a:latin typeface="Inter"/>
              </a:rPr>
              <a:t>A task tracker for software teams, designed around two classic patterns and a zero-dependency Java core.</a:t>
            </a:r>
          </a:p>
        </p:txBody>
      </p:sp>
      <p:sp>
        <p:nvSpPr>
          <p:cNvPr id="14" name="TextBox 13"/>
          <p:cNvSpPr txBox="1"/>
          <p:nvPr/>
        </p:nvSpPr>
        <p:spPr>
          <a:xfrm>
            <a:off x="7235647" y="5577840"/>
            <a:ext cx="4206240" cy="822960"/>
          </a:xfrm>
          <a:prstGeom prst="rect">
            <a:avLst/>
          </a:prstGeom>
          <a:noFill/>
        </p:spPr>
        <p:txBody>
          <a:bodyPr wrap="square" anchor="t" lIns="0" rIns="0" tIns="0" bIns="0">
            <a:spAutoFit/>
          </a:bodyPr>
          <a:lstStyle/>
          <a:p>
            <a:pPr algn="r"/>
            <a:r>
              <a:rPr sz="1300" b="0">
                <a:solidFill>
                  <a:srgbClr val="FFFFFF"/>
                </a:solidFill>
                <a:latin typeface="Inter SemiBold"/>
              </a:rPr>
              <a:t>Abdul Rahman Malak</a:t>
            </a:r>
          </a:p>
          <a:p>
            <a:pPr algn="r">
              <a:spcBef>
                <a:spcPts val="300"/>
              </a:spcBef>
            </a:pPr>
            <a:r>
              <a:rPr sz="1300" b="0">
                <a:solidFill>
                  <a:srgbClr val="FFFFFF"/>
                </a:solidFill>
                <a:latin typeface="Inter SemiBold"/>
              </a:rPr>
              <a:t>Mouhammad Houjeirat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4A45C7"/>
                </a:solidFill>
                <a:latin typeface="Inter SemiBold"/>
              </a:rPr>
              <a:t>CONTENTS</a:t>
            </a:r>
          </a:p>
        </p:txBody>
      </p:sp>
      <p:sp>
        <p:nvSpPr>
          <p:cNvPr id="4" name="Rounded Rectangle 3"/>
          <p:cNvSpPr/>
          <p:nvPr/>
        </p:nvSpPr>
        <p:spPr>
          <a:xfrm>
            <a:off x="9613087" y="640080"/>
            <a:ext cx="292608" cy="64008"/>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4A45C7"/>
                </a:solidFill>
                <a:latin typeface="Inter SemiBold"/>
              </a:rPr>
              <a:t>SECTION 1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900" b="0">
                <a:solidFill>
                  <a:srgbClr val="1C1A16"/>
                </a:solidFill>
                <a:latin typeface="Spectral SemiBold"/>
              </a:rPr>
              <a:t>What this presentation covers.</a:t>
            </a:r>
          </a:p>
        </p:txBody>
      </p:sp>
      <p:sp>
        <p:nvSpPr>
          <p:cNvPr id="11" name="Rounded Rectangle 10"/>
          <p:cNvSpPr/>
          <p:nvPr/>
        </p:nvSpPr>
        <p:spPr>
          <a:xfrm>
            <a:off x="749808" y="2395728"/>
            <a:ext cx="10692079" cy="566928"/>
          </a:xfrm>
          <a:prstGeom prst="roundRect">
            <a:avLst>
              <a:gd name="adj" fmla="val 6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14400" y="2459736"/>
            <a:ext cx="438912" cy="438912"/>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target-04__indigo.png"/>
          <p:cNvPicPr>
            <a:picLocks noChangeAspect="1"/>
          </p:cNvPicPr>
          <p:nvPr/>
        </p:nvPicPr>
        <p:blipFill>
          <a:blip r:embed="rId2"/>
          <a:stretch>
            <a:fillRect/>
          </a:stretch>
        </p:blipFill>
        <p:spPr>
          <a:xfrm>
            <a:off x="1010960" y="2556296"/>
            <a:ext cx="245790" cy="245790"/>
          </a:xfrm>
          <a:prstGeom prst="rect">
            <a:avLst/>
          </a:prstGeom>
        </p:spPr>
      </p:pic>
      <p:sp>
        <p:nvSpPr>
          <p:cNvPr id="14" name="TextBox 13"/>
          <p:cNvSpPr txBox="1"/>
          <p:nvPr/>
        </p:nvSpPr>
        <p:spPr>
          <a:xfrm>
            <a:off x="1517904" y="2395728"/>
            <a:ext cx="640080" cy="566928"/>
          </a:xfrm>
          <a:prstGeom prst="rect">
            <a:avLst/>
          </a:prstGeom>
          <a:noFill/>
        </p:spPr>
        <p:txBody>
          <a:bodyPr wrap="square" anchor="ctr" lIns="0" rIns="0" tIns="0" bIns="0">
            <a:spAutoFit/>
          </a:bodyPr>
          <a:lstStyle/>
          <a:p>
            <a:pPr algn="l"/>
            <a:r>
              <a:rPr sz="1400" b="0">
                <a:solidFill>
                  <a:srgbClr val="4A45C7"/>
                </a:solidFill>
                <a:latin typeface="Spectral SemiBold"/>
              </a:rPr>
              <a:t>01</a:t>
            </a:r>
          </a:p>
        </p:txBody>
      </p:sp>
      <p:sp>
        <p:nvSpPr>
          <p:cNvPr id="15" name="TextBox 14"/>
          <p:cNvSpPr txBox="1"/>
          <p:nvPr/>
        </p:nvSpPr>
        <p:spPr>
          <a:xfrm>
            <a:off x="2121408" y="2395728"/>
            <a:ext cx="7498079" cy="566928"/>
          </a:xfrm>
          <a:prstGeom prst="rect">
            <a:avLst/>
          </a:prstGeom>
          <a:noFill/>
        </p:spPr>
        <p:txBody>
          <a:bodyPr wrap="square" anchor="ctr" lIns="0" rIns="0" tIns="0" bIns="0">
            <a:spAutoFit/>
          </a:bodyPr>
          <a:lstStyle/>
          <a:p>
            <a:pPr algn="l"/>
            <a:r>
              <a:rPr sz="1450" b="0">
                <a:solidFill>
                  <a:srgbClr val="1C1A16"/>
                </a:solidFill>
                <a:latin typeface="Inter SemiBold"/>
              </a:rPr>
              <a:t>Introduction and problem definition</a:t>
            </a:r>
          </a:p>
        </p:txBody>
      </p:sp>
      <p:sp>
        <p:nvSpPr>
          <p:cNvPr id="16" name="TextBox 15"/>
          <p:cNvSpPr txBox="1"/>
          <p:nvPr/>
        </p:nvSpPr>
        <p:spPr>
          <a:xfrm>
            <a:off x="9887407" y="2395728"/>
            <a:ext cx="1371600" cy="566928"/>
          </a:xfrm>
          <a:prstGeom prst="rect">
            <a:avLst/>
          </a:prstGeom>
          <a:noFill/>
        </p:spPr>
        <p:txBody>
          <a:bodyPr wrap="square" anchor="ctr" lIns="0" rIns="0" tIns="0" bIns="0">
            <a:spAutoFit/>
          </a:bodyPr>
          <a:lstStyle/>
          <a:p>
            <a:pPr algn="r"/>
            <a:r>
              <a:rPr sz="1100" b="0">
                <a:solidFill>
                  <a:srgbClr val="8C877D"/>
                </a:solidFill>
                <a:latin typeface="Inter Medium"/>
              </a:rPr>
              <a:t>~3 min</a:t>
            </a:r>
          </a:p>
        </p:txBody>
      </p:sp>
      <p:sp>
        <p:nvSpPr>
          <p:cNvPr id="17" name="Rounded Rectangle 16"/>
          <p:cNvSpPr/>
          <p:nvPr/>
        </p:nvSpPr>
        <p:spPr>
          <a:xfrm>
            <a:off x="749808" y="3072384"/>
            <a:ext cx="10692079" cy="566928"/>
          </a:xfrm>
          <a:prstGeom prst="roundRect">
            <a:avLst>
              <a:gd name="adj" fmla="val 6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14400" y="3136392"/>
            <a:ext cx="438912" cy="438912"/>
          </a:xfrm>
          <a:prstGeom prst="roundRect">
            <a:avLst>
              <a:gd name="adj" fmla="val 30000"/>
            </a:avLst>
          </a:prstGeom>
          <a:solidFill>
            <a:srgbClr val="F0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puzzle-piece-01__violet.png"/>
          <p:cNvPicPr>
            <a:picLocks noChangeAspect="1"/>
          </p:cNvPicPr>
          <p:nvPr/>
        </p:nvPicPr>
        <p:blipFill>
          <a:blip r:embed="rId3"/>
          <a:stretch>
            <a:fillRect/>
          </a:stretch>
        </p:blipFill>
        <p:spPr>
          <a:xfrm>
            <a:off x="1010960" y="3232952"/>
            <a:ext cx="245790" cy="245790"/>
          </a:xfrm>
          <a:prstGeom prst="rect">
            <a:avLst/>
          </a:prstGeom>
        </p:spPr>
      </p:pic>
      <p:sp>
        <p:nvSpPr>
          <p:cNvPr id="20" name="TextBox 19"/>
          <p:cNvSpPr txBox="1"/>
          <p:nvPr/>
        </p:nvSpPr>
        <p:spPr>
          <a:xfrm>
            <a:off x="1517904" y="3072384"/>
            <a:ext cx="640080" cy="566928"/>
          </a:xfrm>
          <a:prstGeom prst="rect">
            <a:avLst/>
          </a:prstGeom>
          <a:noFill/>
        </p:spPr>
        <p:txBody>
          <a:bodyPr wrap="square" anchor="ctr" lIns="0" rIns="0" tIns="0" bIns="0">
            <a:spAutoFit/>
          </a:bodyPr>
          <a:lstStyle/>
          <a:p>
            <a:pPr algn="l"/>
            <a:r>
              <a:rPr sz="1400" b="0">
                <a:solidFill>
                  <a:srgbClr val="7C3AED"/>
                </a:solidFill>
                <a:latin typeface="Spectral SemiBold"/>
              </a:rPr>
              <a:t>02</a:t>
            </a:r>
          </a:p>
        </p:txBody>
      </p:sp>
      <p:sp>
        <p:nvSpPr>
          <p:cNvPr id="21" name="TextBox 20"/>
          <p:cNvSpPr txBox="1"/>
          <p:nvPr/>
        </p:nvSpPr>
        <p:spPr>
          <a:xfrm>
            <a:off x="2121408" y="3072384"/>
            <a:ext cx="7498079" cy="566928"/>
          </a:xfrm>
          <a:prstGeom prst="rect">
            <a:avLst/>
          </a:prstGeom>
          <a:noFill/>
        </p:spPr>
        <p:txBody>
          <a:bodyPr wrap="square" anchor="ctr" lIns="0" rIns="0" tIns="0" bIns="0">
            <a:spAutoFit/>
          </a:bodyPr>
          <a:lstStyle/>
          <a:p>
            <a:pPr algn="l"/>
            <a:r>
              <a:rPr sz="1450" b="0">
                <a:solidFill>
                  <a:srgbClr val="1C1A16"/>
                </a:solidFill>
                <a:latin typeface="Inter SemiBold"/>
              </a:rPr>
              <a:t>The design patterns: Factory Method, Strategy, State</a:t>
            </a:r>
          </a:p>
        </p:txBody>
      </p:sp>
      <p:sp>
        <p:nvSpPr>
          <p:cNvPr id="22" name="TextBox 21"/>
          <p:cNvSpPr txBox="1"/>
          <p:nvPr/>
        </p:nvSpPr>
        <p:spPr>
          <a:xfrm>
            <a:off x="9887407" y="3072384"/>
            <a:ext cx="1371600" cy="566928"/>
          </a:xfrm>
          <a:prstGeom prst="rect">
            <a:avLst/>
          </a:prstGeom>
          <a:noFill/>
        </p:spPr>
        <p:txBody>
          <a:bodyPr wrap="square" anchor="ctr" lIns="0" rIns="0" tIns="0" bIns="0">
            <a:spAutoFit/>
          </a:bodyPr>
          <a:lstStyle/>
          <a:p>
            <a:pPr algn="r"/>
            <a:r>
              <a:rPr sz="1100" b="0">
                <a:solidFill>
                  <a:srgbClr val="8C877D"/>
                </a:solidFill>
                <a:latin typeface="Inter Medium"/>
              </a:rPr>
              <a:t>~5 min</a:t>
            </a:r>
          </a:p>
        </p:txBody>
      </p:sp>
      <p:sp>
        <p:nvSpPr>
          <p:cNvPr id="23" name="Rounded Rectangle 22"/>
          <p:cNvSpPr/>
          <p:nvPr/>
        </p:nvSpPr>
        <p:spPr>
          <a:xfrm>
            <a:off x="749808" y="3749039"/>
            <a:ext cx="10692079" cy="566928"/>
          </a:xfrm>
          <a:prstGeom prst="roundRect">
            <a:avLst>
              <a:gd name="adj" fmla="val 6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14400" y="3813048"/>
            <a:ext cx="438912" cy="438912"/>
          </a:xfrm>
          <a:prstGeom prst="roundRect">
            <a:avLst>
              <a:gd name="adj" fmla="val 30000"/>
            </a:avLst>
          </a:prstGeom>
          <a:solidFill>
            <a:srgbClr val="E2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grid-01__teal.png"/>
          <p:cNvPicPr>
            <a:picLocks noChangeAspect="1"/>
          </p:cNvPicPr>
          <p:nvPr/>
        </p:nvPicPr>
        <p:blipFill>
          <a:blip r:embed="rId4"/>
          <a:stretch>
            <a:fillRect/>
          </a:stretch>
        </p:blipFill>
        <p:spPr>
          <a:xfrm>
            <a:off x="1010960" y="3909608"/>
            <a:ext cx="245790" cy="245790"/>
          </a:xfrm>
          <a:prstGeom prst="rect">
            <a:avLst/>
          </a:prstGeom>
        </p:spPr>
      </p:pic>
      <p:sp>
        <p:nvSpPr>
          <p:cNvPr id="26" name="TextBox 25"/>
          <p:cNvSpPr txBox="1"/>
          <p:nvPr/>
        </p:nvSpPr>
        <p:spPr>
          <a:xfrm>
            <a:off x="1517904" y="3749039"/>
            <a:ext cx="640080" cy="566928"/>
          </a:xfrm>
          <a:prstGeom prst="rect">
            <a:avLst/>
          </a:prstGeom>
          <a:noFill/>
        </p:spPr>
        <p:txBody>
          <a:bodyPr wrap="square" anchor="ctr" lIns="0" rIns="0" tIns="0" bIns="0">
            <a:spAutoFit/>
          </a:bodyPr>
          <a:lstStyle/>
          <a:p>
            <a:pPr algn="l"/>
            <a:r>
              <a:rPr sz="1400" b="0">
                <a:solidFill>
                  <a:srgbClr val="0E7C72"/>
                </a:solidFill>
                <a:latin typeface="Spectral SemiBold"/>
              </a:rPr>
              <a:t>03</a:t>
            </a:r>
          </a:p>
        </p:txBody>
      </p:sp>
      <p:sp>
        <p:nvSpPr>
          <p:cNvPr id="27" name="TextBox 26"/>
          <p:cNvSpPr txBox="1"/>
          <p:nvPr/>
        </p:nvSpPr>
        <p:spPr>
          <a:xfrm>
            <a:off x="2121408" y="3749039"/>
            <a:ext cx="7498079" cy="566928"/>
          </a:xfrm>
          <a:prstGeom prst="rect">
            <a:avLst/>
          </a:prstGeom>
          <a:noFill/>
        </p:spPr>
        <p:txBody>
          <a:bodyPr wrap="square" anchor="ctr" lIns="0" rIns="0" tIns="0" bIns="0">
            <a:spAutoFit/>
          </a:bodyPr>
          <a:lstStyle/>
          <a:p>
            <a:pPr algn="l"/>
            <a:r>
              <a:rPr sz="1450" b="0">
                <a:solidFill>
                  <a:srgbClr val="1C1A16"/>
                </a:solidFill>
                <a:latin typeface="Inter SemiBold"/>
              </a:rPr>
              <a:t>Architecture and implementation</a:t>
            </a:r>
          </a:p>
        </p:txBody>
      </p:sp>
      <p:sp>
        <p:nvSpPr>
          <p:cNvPr id="28" name="TextBox 27"/>
          <p:cNvSpPr txBox="1"/>
          <p:nvPr/>
        </p:nvSpPr>
        <p:spPr>
          <a:xfrm>
            <a:off x="9887407" y="3749039"/>
            <a:ext cx="1371600" cy="566928"/>
          </a:xfrm>
          <a:prstGeom prst="rect">
            <a:avLst/>
          </a:prstGeom>
          <a:noFill/>
        </p:spPr>
        <p:txBody>
          <a:bodyPr wrap="square" anchor="ctr" lIns="0" rIns="0" tIns="0" bIns="0">
            <a:spAutoFit/>
          </a:bodyPr>
          <a:lstStyle/>
          <a:p>
            <a:pPr algn="r"/>
            <a:r>
              <a:rPr sz="1100" b="0">
                <a:solidFill>
                  <a:srgbClr val="8C877D"/>
                </a:solidFill>
                <a:latin typeface="Inter Medium"/>
              </a:rPr>
              <a:t>~4 min</a:t>
            </a:r>
          </a:p>
        </p:txBody>
      </p:sp>
      <p:sp>
        <p:nvSpPr>
          <p:cNvPr id="29" name="Rounded Rectangle 28"/>
          <p:cNvSpPr/>
          <p:nvPr/>
        </p:nvSpPr>
        <p:spPr>
          <a:xfrm>
            <a:off x="749808" y="4425696"/>
            <a:ext cx="10692079" cy="566928"/>
          </a:xfrm>
          <a:prstGeom prst="roundRect">
            <a:avLst>
              <a:gd name="adj" fmla="val 6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14400" y="4489704"/>
            <a:ext cx="438912" cy="438912"/>
          </a:xfrm>
          <a:prstGeom prst="roundRect">
            <a:avLst>
              <a:gd name="adj" fmla="val 30000"/>
            </a:avLst>
          </a:prstGeom>
          <a:solidFill>
            <a:srgbClr val="E6F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terminal__green.png"/>
          <p:cNvPicPr>
            <a:picLocks noChangeAspect="1"/>
          </p:cNvPicPr>
          <p:nvPr/>
        </p:nvPicPr>
        <p:blipFill>
          <a:blip r:embed="rId5"/>
          <a:stretch>
            <a:fillRect/>
          </a:stretch>
        </p:blipFill>
        <p:spPr>
          <a:xfrm>
            <a:off x="1010960" y="4586264"/>
            <a:ext cx="245790" cy="245790"/>
          </a:xfrm>
          <a:prstGeom prst="rect">
            <a:avLst/>
          </a:prstGeom>
        </p:spPr>
      </p:pic>
      <p:sp>
        <p:nvSpPr>
          <p:cNvPr id="32" name="TextBox 31"/>
          <p:cNvSpPr txBox="1"/>
          <p:nvPr/>
        </p:nvSpPr>
        <p:spPr>
          <a:xfrm>
            <a:off x="1517904" y="4425696"/>
            <a:ext cx="640080" cy="566928"/>
          </a:xfrm>
          <a:prstGeom prst="rect">
            <a:avLst/>
          </a:prstGeom>
          <a:noFill/>
        </p:spPr>
        <p:txBody>
          <a:bodyPr wrap="square" anchor="ctr" lIns="0" rIns="0" tIns="0" bIns="0">
            <a:spAutoFit/>
          </a:bodyPr>
          <a:lstStyle/>
          <a:p>
            <a:pPr algn="l"/>
            <a:r>
              <a:rPr sz="1400" b="0">
                <a:solidFill>
                  <a:srgbClr val="1E7A45"/>
                </a:solidFill>
                <a:latin typeface="Spectral SemiBold"/>
              </a:rPr>
              <a:t>04</a:t>
            </a:r>
          </a:p>
        </p:txBody>
      </p:sp>
      <p:sp>
        <p:nvSpPr>
          <p:cNvPr id="33" name="TextBox 32"/>
          <p:cNvSpPr txBox="1"/>
          <p:nvPr/>
        </p:nvSpPr>
        <p:spPr>
          <a:xfrm>
            <a:off x="2121408" y="4425696"/>
            <a:ext cx="7498079" cy="566928"/>
          </a:xfrm>
          <a:prstGeom prst="rect">
            <a:avLst/>
          </a:prstGeom>
          <a:noFill/>
        </p:spPr>
        <p:txBody>
          <a:bodyPr wrap="square" anchor="ctr" lIns="0" rIns="0" tIns="0" bIns="0">
            <a:spAutoFit/>
          </a:bodyPr>
          <a:lstStyle/>
          <a:p>
            <a:pPr algn="l"/>
            <a:r>
              <a:rPr sz="1450" b="0">
                <a:solidFill>
                  <a:srgbClr val="1C1A16"/>
                </a:solidFill>
                <a:latin typeface="Inter SemiBold"/>
              </a:rPr>
              <a:t>Live demonstration</a:t>
            </a:r>
          </a:p>
        </p:txBody>
      </p:sp>
      <p:sp>
        <p:nvSpPr>
          <p:cNvPr id="34" name="TextBox 33"/>
          <p:cNvSpPr txBox="1"/>
          <p:nvPr/>
        </p:nvSpPr>
        <p:spPr>
          <a:xfrm>
            <a:off x="9887407" y="4425696"/>
            <a:ext cx="1371600" cy="566928"/>
          </a:xfrm>
          <a:prstGeom prst="rect">
            <a:avLst/>
          </a:prstGeom>
          <a:noFill/>
        </p:spPr>
        <p:txBody>
          <a:bodyPr wrap="square" anchor="ctr" lIns="0" rIns="0" tIns="0" bIns="0">
            <a:spAutoFit/>
          </a:bodyPr>
          <a:lstStyle/>
          <a:p>
            <a:pPr algn="r"/>
            <a:r>
              <a:rPr sz="1100" b="0">
                <a:solidFill>
                  <a:srgbClr val="8C877D"/>
                </a:solidFill>
                <a:latin typeface="Inter Medium"/>
              </a:rPr>
              <a:t>~3 min</a:t>
            </a:r>
          </a:p>
        </p:txBody>
      </p:sp>
      <p:sp>
        <p:nvSpPr>
          <p:cNvPr id="35" name="Rounded Rectangle 34"/>
          <p:cNvSpPr/>
          <p:nvPr/>
        </p:nvSpPr>
        <p:spPr>
          <a:xfrm>
            <a:off x="749808" y="5102352"/>
            <a:ext cx="10692079" cy="566928"/>
          </a:xfrm>
          <a:prstGeom prst="roundRect">
            <a:avLst>
              <a:gd name="adj" fmla="val 6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14400" y="5166360"/>
            <a:ext cx="438912" cy="438912"/>
          </a:xfrm>
          <a:prstGeom prst="roundRect">
            <a:avLst>
              <a:gd name="adj" fmla="val 30000"/>
            </a:avLst>
          </a:prstGeom>
          <a:solidFill>
            <a:srgbClr val="F5EE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trophy-01__amber.png"/>
          <p:cNvPicPr>
            <a:picLocks noChangeAspect="1"/>
          </p:cNvPicPr>
          <p:nvPr/>
        </p:nvPicPr>
        <p:blipFill>
          <a:blip r:embed="rId6"/>
          <a:stretch>
            <a:fillRect/>
          </a:stretch>
        </p:blipFill>
        <p:spPr>
          <a:xfrm>
            <a:off x="1010960" y="5262920"/>
            <a:ext cx="245790" cy="245790"/>
          </a:xfrm>
          <a:prstGeom prst="rect">
            <a:avLst/>
          </a:prstGeom>
        </p:spPr>
      </p:pic>
      <p:sp>
        <p:nvSpPr>
          <p:cNvPr id="38" name="TextBox 37"/>
          <p:cNvSpPr txBox="1"/>
          <p:nvPr/>
        </p:nvSpPr>
        <p:spPr>
          <a:xfrm>
            <a:off x="1517904" y="5102352"/>
            <a:ext cx="640080" cy="566928"/>
          </a:xfrm>
          <a:prstGeom prst="rect">
            <a:avLst/>
          </a:prstGeom>
          <a:noFill/>
        </p:spPr>
        <p:txBody>
          <a:bodyPr wrap="square" anchor="ctr" lIns="0" rIns="0" tIns="0" bIns="0">
            <a:spAutoFit/>
          </a:bodyPr>
          <a:lstStyle/>
          <a:p>
            <a:pPr algn="l"/>
            <a:r>
              <a:rPr sz="1400" b="0">
                <a:solidFill>
                  <a:srgbClr val="B5760C"/>
                </a:solidFill>
                <a:latin typeface="Spectral SemiBold"/>
              </a:rPr>
              <a:t>05</a:t>
            </a:r>
          </a:p>
        </p:txBody>
      </p:sp>
      <p:sp>
        <p:nvSpPr>
          <p:cNvPr id="39" name="TextBox 38"/>
          <p:cNvSpPr txBox="1"/>
          <p:nvPr/>
        </p:nvSpPr>
        <p:spPr>
          <a:xfrm>
            <a:off x="2121408" y="5102352"/>
            <a:ext cx="7498079" cy="566928"/>
          </a:xfrm>
          <a:prstGeom prst="rect">
            <a:avLst/>
          </a:prstGeom>
          <a:noFill/>
        </p:spPr>
        <p:txBody>
          <a:bodyPr wrap="square" anchor="ctr" lIns="0" rIns="0" tIns="0" bIns="0">
            <a:spAutoFit/>
          </a:bodyPr>
          <a:lstStyle/>
          <a:p>
            <a:pPr algn="l"/>
            <a:r>
              <a:rPr sz="1450" b="0">
                <a:solidFill>
                  <a:srgbClr val="1C1A16"/>
                </a:solidFill>
                <a:latin typeface="Inter SemiBold"/>
              </a:rPr>
              <a:t>Results, evaluation and conclusion</a:t>
            </a:r>
          </a:p>
        </p:txBody>
      </p:sp>
      <p:sp>
        <p:nvSpPr>
          <p:cNvPr id="40" name="TextBox 39"/>
          <p:cNvSpPr txBox="1"/>
          <p:nvPr/>
        </p:nvSpPr>
        <p:spPr>
          <a:xfrm>
            <a:off x="9887407" y="5102352"/>
            <a:ext cx="1371600" cy="566928"/>
          </a:xfrm>
          <a:prstGeom prst="rect">
            <a:avLst/>
          </a:prstGeom>
          <a:noFill/>
        </p:spPr>
        <p:txBody>
          <a:bodyPr wrap="square" anchor="ctr" lIns="0" rIns="0" tIns="0" bIns="0">
            <a:spAutoFit/>
          </a:bodyPr>
          <a:lstStyle/>
          <a:p>
            <a:pPr algn="r"/>
            <a:r>
              <a:rPr sz="1100" b="0">
                <a:solidFill>
                  <a:srgbClr val="8C877D"/>
                </a:solidFill>
                <a:latin typeface="Inter Medium"/>
              </a:rPr>
              <a:t>~2 min</a:t>
            </a:r>
          </a:p>
        </p:txBody>
      </p:sp>
      <p:sp>
        <p:nvSpPr>
          <p:cNvPr id="41" name="TextBox 40"/>
          <p:cNvSpPr txBox="1"/>
          <p:nvPr/>
        </p:nvSpPr>
        <p:spPr>
          <a:xfrm>
            <a:off x="749808" y="6181344"/>
            <a:ext cx="10692079" cy="365760"/>
          </a:xfrm>
          <a:prstGeom prst="rect">
            <a:avLst/>
          </a:prstGeom>
          <a:noFill/>
        </p:spPr>
        <p:txBody>
          <a:bodyPr wrap="square" anchor="t" lIns="0" rIns="0" tIns="0" bIns="0">
            <a:spAutoFit/>
          </a:bodyPr>
          <a:lstStyle/>
          <a:p>
            <a:pPr algn="l"/>
            <a:r>
              <a:rPr sz="1050" b="0" spc="40">
                <a:solidFill>
                  <a:srgbClr val="B7B1A4"/>
                </a:solidFill>
                <a:latin typeface="Inter"/>
              </a:rPr>
              <a:t>Roughly sixteen minutes of talk and demo, then questions. We each take questions on the parts we led.</a:t>
            </a:r>
          </a:p>
        </p:txBody>
      </p:sp>
      <p:sp>
        <p:nvSpPr>
          <p:cNvPr id="42" name="TextBox 41"/>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43" name="TextBox 42"/>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02 / 32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4A45C7"/>
        </a:solidFill>
        <a:effectLst/>
      </p:bgPr>
    </p:bg>
    <p:spTree>
      <p:nvGrpSpPr>
        <p:cNvPr id="1" name=""/>
        <p:cNvGrpSpPr/>
        <p:nvPr/>
      </p:nvGrpSpPr>
      <p:grpSpPr/>
      <p:sp>
        <p:nvSpPr>
          <p:cNvPr id="2" name="TextBox 1"/>
          <p:cNvSpPr txBox="1"/>
          <p:nvPr/>
        </p:nvSpPr>
        <p:spPr>
          <a:xfrm>
            <a:off x="749808" y="603504"/>
            <a:ext cx="8229600" cy="274320"/>
          </a:xfrm>
          <a:prstGeom prst="rect">
            <a:avLst/>
          </a:prstGeom>
          <a:noFill/>
        </p:spPr>
        <p:txBody>
          <a:bodyPr wrap="square" anchor="t" lIns="0" rIns="0" tIns="0" bIns="0">
            <a:spAutoFit/>
          </a:bodyPr>
          <a:lstStyle/>
          <a:p>
            <a:pPr algn="l"/>
            <a:r>
              <a:rPr sz="1100" b="1" spc="280">
                <a:solidFill>
                  <a:srgbClr val="FFFFFF"/>
                </a:solidFill>
                <a:latin typeface="Inter SemiBold"/>
              </a:rPr>
              <a:t>SECTION 01</a:t>
            </a:r>
          </a:p>
        </p:txBody>
      </p:sp>
      <p:sp>
        <p:nvSpPr>
          <p:cNvPr id="3" name="Rounded Rectangle 2"/>
          <p:cNvSpPr/>
          <p:nvPr/>
        </p:nvSpPr>
        <p:spPr>
          <a:xfrm>
            <a:off x="9613087" y="640080"/>
            <a:ext cx="292608" cy="640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997135" y="640080"/>
            <a:ext cx="292608" cy="64008"/>
          </a:xfrm>
          <a:prstGeom prst="roundRect">
            <a:avLst>
              <a:gd name="adj" fmla="val 50000"/>
            </a:avLst>
          </a:prstGeom>
          <a:solidFill>
            <a:srgbClr val="807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381183" y="640080"/>
            <a:ext cx="292608" cy="64008"/>
          </a:xfrm>
          <a:prstGeom prst="roundRect">
            <a:avLst>
              <a:gd name="adj" fmla="val 50000"/>
            </a:avLst>
          </a:prstGeom>
          <a:solidFill>
            <a:srgbClr val="807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765231" y="640080"/>
            <a:ext cx="292608" cy="64008"/>
          </a:xfrm>
          <a:prstGeom prst="roundRect">
            <a:avLst>
              <a:gd name="adj" fmla="val 50000"/>
            </a:avLst>
          </a:prstGeom>
          <a:solidFill>
            <a:srgbClr val="807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1149279" y="640080"/>
            <a:ext cx="292608" cy="64008"/>
          </a:xfrm>
          <a:prstGeom prst="roundRect">
            <a:avLst>
              <a:gd name="adj" fmla="val 50000"/>
            </a:avLst>
          </a:prstGeom>
          <a:solidFill>
            <a:srgbClr val="807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DEDEF5"/>
                </a:solidFill>
                <a:latin typeface="Inter SemiBold"/>
              </a:rPr>
              <a:t>SECTION 1 / 5</a:t>
            </a:r>
          </a:p>
        </p:txBody>
      </p:sp>
      <p:pic>
        <p:nvPicPr>
          <p:cNvPr id="9" name="Picture 8" descr="target-04__white.png"/>
          <p:cNvPicPr>
            <a:picLocks noChangeAspect="1"/>
          </p:cNvPicPr>
          <p:nvPr/>
        </p:nvPicPr>
        <p:blipFill>
          <a:blip r:embed="rId2"/>
          <a:stretch>
            <a:fillRect/>
          </a:stretch>
        </p:blipFill>
        <p:spPr>
          <a:xfrm>
            <a:off x="9590227" y="1165860"/>
            <a:ext cx="1417320" cy="1417320"/>
          </a:xfrm>
          <a:prstGeom prst="rect">
            <a:avLst/>
          </a:prstGeom>
        </p:spPr>
      </p:pic>
      <p:cxnSp>
        <p:nvCxnSpPr>
          <p:cNvPr id="10" name="Connector 9"/>
          <p:cNvCxnSpPr/>
          <p:nvPr/>
        </p:nvCxnSpPr>
        <p:spPr>
          <a:xfrm>
            <a:off x="749808" y="3017520"/>
            <a:ext cx="10692079" cy="0"/>
          </a:xfrm>
          <a:prstGeom prst="line">
            <a:avLst/>
          </a:prstGeom>
          <a:ln w="20320">
            <a:solidFill>
              <a:srgbClr val="A19EE2"/>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49808" y="3291840"/>
            <a:ext cx="9411919" cy="1280160"/>
          </a:xfrm>
          <a:prstGeom prst="rect">
            <a:avLst/>
          </a:prstGeom>
          <a:noFill/>
        </p:spPr>
        <p:txBody>
          <a:bodyPr wrap="square" anchor="t" lIns="0" rIns="0" tIns="0" bIns="0">
            <a:spAutoFit/>
          </a:bodyPr>
          <a:lstStyle/>
          <a:p>
            <a:pPr algn="l">
              <a:lnSpc>
                <a:spcPct val="105000"/>
              </a:lnSpc>
            </a:pPr>
            <a:r>
              <a:rPr sz="3700" b="0">
                <a:solidFill>
                  <a:srgbClr val="FFFFFF"/>
                </a:solidFill>
                <a:latin typeface="Spectral SemiBold"/>
              </a:rPr>
              <a:t>Introduction and problem definition.</a:t>
            </a:r>
          </a:p>
        </p:txBody>
      </p:sp>
      <p:sp>
        <p:nvSpPr>
          <p:cNvPr id="12" name="TextBox 11"/>
          <p:cNvSpPr txBox="1"/>
          <p:nvPr/>
        </p:nvSpPr>
        <p:spPr>
          <a:xfrm>
            <a:off x="749808" y="4370832"/>
            <a:ext cx="8680399" cy="914400"/>
          </a:xfrm>
          <a:prstGeom prst="rect">
            <a:avLst/>
          </a:prstGeom>
          <a:noFill/>
        </p:spPr>
        <p:txBody>
          <a:bodyPr wrap="square" anchor="t" lIns="0" rIns="0" tIns="0" bIns="0">
            <a:spAutoFit/>
          </a:bodyPr>
          <a:lstStyle/>
          <a:p>
            <a:pPr algn="l">
              <a:lnSpc>
                <a:spcPct val="142000"/>
              </a:lnSpc>
            </a:pPr>
            <a:r>
              <a:rPr sz="1400" b="0">
                <a:solidFill>
                  <a:srgbClr val="DEDEF5"/>
                </a:solidFill>
                <a:latin typeface="Inter"/>
              </a:rPr>
              <a:t>The domain we chose, the objectives we set, and the two problems that drove every pattern choice.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4A45C7"/>
                </a:solidFill>
                <a:latin typeface="Inter SemiBold"/>
              </a:rPr>
              <a:t>INTRODUCTION  ·  BACKGROUND AND OBJECTIVES</a:t>
            </a:r>
          </a:p>
        </p:txBody>
      </p:sp>
      <p:sp>
        <p:nvSpPr>
          <p:cNvPr id="4" name="Rounded Rectangle 3"/>
          <p:cNvSpPr/>
          <p:nvPr/>
        </p:nvSpPr>
        <p:spPr>
          <a:xfrm>
            <a:off x="9613087" y="640080"/>
            <a:ext cx="292608" cy="64008"/>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4A45C7"/>
                </a:solidFill>
                <a:latin typeface="Inter SemiBold"/>
              </a:rPr>
              <a:t>SECTION 1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900" b="0">
                <a:solidFill>
                  <a:srgbClr val="1C1A16"/>
                </a:solidFill>
                <a:latin typeface="Spectral SemiBold"/>
              </a:rPr>
              <a:t>Why a task management system?</a:t>
            </a:r>
          </a:p>
        </p:txBody>
      </p:sp>
      <p:sp>
        <p:nvSpPr>
          <p:cNvPr id="11" name="TextBox 10"/>
          <p:cNvSpPr txBox="1"/>
          <p:nvPr/>
        </p:nvSpPr>
        <p:spPr>
          <a:xfrm>
            <a:off x="749808" y="2066543"/>
            <a:ext cx="9777679" cy="640080"/>
          </a:xfrm>
          <a:prstGeom prst="rect">
            <a:avLst/>
          </a:prstGeom>
          <a:noFill/>
        </p:spPr>
        <p:txBody>
          <a:bodyPr wrap="square" anchor="t" lIns="0" rIns="0" tIns="0" bIns="0">
            <a:spAutoFit/>
          </a:bodyPr>
          <a:lstStyle/>
          <a:p>
            <a:pPr algn="l">
              <a:lnSpc>
                <a:spcPct val="136000"/>
              </a:lnSpc>
            </a:pPr>
            <a:r>
              <a:rPr sz="1300" b="0">
                <a:solidFill>
                  <a:srgbClr val="57534B"/>
                </a:solidFill>
                <a:latin typeface="Inter"/>
              </a:rPr>
              <a:t>Software teams track many kinds of work. How that work gets created and ordered is where a tidy codebase usually starts to sprawl.</a:t>
            </a:r>
          </a:p>
        </p:txBody>
      </p:sp>
      <p:sp>
        <p:nvSpPr>
          <p:cNvPr id="12" name="Rounded Rectangle 11"/>
          <p:cNvSpPr/>
          <p:nvPr/>
        </p:nvSpPr>
        <p:spPr>
          <a:xfrm>
            <a:off x="749808" y="2724912"/>
            <a:ext cx="5117439" cy="1591056"/>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05840" y="2980944"/>
            <a:ext cx="457200" cy="457200"/>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lipboard-check__indigo.png"/>
          <p:cNvPicPr>
            <a:picLocks noChangeAspect="1"/>
          </p:cNvPicPr>
          <p:nvPr/>
        </p:nvPicPr>
        <p:blipFill>
          <a:blip r:embed="rId2"/>
          <a:stretch>
            <a:fillRect/>
          </a:stretch>
        </p:blipFill>
        <p:spPr>
          <a:xfrm>
            <a:off x="1106424" y="3081527"/>
            <a:ext cx="256032" cy="256032"/>
          </a:xfrm>
          <a:prstGeom prst="rect">
            <a:avLst/>
          </a:prstGeom>
        </p:spPr>
      </p:pic>
      <p:sp>
        <p:nvSpPr>
          <p:cNvPr id="15" name="TextBox 14"/>
          <p:cNvSpPr txBox="1"/>
          <p:nvPr/>
        </p:nvSpPr>
        <p:spPr>
          <a:xfrm>
            <a:off x="1627632" y="2980944"/>
            <a:ext cx="4020159" cy="457200"/>
          </a:xfrm>
          <a:prstGeom prst="rect">
            <a:avLst/>
          </a:prstGeom>
          <a:noFill/>
        </p:spPr>
        <p:txBody>
          <a:bodyPr wrap="square" anchor="ctr" lIns="0" rIns="0" tIns="0" bIns="0">
            <a:spAutoFit/>
          </a:bodyPr>
          <a:lstStyle/>
          <a:p>
            <a:pPr algn="l">
              <a:lnSpc>
                <a:spcPct val="104000"/>
              </a:lnSpc>
            </a:pPr>
            <a:r>
              <a:rPr sz="1400" b="0">
                <a:solidFill>
                  <a:srgbClr val="1C1A16"/>
                </a:solidFill>
                <a:latin typeface="Inter SemiBold"/>
              </a:rPr>
              <a:t>The domain</a:t>
            </a:r>
          </a:p>
        </p:txBody>
      </p:sp>
      <p:sp>
        <p:nvSpPr>
          <p:cNvPr id="16" name="TextBox 15"/>
          <p:cNvSpPr txBox="1"/>
          <p:nvPr/>
        </p:nvSpPr>
        <p:spPr>
          <a:xfrm>
            <a:off x="1024127" y="3566160"/>
            <a:ext cx="4587087" cy="603503"/>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A tracker for a software team: bug, feature, and documentation tasks, each moving through one shared lifecycle from open to done.</a:t>
            </a:r>
          </a:p>
        </p:txBody>
      </p:sp>
      <p:sp>
        <p:nvSpPr>
          <p:cNvPr id="17" name="Rounded Rectangle 16"/>
          <p:cNvSpPr/>
          <p:nvPr/>
        </p:nvSpPr>
        <p:spPr>
          <a:xfrm>
            <a:off x="6324447" y="2724912"/>
            <a:ext cx="5117439" cy="1591056"/>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580479" y="2980944"/>
            <a:ext cx="457200" cy="457200"/>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zap__indigo.png"/>
          <p:cNvPicPr>
            <a:picLocks noChangeAspect="1"/>
          </p:cNvPicPr>
          <p:nvPr/>
        </p:nvPicPr>
        <p:blipFill>
          <a:blip r:embed="rId3"/>
          <a:stretch>
            <a:fillRect/>
          </a:stretch>
        </p:blipFill>
        <p:spPr>
          <a:xfrm>
            <a:off x="6681063" y="3081527"/>
            <a:ext cx="256032" cy="256032"/>
          </a:xfrm>
          <a:prstGeom prst="rect">
            <a:avLst/>
          </a:prstGeom>
        </p:spPr>
      </p:pic>
      <p:sp>
        <p:nvSpPr>
          <p:cNvPr id="20" name="TextBox 19"/>
          <p:cNvSpPr txBox="1"/>
          <p:nvPr/>
        </p:nvSpPr>
        <p:spPr>
          <a:xfrm>
            <a:off x="7202271" y="2980944"/>
            <a:ext cx="4020159" cy="457200"/>
          </a:xfrm>
          <a:prstGeom prst="rect">
            <a:avLst/>
          </a:prstGeom>
          <a:noFill/>
        </p:spPr>
        <p:txBody>
          <a:bodyPr wrap="square" anchor="ctr" lIns="0" rIns="0" tIns="0" bIns="0">
            <a:spAutoFit/>
          </a:bodyPr>
          <a:lstStyle/>
          <a:p>
            <a:pPr algn="l">
              <a:lnSpc>
                <a:spcPct val="104000"/>
              </a:lnSpc>
            </a:pPr>
            <a:r>
              <a:rPr sz="1400" b="0">
                <a:solidFill>
                  <a:srgbClr val="1C1A16"/>
                </a:solidFill>
                <a:latin typeface="Inter SemiBold"/>
              </a:rPr>
              <a:t>The motivation</a:t>
            </a:r>
          </a:p>
        </p:txBody>
      </p:sp>
      <p:sp>
        <p:nvSpPr>
          <p:cNvPr id="21" name="TextBox 20"/>
          <p:cNvSpPr txBox="1"/>
          <p:nvPr/>
        </p:nvSpPr>
        <p:spPr>
          <a:xfrm>
            <a:off x="6598767" y="3566160"/>
            <a:ext cx="4587087" cy="603503"/>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Two recurring causes of code sprawl in this kind of system line up cleanly with two patterns from the course.</a:t>
            </a:r>
          </a:p>
        </p:txBody>
      </p:sp>
      <p:sp>
        <p:nvSpPr>
          <p:cNvPr id="22" name="Rounded Rectangle 21"/>
          <p:cNvSpPr/>
          <p:nvPr/>
        </p:nvSpPr>
        <p:spPr>
          <a:xfrm>
            <a:off x="749808" y="4517136"/>
            <a:ext cx="5117439" cy="1591056"/>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005840" y="4773168"/>
            <a:ext cx="457200" cy="457200"/>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target-04__indigo.png"/>
          <p:cNvPicPr>
            <a:picLocks noChangeAspect="1"/>
          </p:cNvPicPr>
          <p:nvPr/>
        </p:nvPicPr>
        <p:blipFill>
          <a:blip r:embed="rId4"/>
          <a:stretch>
            <a:fillRect/>
          </a:stretch>
        </p:blipFill>
        <p:spPr>
          <a:xfrm>
            <a:off x="1106424" y="4873752"/>
            <a:ext cx="256032" cy="256032"/>
          </a:xfrm>
          <a:prstGeom prst="rect">
            <a:avLst/>
          </a:prstGeom>
        </p:spPr>
      </p:pic>
      <p:sp>
        <p:nvSpPr>
          <p:cNvPr id="25" name="TextBox 24"/>
          <p:cNvSpPr txBox="1"/>
          <p:nvPr/>
        </p:nvSpPr>
        <p:spPr>
          <a:xfrm>
            <a:off x="1627632" y="4773168"/>
            <a:ext cx="4020159" cy="457200"/>
          </a:xfrm>
          <a:prstGeom prst="rect">
            <a:avLst/>
          </a:prstGeom>
          <a:noFill/>
        </p:spPr>
        <p:txBody>
          <a:bodyPr wrap="square" anchor="ctr" lIns="0" rIns="0" tIns="0" bIns="0">
            <a:spAutoFit/>
          </a:bodyPr>
          <a:lstStyle/>
          <a:p>
            <a:pPr algn="l">
              <a:lnSpc>
                <a:spcPct val="104000"/>
              </a:lnSpc>
            </a:pPr>
            <a:r>
              <a:rPr sz="1400" b="0">
                <a:solidFill>
                  <a:srgbClr val="1C1A16"/>
                </a:solidFill>
                <a:latin typeface="Inter SemiBold"/>
              </a:rPr>
              <a:t>Our objective</a:t>
            </a:r>
          </a:p>
        </p:txBody>
      </p:sp>
      <p:sp>
        <p:nvSpPr>
          <p:cNvPr id="26" name="TextBox 25"/>
          <p:cNvSpPr txBox="1"/>
          <p:nvPr/>
        </p:nvSpPr>
        <p:spPr>
          <a:xfrm>
            <a:off x="1024127" y="5358383"/>
            <a:ext cx="4587087" cy="603503"/>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Support new task types and new orderings, and let them be added without editing code that already works.</a:t>
            </a:r>
          </a:p>
        </p:txBody>
      </p:sp>
      <p:sp>
        <p:nvSpPr>
          <p:cNvPr id="27" name="Rounded Rectangle 26"/>
          <p:cNvSpPr/>
          <p:nvPr/>
        </p:nvSpPr>
        <p:spPr>
          <a:xfrm>
            <a:off x="6324447" y="4517136"/>
            <a:ext cx="5117439" cy="1591056"/>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580479" y="4773168"/>
            <a:ext cx="457200" cy="457200"/>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cube-01__indigo.png"/>
          <p:cNvPicPr>
            <a:picLocks noChangeAspect="1"/>
          </p:cNvPicPr>
          <p:nvPr/>
        </p:nvPicPr>
        <p:blipFill>
          <a:blip r:embed="rId5"/>
          <a:stretch>
            <a:fillRect/>
          </a:stretch>
        </p:blipFill>
        <p:spPr>
          <a:xfrm>
            <a:off x="6681063" y="4873752"/>
            <a:ext cx="256032" cy="256032"/>
          </a:xfrm>
          <a:prstGeom prst="rect">
            <a:avLst/>
          </a:prstGeom>
        </p:spPr>
      </p:pic>
      <p:sp>
        <p:nvSpPr>
          <p:cNvPr id="30" name="TextBox 29"/>
          <p:cNvSpPr txBox="1"/>
          <p:nvPr/>
        </p:nvSpPr>
        <p:spPr>
          <a:xfrm>
            <a:off x="7202271" y="4773168"/>
            <a:ext cx="4020159" cy="457200"/>
          </a:xfrm>
          <a:prstGeom prst="rect">
            <a:avLst/>
          </a:prstGeom>
          <a:noFill/>
        </p:spPr>
        <p:txBody>
          <a:bodyPr wrap="square" anchor="ctr" lIns="0" rIns="0" tIns="0" bIns="0">
            <a:spAutoFit/>
          </a:bodyPr>
          <a:lstStyle/>
          <a:p>
            <a:pPr algn="l">
              <a:lnSpc>
                <a:spcPct val="104000"/>
              </a:lnSpc>
            </a:pPr>
            <a:r>
              <a:rPr sz="1400" b="0">
                <a:solidFill>
                  <a:srgbClr val="1C1A16"/>
                </a:solidFill>
                <a:latin typeface="Inter SemiBold"/>
              </a:rPr>
              <a:t>In one line</a:t>
            </a:r>
          </a:p>
        </p:txBody>
      </p:sp>
      <p:sp>
        <p:nvSpPr>
          <p:cNvPr id="31" name="TextBox 30"/>
          <p:cNvSpPr txBox="1"/>
          <p:nvPr/>
        </p:nvSpPr>
        <p:spPr>
          <a:xfrm>
            <a:off x="6598767" y="5358383"/>
            <a:ext cx="4587087" cy="603503"/>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One engine, three ways to run it, sixteen Java files, zero external dependencies.</a:t>
            </a:r>
          </a:p>
        </p:txBody>
      </p:sp>
      <p:sp>
        <p:nvSpPr>
          <p:cNvPr id="32" name="TextBox 31"/>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33" name="TextBox 32"/>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04 / 32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4A45C7"/>
                </a:solidFill>
                <a:latin typeface="Inter SemiBold"/>
              </a:rPr>
              <a:t>PROBLEM DEFINITION  ·  REQUIREMENTS</a:t>
            </a:r>
          </a:p>
        </p:txBody>
      </p:sp>
      <p:sp>
        <p:nvSpPr>
          <p:cNvPr id="4" name="Rounded Rectangle 3"/>
          <p:cNvSpPr/>
          <p:nvPr/>
        </p:nvSpPr>
        <p:spPr>
          <a:xfrm>
            <a:off x="9613087" y="640080"/>
            <a:ext cx="292608" cy="64008"/>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4A45C7"/>
                </a:solidFill>
                <a:latin typeface="Inter SemiBold"/>
              </a:rPr>
              <a:t>SECTION 1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900" b="0">
                <a:solidFill>
                  <a:srgbClr val="1C1A16"/>
                </a:solidFill>
                <a:latin typeface="Spectral SemiBold"/>
              </a:rPr>
              <a:t>What the system must do.</a:t>
            </a:r>
          </a:p>
        </p:txBody>
      </p:sp>
      <p:sp>
        <p:nvSpPr>
          <p:cNvPr id="11" name="Rounded Rectangle 10"/>
          <p:cNvSpPr/>
          <p:nvPr/>
        </p:nvSpPr>
        <p:spPr>
          <a:xfrm>
            <a:off x="749808" y="2286000"/>
            <a:ext cx="5117439" cy="2999232"/>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24127" y="2542032"/>
            <a:ext cx="457200" cy="457200"/>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square__indigo.png"/>
          <p:cNvPicPr>
            <a:picLocks noChangeAspect="1"/>
          </p:cNvPicPr>
          <p:nvPr/>
        </p:nvPicPr>
        <p:blipFill>
          <a:blip r:embed="rId2"/>
          <a:stretch>
            <a:fillRect/>
          </a:stretch>
        </p:blipFill>
        <p:spPr>
          <a:xfrm>
            <a:off x="1124712" y="2642616"/>
            <a:ext cx="256032" cy="256032"/>
          </a:xfrm>
          <a:prstGeom prst="rect">
            <a:avLst/>
          </a:prstGeom>
        </p:spPr>
      </p:pic>
      <p:sp>
        <p:nvSpPr>
          <p:cNvPr id="14" name="TextBox 13"/>
          <p:cNvSpPr txBox="1"/>
          <p:nvPr/>
        </p:nvSpPr>
        <p:spPr>
          <a:xfrm>
            <a:off x="1645919" y="2542032"/>
            <a:ext cx="4020159" cy="457200"/>
          </a:xfrm>
          <a:prstGeom prst="rect">
            <a:avLst/>
          </a:prstGeom>
          <a:noFill/>
        </p:spPr>
        <p:txBody>
          <a:bodyPr wrap="square" anchor="ctr" lIns="0" rIns="0" tIns="0" bIns="0">
            <a:spAutoFit/>
          </a:bodyPr>
          <a:lstStyle/>
          <a:p>
            <a:pPr algn="l"/>
            <a:r>
              <a:rPr sz="1100" b="0" spc="140">
                <a:solidFill>
                  <a:srgbClr val="1C1A16"/>
                </a:solidFill>
                <a:latin typeface="Inter SemiBold"/>
              </a:rPr>
              <a:t>FUNCTIONAL REQUIREMENTS</a:t>
            </a:r>
          </a:p>
        </p:txBody>
      </p:sp>
      <p:sp>
        <p:nvSpPr>
          <p:cNvPr id="15" name="TextBox 14"/>
          <p:cNvSpPr txBox="1"/>
          <p:nvPr/>
        </p:nvSpPr>
        <p:spPr>
          <a:xfrm>
            <a:off x="1060704" y="3227832"/>
            <a:ext cx="201168" cy="274320"/>
          </a:xfrm>
          <a:prstGeom prst="rect">
            <a:avLst/>
          </a:prstGeom>
          <a:noFill/>
        </p:spPr>
        <p:txBody>
          <a:bodyPr wrap="square" anchor="t" lIns="0" rIns="0" tIns="0" bIns="0">
            <a:spAutoFit/>
          </a:bodyPr>
          <a:lstStyle/>
          <a:p>
            <a:pPr algn="l"/>
            <a:r>
              <a:rPr sz="1150" b="0">
                <a:solidFill>
                  <a:srgbClr val="4A45C7"/>
                </a:solidFill>
                <a:latin typeface="Inter SemiBold"/>
              </a:rPr>
              <a:t>›</a:t>
            </a:r>
          </a:p>
        </p:txBody>
      </p:sp>
      <p:sp>
        <p:nvSpPr>
          <p:cNvPr id="16" name="TextBox 15"/>
          <p:cNvSpPr txBox="1"/>
          <p:nvPr/>
        </p:nvSpPr>
        <p:spPr>
          <a:xfrm>
            <a:off x="1280160" y="3236976"/>
            <a:ext cx="4331055" cy="640080"/>
          </a:xfrm>
          <a:prstGeom prst="rect">
            <a:avLst/>
          </a:prstGeom>
          <a:noFill/>
        </p:spPr>
        <p:txBody>
          <a:bodyPr wrap="square" anchor="t" lIns="0" rIns="0" tIns="0" bIns="0">
            <a:spAutoFit/>
          </a:bodyPr>
          <a:lstStyle/>
          <a:p>
            <a:pPr algn="l">
              <a:lnSpc>
                <a:spcPct val="120000"/>
              </a:lnSpc>
            </a:pPr>
            <a:r>
              <a:rPr sz="1200" b="0">
                <a:solidFill>
                  <a:srgbClr val="57534B"/>
                </a:solidFill>
                <a:latin typeface="Inter"/>
              </a:rPr>
              <a:t>Create bug, feature, and documentation tasks.</a:t>
            </a:r>
          </a:p>
        </p:txBody>
      </p:sp>
      <p:sp>
        <p:nvSpPr>
          <p:cNvPr id="17" name="TextBox 16"/>
          <p:cNvSpPr txBox="1"/>
          <p:nvPr/>
        </p:nvSpPr>
        <p:spPr>
          <a:xfrm>
            <a:off x="1060704" y="3776472"/>
            <a:ext cx="201168" cy="274320"/>
          </a:xfrm>
          <a:prstGeom prst="rect">
            <a:avLst/>
          </a:prstGeom>
          <a:noFill/>
        </p:spPr>
        <p:txBody>
          <a:bodyPr wrap="square" anchor="t" lIns="0" rIns="0" tIns="0" bIns="0">
            <a:spAutoFit/>
          </a:bodyPr>
          <a:lstStyle/>
          <a:p>
            <a:pPr algn="l"/>
            <a:r>
              <a:rPr sz="1150" b="0">
                <a:solidFill>
                  <a:srgbClr val="4A45C7"/>
                </a:solidFill>
                <a:latin typeface="Inter SemiBold"/>
              </a:rPr>
              <a:t>›</a:t>
            </a:r>
          </a:p>
        </p:txBody>
      </p:sp>
      <p:sp>
        <p:nvSpPr>
          <p:cNvPr id="18" name="TextBox 17"/>
          <p:cNvSpPr txBox="1"/>
          <p:nvPr/>
        </p:nvSpPr>
        <p:spPr>
          <a:xfrm>
            <a:off x="1280160" y="3785615"/>
            <a:ext cx="4331055" cy="640080"/>
          </a:xfrm>
          <a:prstGeom prst="rect">
            <a:avLst/>
          </a:prstGeom>
          <a:noFill/>
        </p:spPr>
        <p:txBody>
          <a:bodyPr wrap="square" anchor="t" lIns="0" rIns="0" tIns="0" bIns="0">
            <a:spAutoFit/>
          </a:bodyPr>
          <a:lstStyle/>
          <a:p>
            <a:pPr algn="l">
              <a:lnSpc>
                <a:spcPct val="120000"/>
              </a:lnSpc>
            </a:pPr>
            <a:r>
              <a:rPr sz="1200" b="0">
                <a:solidFill>
                  <a:srgbClr val="57534B"/>
                </a:solidFill>
                <a:latin typeface="Inter"/>
              </a:rPr>
              <a:t>Order the list by priority, deadline, or severity.</a:t>
            </a:r>
          </a:p>
        </p:txBody>
      </p:sp>
      <p:sp>
        <p:nvSpPr>
          <p:cNvPr id="19" name="TextBox 18"/>
          <p:cNvSpPr txBox="1"/>
          <p:nvPr/>
        </p:nvSpPr>
        <p:spPr>
          <a:xfrm>
            <a:off x="1060704" y="4325112"/>
            <a:ext cx="201168" cy="274320"/>
          </a:xfrm>
          <a:prstGeom prst="rect">
            <a:avLst/>
          </a:prstGeom>
          <a:noFill/>
        </p:spPr>
        <p:txBody>
          <a:bodyPr wrap="square" anchor="t" lIns="0" rIns="0" tIns="0" bIns="0">
            <a:spAutoFit/>
          </a:bodyPr>
          <a:lstStyle/>
          <a:p>
            <a:pPr algn="l"/>
            <a:r>
              <a:rPr sz="1150" b="0">
                <a:solidFill>
                  <a:srgbClr val="4A45C7"/>
                </a:solidFill>
                <a:latin typeface="Inter SemiBold"/>
              </a:rPr>
              <a:t>›</a:t>
            </a:r>
          </a:p>
        </p:txBody>
      </p:sp>
      <p:sp>
        <p:nvSpPr>
          <p:cNvPr id="20" name="TextBox 19"/>
          <p:cNvSpPr txBox="1"/>
          <p:nvPr/>
        </p:nvSpPr>
        <p:spPr>
          <a:xfrm>
            <a:off x="1280160" y="4334256"/>
            <a:ext cx="4331055" cy="640080"/>
          </a:xfrm>
          <a:prstGeom prst="rect">
            <a:avLst/>
          </a:prstGeom>
          <a:noFill/>
        </p:spPr>
        <p:txBody>
          <a:bodyPr wrap="square" anchor="t" lIns="0" rIns="0" tIns="0" bIns="0">
            <a:spAutoFit/>
          </a:bodyPr>
          <a:lstStyle/>
          <a:p>
            <a:pPr algn="l">
              <a:lnSpc>
                <a:spcPct val="120000"/>
              </a:lnSpc>
            </a:pPr>
            <a:r>
              <a:rPr sz="1200" b="0">
                <a:solidFill>
                  <a:srgbClr val="57534B"/>
                </a:solidFill>
                <a:latin typeface="Inter"/>
              </a:rPr>
              <a:t>Move tasks through a validated lifecycle.</a:t>
            </a:r>
          </a:p>
        </p:txBody>
      </p:sp>
      <p:sp>
        <p:nvSpPr>
          <p:cNvPr id="21" name="TextBox 20"/>
          <p:cNvSpPr txBox="1"/>
          <p:nvPr/>
        </p:nvSpPr>
        <p:spPr>
          <a:xfrm>
            <a:off x="1060704" y="4873752"/>
            <a:ext cx="201168" cy="274320"/>
          </a:xfrm>
          <a:prstGeom prst="rect">
            <a:avLst/>
          </a:prstGeom>
          <a:noFill/>
        </p:spPr>
        <p:txBody>
          <a:bodyPr wrap="square" anchor="t" lIns="0" rIns="0" tIns="0" bIns="0">
            <a:spAutoFit/>
          </a:bodyPr>
          <a:lstStyle/>
          <a:p>
            <a:pPr algn="l"/>
            <a:r>
              <a:rPr sz="1150" b="0">
                <a:solidFill>
                  <a:srgbClr val="4A45C7"/>
                </a:solidFill>
                <a:latin typeface="Inter SemiBold"/>
              </a:rPr>
              <a:t>›</a:t>
            </a:r>
          </a:p>
        </p:txBody>
      </p:sp>
      <p:sp>
        <p:nvSpPr>
          <p:cNvPr id="22" name="TextBox 21"/>
          <p:cNvSpPr txBox="1"/>
          <p:nvPr/>
        </p:nvSpPr>
        <p:spPr>
          <a:xfrm>
            <a:off x="1280160" y="4882896"/>
            <a:ext cx="4331055" cy="640080"/>
          </a:xfrm>
          <a:prstGeom prst="rect">
            <a:avLst/>
          </a:prstGeom>
          <a:noFill/>
        </p:spPr>
        <p:txBody>
          <a:bodyPr wrap="square" anchor="t" lIns="0" rIns="0" tIns="0" bIns="0">
            <a:spAutoFit/>
          </a:bodyPr>
          <a:lstStyle/>
          <a:p>
            <a:pPr algn="l">
              <a:lnSpc>
                <a:spcPct val="120000"/>
              </a:lnSpc>
            </a:pPr>
            <a:r>
              <a:rPr sz="1200" b="0">
                <a:solidFill>
                  <a:srgbClr val="57534B"/>
                </a:solidFill>
                <a:latin typeface="Inter"/>
              </a:rPr>
              <a:t>Filter by status and summarise the list.</a:t>
            </a:r>
          </a:p>
        </p:txBody>
      </p:sp>
      <p:sp>
        <p:nvSpPr>
          <p:cNvPr id="23" name="Rounded Rectangle 22"/>
          <p:cNvSpPr/>
          <p:nvPr/>
        </p:nvSpPr>
        <p:spPr>
          <a:xfrm>
            <a:off x="6324447" y="2286000"/>
            <a:ext cx="5117439" cy="2999232"/>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598767" y="2542032"/>
            <a:ext cx="457200" cy="457200"/>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hield-tick__indigo.png"/>
          <p:cNvPicPr>
            <a:picLocks noChangeAspect="1"/>
          </p:cNvPicPr>
          <p:nvPr/>
        </p:nvPicPr>
        <p:blipFill>
          <a:blip r:embed="rId3"/>
          <a:stretch>
            <a:fillRect/>
          </a:stretch>
        </p:blipFill>
        <p:spPr>
          <a:xfrm>
            <a:off x="6699351" y="2642616"/>
            <a:ext cx="256032" cy="256032"/>
          </a:xfrm>
          <a:prstGeom prst="rect">
            <a:avLst/>
          </a:prstGeom>
        </p:spPr>
      </p:pic>
      <p:sp>
        <p:nvSpPr>
          <p:cNvPr id="26" name="TextBox 25"/>
          <p:cNvSpPr txBox="1"/>
          <p:nvPr/>
        </p:nvSpPr>
        <p:spPr>
          <a:xfrm>
            <a:off x="7220559" y="2542032"/>
            <a:ext cx="4020159" cy="457200"/>
          </a:xfrm>
          <a:prstGeom prst="rect">
            <a:avLst/>
          </a:prstGeom>
          <a:noFill/>
        </p:spPr>
        <p:txBody>
          <a:bodyPr wrap="square" anchor="ctr" lIns="0" rIns="0" tIns="0" bIns="0">
            <a:spAutoFit/>
          </a:bodyPr>
          <a:lstStyle/>
          <a:p>
            <a:pPr algn="l"/>
            <a:r>
              <a:rPr sz="1100" b="0" spc="140">
                <a:solidFill>
                  <a:srgbClr val="1C1A16"/>
                </a:solidFill>
                <a:latin typeface="Inter SemiBold"/>
              </a:rPr>
              <a:t>NON-FUNCTIONAL REQUIREMENTS</a:t>
            </a:r>
          </a:p>
        </p:txBody>
      </p:sp>
      <p:sp>
        <p:nvSpPr>
          <p:cNvPr id="27" name="TextBox 26"/>
          <p:cNvSpPr txBox="1"/>
          <p:nvPr/>
        </p:nvSpPr>
        <p:spPr>
          <a:xfrm>
            <a:off x="6635343" y="3227832"/>
            <a:ext cx="201168" cy="274320"/>
          </a:xfrm>
          <a:prstGeom prst="rect">
            <a:avLst/>
          </a:prstGeom>
          <a:noFill/>
        </p:spPr>
        <p:txBody>
          <a:bodyPr wrap="square" anchor="t" lIns="0" rIns="0" tIns="0" bIns="0">
            <a:spAutoFit/>
          </a:bodyPr>
          <a:lstStyle/>
          <a:p>
            <a:pPr algn="l"/>
            <a:r>
              <a:rPr sz="1150" b="0">
                <a:solidFill>
                  <a:srgbClr val="4A45C7"/>
                </a:solidFill>
                <a:latin typeface="Inter SemiBold"/>
              </a:rPr>
              <a:t>›</a:t>
            </a:r>
          </a:p>
        </p:txBody>
      </p:sp>
      <p:sp>
        <p:nvSpPr>
          <p:cNvPr id="28" name="TextBox 27"/>
          <p:cNvSpPr txBox="1"/>
          <p:nvPr/>
        </p:nvSpPr>
        <p:spPr>
          <a:xfrm>
            <a:off x="6854799" y="3236976"/>
            <a:ext cx="4331055" cy="640080"/>
          </a:xfrm>
          <a:prstGeom prst="rect">
            <a:avLst/>
          </a:prstGeom>
          <a:noFill/>
        </p:spPr>
        <p:txBody>
          <a:bodyPr wrap="square" anchor="t" lIns="0" rIns="0" tIns="0" bIns="0">
            <a:spAutoFit/>
          </a:bodyPr>
          <a:lstStyle/>
          <a:p>
            <a:pPr algn="l">
              <a:lnSpc>
                <a:spcPct val="120000"/>
              </a:lnSpc>
            </a:pPr>
            <a:r>
              <a:rPr sz="1200" b="0">
                <a:solidFill>
                  <a:srgbClr val="57534B"/>
                </a:solidFill>
                <a:latin typeface="Inter"/>
              </a:rPr>
              <a:t>Extensible: new types or orderings, no edits to old code.</a:t>
            </a:r>
          </a:p>
        </p:txBody>
      </p:sp>
      <p:sp>
        <p:nvSpPr>
          <p:cNvPr id="29" name="TextBox 28"/>
          <p:cNvSpPr txBox="1"/>
          <p:nvPr/>
        </p:nvSpPr>
        <p:spPr>
          <a:xfrm>
            <a:off x="6635343" y="3776472"/>
            <a:ext cx="201168" cy="274320"/>
          </a:xfrm>
          <a:prstGeom prst="rect">
            <a:avLst/>
          </a:prstGeom>
          <a:noFill/>
        </p:spPr>
        <p:txBody>
          <a:bodyPr wrap="square" anchor="t" lIns="0" rIns="0" tIns="0" bIns="0">
            <a:spAutoFit/>
          </a:bodyPr>
          <a:lstStyle/>
          <a:p>
            <a:pPr algn="l"/>
            <a:r>
              <a:rPr sz="1150" b="0">
                <a:solidFill>
                  <a:srgbClr val="4A45C7"/>
                </a:solidFill>
                <a:latin typeface="Inter SemiBold"/>
              </a:rPr>
              <a:t>›</a:t>
            </a:r>
          </a:p>
        </p:txBody>
      </p:sp>
      <p:sp>
        <p:nvSpPr>
          <p:cNvPr id="30" name="TextBox 29"/>
          <p:cNvSpPr txBox="1"/>
          <p:nvPr/>
        </p:nvSpPr>
        <p:spPr>
          <a:xfrm>
            <a:off x="6854799" y="3785615"/>
            <a:ext cx="4331055" cy="640080"/>
          </a:xfrm>
          <a:prstGeom prst="rect">
            <a:avLst/>
          </a:prstGeom>
          <a:noFill/>
        </p:spPr>
        <p:txBody>
          <a:bodyPr wrap="square" anchor="t" lIns="0" rIns="0" tIns="0" bIns="0">
            <a:spAutoFit/>
          </a:bodyPr>
          <a:lstStyle/>
          <a:p>
            <a:pPr algn="l">
              <a:lnSpc>
                <a:spcPct val="120000"/>
              </a:lnSpc>
            </a:pPr>
            <a:r>
              <a:rPr sz="1200" b="0">
                <a:solidFill>
                  <a:srgbClr val="57534B"/>
                </a:solidFill>
                <a:latin typeface="Inter"/>
              </a:rPr>
              <a:t>Pure Java 8+, zero external dependencies.</a:t>
            </a:r>
          </a:p>
        </p:txBody>
      </p:sp>
      <p:sp>
        <p:nvSpPr>
          <p:cNvPr id="31" name="TextBox 30"/>
          <p:cNvSpPr txBox="1"/>
          <p:nvPr/>
        </p:nvSpPr>
        <p:spPr>
          <a:xfrm>
            <a:off x="6635343" y="4325112"/>
            <a:ext cx="201168" cy="274320"/>
          </a:xfrm>
          <a:prstGeom prst="rect">
            <a:avLst/>
          </a:prstGeom>
          <a:noFill/>
        </p:spPr>
        <p:txBody>
          <a:bodyPr wrap="square" anchor="t" lIns="0" rIns="0" tIns="0" bIns="0">
            <a:spAutoFit/>
          </a:bodyPr>
          <a:lstStyle/>
          <a:p>
            <a:pPr algn="l"/>
            <a:r>
              <a:rPr sz="1150" b="0">
                <a:solidFill>
                  <a:srgbClr val="4A45C7"/>
                </a:solidFill>
                <a:latin typeface="Inter SemiBold"/>
              </a:rPr>
              <a:t>›</a:t>
            </a:r>
          </a:p>
        </p:txBody>
      </p:sp>
      <p:sp>
        <p:nvSpPr>
          <p:cNvPr id="32" name="TextBox 31"/>
          <p:cNvSpPr txBox="1"/>
          <p:nvPr/>
        </p:nvSpPr>
        <p:spPr>
          <a:xfrm>
            <a:off x="6854799" y="4334256"/>
            <a:ext cx="4331055" cy="640080"/>
          </a:xfrm>
          <a:prstGeom prst="rect">
            <a:avLst/>
          </a:prstGeom>
          <a:noFill/>
        </p:spPr>
        <p:txBody>
          <a:bodyPr wrap="square" anchor="t" lIns="0" rIns="0" tIns="0" bIns="0">
            <a:spAutoFit/>
          </a:bodyPr>
          <a:lstStyle/>
          <a:p>
            <a:pPr algn="l">
              <a:lnSpc>
                <a:spcPct val="120000"/>
              </a:lnSpc>
            </a:pPr>
            <a:r>
              <a:rPr sz="1200" b="0">
                <a:solidFill>
                  <a:srgbClr val="57534B"/>
                </a:solidFill>
                <a:latin typeface="Inter"/>
              </a:rPr>
              <a:t>Runs from the terminal: tests, console, and a GUI.</a:t>
            </a:r>
          </a:p>
        </p:txBody>
      </p:sp>
      <p:sp>
        <p:nvSpPr>
          <p:cNvPr id="33" name="TextBox 32"/>
          <p:cNvSpPr txBox="1"/>
          <p:nvPr/>
        </p:nvSpPr>
        <p:spPr>
          <a:xfrm>
            <a:off x="6635343" y="4873752"/>
            <a:ext cx="201168" cy="274320"/>
          </a:xfrm>
          <a:prstGeom prst="rect">
            <a:avLst/>
          </a:prstGeom>
          <a:noFill/>
        </p:spPr>
        <p:txBody>
          <a:bodyPr wrap="square" anchor="t" lIns="0" rIns="0" tIns="0" bIns="0">
            <a:spAutoFit/>
          </a:bodyPr>
          <a:lstStyle/>
          <a:p>
            <a:pPr algn="l"/>
            <a:r>
              <a:rPr sz="1150" b="0">
                <a:solidFill>
                  <a:srgbClr val="4A45C7"/>
                </a:solidFill>
                <a:latin typeface="Inter SemiBold"/>
              </a:rPr>
              <a:t>›</a:t>
            </a:r>
          </a:p>
        </p:txBody>
      </p:sp>
      <p:sp>
        <p:nvSpPr>
          <p:cNvPr id="34" name="TextBox 33"/>
          <p:cNvSpPr txBox="1"/>
          <p:nvPr/>
        </p:nvSpPr>
        <p:spPr>
          <a:xfrm>
            <a:off x="6854799" y="4882896"/>
            <a:ext cx="4331055" cy="640080"/>
          </a:xfrm>
          <a:prstGeom prst="rect">
            <a:avLst/>
          </a:prstGeom>
          <a:noFill/>
        </p:spPr>
        <p:txBody>
          <a:bodyPr wrap="square" anchor="t" lIns="0" rIns="0" tIns="0" bIns="0">
            <a:spAutoFit/>
          </a:bodyPr>
          <a:lstStyle/>
          <a:p>
            <a:pPr algn="l">
              <a:lnSpc>
                <a:spcPct val="120000"/>
              </a:lnSpc>
            </a:pPr>
            <a:r>
              <a:rPr sz="1200" b="0">
                <a:solidFill>
                  <a:srgbClr val="57534B"/>
                </a:solidFill>
                <a:latin typeface="Inter"/>
              </a:rPr>
              <a:t>Explainable: the design has to survive a viva.</a:t>
            </a:r>
          </a:p>
        </p:txBody>
      </p:sp>
      <p:sp>
        <p:nvSpPr>
          <p:cNvPr id="35" name="Rounded Rectangle 34"/>
          <p:cNvSpPr/>
          <p:nvPr/>
        </p:nvSpPr>
        <p:spPr>
          <a:xfrm>
            <a:off x="749808" y="5449824"/>
            <a:ext cx="10692079" cy="658368"/>
          </a:xfrm>
          <a:prstGeom prst="roundRect">
            <a:avLst>
              <a:gd name="adj" fmla="val 6000"/>
            </a:avLst>
          </a:prstGeom>
          <a:solidFill>
            <a:srgbClr val="F4F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4127" y="5449824"/>
            <a:ext cx="10143439" cy="658368"/>
          </a:xfrm>
          <a:prstGeom prst="rect">
            <a:avLst/>
          </a:prstGeom>
          <a:noFill/>
        </p:spPr>
        <p:txBody>
          <a:bodyPr wrap="square" anchor="ctr" lIns="0" rIns="0" tIns="0" bIns="0">
            <a:spAutoFit/>
          </a:bodyPr>
          <a:lstStyle/>
          <a:p>
            <a:pPr algn="l">
              <a:lnSpc>
                <a:spcPct val="130000"/>
              </a:lnSpc>
            </a:pPr>
            <a:r>
              <a:rPr sz="1250" b="0">
                <a:solidFill>
                  <a:srgbClr val="1C1A16"/>
                </a:solidFill>
                <a:latin typeface="Inter SemiBold"/>
              </a:rPr>
              <a:t>Two requirements drive the whole design: tasks are created in different ways, and the same list is ordered in different ways.</a:t>
            </a:r>
          </a:p>
        </p:txBody>
      </p:sp>
      <p:sp>
        <p:nvSpPr>
          <p:cNvPr id="37" name="TextBox 36"/>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38" name="TextBox 37"/>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05 / 32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4A45C7"/>
                </a:solidFill>
                <a:latin typeface="Inter SemiBold"/>
              </a:rPr>
              <a:t>PROBLEM DEFINITION  ·  PROBLEM 1</a:t>
            </a:r>
          </a:p>
        </p:txBody>
      </p:sp>
      <p:sp>
        <p:nvSpPr>
          <p:cNvPr id="4" name="Rounded Rectangle 3"/>
          <p:cNvSpPr/>
          <p:nvPr/>
        </p:nvSpPr>
        <p:spPr>
          <a:xfrm>
            <a:off x="9613087" y="640080"/>
            <a:ext cx="292608" cy="64008"/>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4A45C7"/>
                </a:solidFill>
                <a:latin typeface="Inter SemiBold"/>
              </a:rPr>
              <a:t>SECTION 1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900" b="0">
                <a:solidFill>
                  <a:srgbClr val="1C1A16"/>
                </a:solidFill>
                <a:latin typeface="Spectral SemiBold"/>
              </a:rPr>
              <a:t>Tasks have different creation logic.</a:t>
            </a:r>
          </a:p>
        </p:txBody>
      </p:sp>
      <p:sp>
        <p:nvSpPr>
          <p:cNvPr id="11" name="TextBox 10"/>
          <p:cNvSpPr txBox="1"/>
          <p:nvPr/>
        </p:nvSpPr>
        <p:spPr>
          <a:xfrm>
            <a:off x="749808" y="2066543"/>
            <a:ext cx="9777679" cy="640080"/>
          </a:xfrm>
          <a:prstGeom prst="rect">
            <a:avLst/>
          </a:prstGeom>
          <a:noFill/>
        </p:spPr>
        <p:txBody>
          <a:bodyPr wrap="square" anchor="t" lIns="0" rIns="0" tIns="0" bIns="0">
            <a:spAutoFit/>
          </a:bodyPr>
          <a:lstStyle/>
          <a:p>
            <a:pPr algn="l">
              <a:lnSpc>
                <a:spcPct val="136000"/>
              </a:lnSpc>
            </a:pPr>
            <a:r>
              <a:rPr sz="1300" b="0">
                <a:solidFill>
                  <a:srgbClr val="57534B"/>
                </a:solidFill>
                <a:latin typeface="Inter"/>
              </a:rPr>
              <a:t>Each task type has different fields and different defaults. Building them by hand ties every caller to the concrete classes.</a:t>
            </a:r>
          </a:p>
        </p:txBody>
      </p:sp>
      <p:sp>
        <p:nvSpPr>
          <p:cNvPr id="12" name="Rounded Rectangle 11"/>
          <p:cNvSpPr/>
          <p:nvPr/>
        </p:nvSpPr>
        <p:spPr>
          <a:xfrm>
            <a:off x="749808" y="2697480"/>
            <a:ext cx="10692079" cy="1103947"/>
          </a:xfrm>
          <a:prstGeom prst="roundRect">
            <a:avLst>
              <a:gd name="adj" fmla="val 4000"/>
            </a:avLst>
          </a:prstGeom>
          <a:solidFill>
            <a:srgbClr val="F7F4ED"/>
          </a:solidFill>
          <a:ln w="12700">
            <a:solidFill>
              <a:srgbClr val="E7E1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749808" y="2697480"/>
            <a:ext cx="10692079" cy="0"/>
          </a:xfrm>
          <a:prstGeom prst="line">
            <a:avLst/>
          </a:prstGeom>
          <a:ln w="27940">
            <a:solidFill>
              <a:srgbClr val="BC5A2B"/>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86384" y="2825496"/>
            <a:ext cx="10618927" cy="921067"/>
          </a:xfrm>
          <a:prstGeom prst="rect">
            <a:avLst/>
          </a:prstGeom>
          <a:noFill/>
        </p:spPr>
        <p:txBody>
          <a:bodyPr wrap="none" anchor="t" lIns="237744" rIns="164592" tIns="54864" bIns="54864">
            <a:spAutoFit/>
          </a:bodyPr>
          <a:lstStyle/>
          <a:p>
            <a:pPr algn="l">
              <a:lnSpc>
                <a:spcPct val="142000"/>
              </a:lnSpc>
            </a:pPr>
            <a:r>
              <a:rPr sz="1250">
                <a:solidFill>
                  <a:srgbClr val="8250DF"/>
                </a:solidFill>
                <a:latin typeface="Consolas"/>
              </a:rPr>
              <a:t>new</a:t>
            </a:r>
            <a:r>
              <a:rPr sz="1250">
                <a:solidFill>
                  <a:srgbClr val="1C1A16"/>
                </a:solidFill>
                <a:latin typeface="Consolas"/>
              </a:rPr>
              <a:t> </a:t>
            </a:r>
            <a:r>
              <a:rPr sz="1250">
                <a:solidFill>
                  <a:srgbClr val="0550AE"/>
                </a:solidFill>
                <a:latin typeface="Consolas"/>
              </a:rPr>
              <a:t>BugTask</a:t>
            </a:r>
            <a:r>
              <a:rPr sz="1250">
                <a:solidFill>
                  <a:srgbClr val="1C1A16"/>
                </a:solidFill>
                <a:latin typeface="Consolas"/>
              </a:rPr>
              <a:t>(</a:t>
            </a:r>
            <a:r>
              <a:rPr sz="1250">
                <a:solidFill>
                  <a:srgbClr val="1C1A16"/>
                </a:solidFill>
                <a:latin typeface="Consolas"/>
              </a:rPr>
              <a:t>title</a:t>
            </a:r>
            <a:r>
              <a:rPr sz="1250">
                <a:solidFill>
                  <a:srgbClr val="1C1A16"/>
                </a:solidFill>
                <a:latin typeface="Consolas"/>
              </a:rPr>
              <a:t>,</a:t>
            </a:r>
            <a:r>
              <a:rPr sz="1250">
                <a:solidFill>
                  <a:srgbClr val="1C1A16"/>
                </a:solidFill>
                <a:latin typeface="Consolas"/>
              </a:rPr>
              <a:t> </a:t>
            </a:r>
            <a:r>
              <a:rPr sz="1250">
                <a:solidFill>
                  <a:srgbClr val="1C1A16"/>
                </a:solidFill>
                <a:latin typeface="Consolas"/>
              </a:rPr>
              <a:t>priority</a:t>
            </a:r>
            <a:r>
              <a:rPr sz="1250">
                <a:solidFill>
                  <a:srgbClr val="1C1A16"/>
                </a:solidFill>
                <a:latin typeface="Consolas"/>
              </a:rPr>
              <a:t>,</a:t>
            </a:r>
            <a:r>
              <a:rPr sz="1250">
                <a:solidFill>
                  <a:srgbClr val="1C1A16"/>
                </a:solidFill>
                <a:latin typeface="Consolas"/>
              </a:rPr>
              <a:t> </a:t>
            </a:r>
            <a:r>
              <a:rPr sz="1250">
                <a:solidFill>
                  <a:srgbClr val="0A7B33"/>
                </a:solidFill>
                <a:latin typeface="Consolas"/>
              </a:rPr>
              <a:t>"MEDIUM"</a:t>
            </a:r>
            <a:r>
              <a:rPr sz="1250">
                <a:solidFill>
                  <a:srgbClr val="1C1A16"/>
                </a:solidFill>
                <a:latin typeface="Consolas"/>
              </a:rPr>
              <a:t>,</a:t>
            </a:r>
            <a:r>
              <a:rPr sz="1250">
                <a:solidFill>
                  <a:srgbClr val="1C1A16"/>
                </a:solidFill>
                <a:latin typeface="Consolas"/>
              </a:rPr>
              <a:t> </a:t>
            </a:r>
            <a:r>
              <a:rPr sz="1250">
                <a:solidFill>
                  <a:srgbClr val="0A7B33"/>
                </a:solidFill>
                <a:latin typeface="Consolas"/>
              </a:rPr>
              <a:t>""</a:t>
            </a:r>
            <a:r>
              <a:rPr sz="1250">
                <a:solidFill>
                  <a:srgbClr val="1C1A16"/>
                </a:solidFill>
                <a:latin typeface="Consolas"/>
              </a:rPr>
              <a:t>)</a:t>
            </a:r>
            <a:r>
              <a:rPr sz="1250">
                <a:solidFill>
                  <a:srgbClr val="1C1A16"/>
                </a:solidFill>
                <a:latin typeface="Consolas"/>
              </a:rPr>
              <a:t>;</a:t>
            </a:r>
            <a:r>
              <a:rPr sz="1250">
                <a:solidFill>
                  <a:srgbClr val="1C1A16"/>
                </a:solidFill>
                <a:latin typeface="Consolas"/>
              </a:rPr>
              <a:t>          </a:t>
            </a:r>
            <a:r>
              <a:rPr sz="1250">
                <a:solidFill>
                  <a:srgbClr val="8C877D"/>
                </a:solidFill>
                <a:latin typeface="Consolas"/>
              </a:rPr>
              <a:t>// severity + steps</a:t>
            </a:r>
          </a:p>
          <a:p>
            <a:pPr algn="l">
              <a:lnSpc>
                <a:spcPct val="142000"/>
              </a:lnSpc>
            </a:pPr>
            <a:r>
              <a:rPr sz="1250">
                <a:solidFill>
                  <a:srgbClr val="8250DF"/>
                </a:solidFill>
                <a:latin typeface="Consolas"/>
              </a:rPr>
              <a:t>new</a:t>
            </a:r>
            <a:r>
              <a:rPr sz="1250">
                <a:solidFill>
                  <a:srgbClr val="1C1A16"/>
                </a:solidFill>
                <a:latin typeface="Consolas"/>
              </a:rPr>
              <a:t> </a:t>
            </a:r>
            <a:r>
              <a:rPr sz="1250">
                <a:solidFill>
                  <a:srgbClr val="0550AE"/>
                </a:solidFill>
                <a:latin typeface="Consolas"/>
              </a:rPr>
              <a:t>FeatureTask</a:t>
            </a:r>
            <a:r>
              <a:rPr sz="1250">
                <a:solidFill>
                  <a:srgbClr val="1C1A16"/>
                </a:solidFill>
                <a:latin typeface="Consolas"/>
              </a:rPr>
              <a:t>(</a:t>
            </a:r>
            <a:r>
              <a:rPr sz="1250">
                <a:solidFill>
                  <a:srgbClr val="1C1A16"/>
                </a:solidFill>
                <a:latin typeface="Consolas"/>
              </a:rPr>
              <a:t>title</a:t>
            </a:r>
            <a:r>
              <a:rPr sz="1250">
                <a:solidFill>
                  <a:srgbClr val="1C1A16"/>
                </a:solidFill>
                <a:latin typeface="Consolas"/>
              </a:rPr>
              <a:t>,</a:t>
            </a:r>
            <a:r>
              <a:rPr sz="1250">
                <a:solidFill>
                  <a:srgbClr val="1C1A16"/>
                </a:solidFill>
                <a:latin typeface="Consolas"/>
              </a:rPr>
              <a:t> </a:t>
            </a:r>
            <a:r>
              <a:rPr sz="1250">
                <a:solidFill>
                  <a:srgbClr val="1C1A16"/>
                </a:solidFill>
                <a:latin typeface="Consolas"/>
              </a:rPr>
              <a:t>priority</a:t>
            </a:r>
            <a:r>
              <a:rPr sz="1250">
                <a:solidFill>
                  <a:srgbClr val="1C1A16"/>
                </a:solidFill>
                <a:latin typeface="Consolas"/>
              </a:rPr>
              <a:t>,</a:t>
            </a:r>
            <a:r>
              <a:rPr sz="1250">
                <a:solidFill>
                  <a:srgbClr val="1C1A16"/>
                </a:solidFill>
                <a:latin typeface="Consolas"/>
              </a:rPr>
              <a:t> </a:t>
            </a:r>
            <a:r>
              <a:rPr sz="1250">
                <a:solidFill>
                  <a:srgbClr val="0550AE"/>
                </a:solidFill>
                <a:latin typeface="Consolas"/>
              </a:rPr>
              <a:t>8</a:t>
            </a:r>
            <a:r>
              <a:rPr sz="1250">
                <a:solidFill>
                  <a:srgbClr val="1C1A16"/>
                </a:solidFill>
                <a:latin typeface="Consolas"/>
              </a:rPr>
              <a:t>,</a:t>
            </a:r>
            <a:r>
              <a:rPr sz="1250">
                <a:solidFill>
                  <a:srgbClr val="1C1A16"/>
                </a:solidFill>
                <a:latin typeface="Consolas"/>
              </a:rPr>
              <a:t> </a:t>
            </a:r>
            <a:r>
              <a:rPr sz="1250">
                <a:solidFill>
                  <a:srgbClr val="0550AE"/>
                </a:solidFill>
                <a:latin typeface="Consolas"/>
              </a:rPr>
              <a:t>5</a:t>
            </a:r>
            <a:r>
              <a:rPr sz="1250">
                <a:solidFill>
                  <a:srgbClr val="1C1A16"/>
                </a:solidFill>
                <a:latin typeface="Consolas"/>
              </a:rPr>
              <a:t>)</a:t>
            </a:r>
            <a:r>
              <a:rPr sz="1250">
                <a:solidFill>
                  <a:srgbClr val="1C1A16"/>
                </a:solidFill>
                <a:latin typeface="Consolas"/>
              </a:rPr>
              <a:t>;</a:t>
            </a:r>
            <a:r>
              <a:rPr sz="1250">
                <a:solidFill>
                  <a:srgbClr val="1C1A16"/>
                </a:solidFill>
                <a:latin typeface="Consolas"/>
              </a:rPr>
              <a:t>              </a:t>
            </a:r>
            <a:r>
              <a:rPr sz="1250">
                <a:solidFill>
                  <a:srgbClr val="8C877D"/>
                </a:solidFill>
                <a:latin typeface="Consolas"/>
              </a:rPr>
              <a:t>// effort + value</a:t>
            </a:r>
          </a:p>
          <a:p>
            <a:pPr algn="l">
              <a:lnSpc>
                <a:spcPct val="142000"/>
              </a:lnSpc>
            </a:pPr>
            <a:r>
              <a:rPr sz="1250">
                <a:solidFill>
                  <a:srgbClr val="8250DF"/>
                </a:solidFill>
                <a:latin typeface="Consolas"/>
              </a:rPr>
              <a:t>new</a:t>
            </a:r>
            <a:r>
              <a:rPr sz="1250">
                <a:solidFill>
                  <a:srgbClr val="1C1A16"/>
                </a:solidFill>
                <a:latin typeface="Consolas"/>
              </a:rPr>
              <a:t> </a:t>
            </a:r>
            <a:r>
              <a:rPr sz="1250">
                <a:solidFill>
                  <a:srgbClr val="0550AE"/>
                </a:solidFill>
                <a:latin typeface="Consolas"/>
              </a:rPr>
              <a:t>DocumentationTask</a:t>
            </a:r>
            <a:r>
              <a:rPr sz="1250">
                <a:solidFill>
                  <a:srgbClr val="1C1A16"/>
                </a:solidFill>
                <a:latin typeface="Consolas"/>
              </a:rPr>
              <a:t>(</a:t>
            </a:r>
            <a:r>
              <a:rPr sz="1250">
                <a:solidFill>
                  <a:srgbClr val="1C1A16"/>
                </a:solidFill>
                <a:latin typeface="Consolas"/>
              </a:rPr>
              <a:t>title</a:t>
            </a:r>
            <a:r>
              <a:rPr sz="1250">
                <a:solidFill>
                  <a:srgbClr val="1C1A16"/>
                </a:solidFill>
                <a:latin typeface="Consolas"/>
              </a:rPr>
              <a:t>,</a:t>
            </a:r>
            <a:r>
              <a:rPr sz="1250">
                <a:solidFill>
                  <a:srgbClr val="1C1A16"/>
                </a:solidFill>
                <a:latin typeface="Consolas"/>
              </a:rPr>
              <a:t> </a:t>
            </a:r>
            <a:r>
              <a:rPr sz="1250">
                <a:solidFill>
                  <a:srgbClr val="1C1A16"/>
                </a:solidFill>
                <a:latin typeface="Consolas"/>
              </a:rPr>
              <a:t>priority</a:t>
            </a:r>
            <a:r>
              <a:rPr sz="1250">
                <a:solidFill>
                  <a:srgbClr val="1C1A16"/>
                </a:solidFill>
                <a:latin typeface="Consolas"/>
              </a:rPr>
              <a:t>,</a:t>
            </a:r>
            <a:r>
              <a:rPr sz="1250">
                <a:solidFill>
                  <a:srgbClr val="1C1A16"/>
                </a:solidFill>
                <a:latin typeface="Consolas"/>
              </a:rPr>
              <a:t> </a:t>
            </a:r>
            <a:r>
              <a:rPr sz="1250">
                <a:solidFill>
                  <a:srgbClr val="0A7B33"/>
                </a:solidFill>
                <a:latin typeface="Consolas"/>
              </a:rPr>
              <a:t>"API"</a:t>
            </a:r>
            <a:r>
              <a:rPr sz="1250">
                <a:solidFill>
                  <a:srgbClr val="1C1A16"/>
                </a:solidFill>
                <a:latin typeface="Consolas"/>
              </a:rPr>
              <a:t>,</a:t>
            </a:r>
            <a:r>
              <a:rPr sz="1250">
                <a:solidFill>
                  <a:srgbClr val="1C1A16"/>
                </a:solidFill>
                <a:latin typeface="Consolas"/>
              </a:rPr>
              <a:t> </a:t>
            </a:r>
            <a:r>
              <a:rPr sz="1250">
                <a:solidFill>
                  <a:srgbClr val="0A7B33"/>
                </a:solidFill>
                <a:latin typeface="Consolas"/>
              </a:rPr>
              <a:t>"Developers"</a:t>
            </a:r>
            <a:r>
              <a:rPr sz="1250">
                <a:solidFill>
                  <a:srgbClr val="1C1A16"/>
                </a:solidFill>
                <a:latin typeface="Consolas"/>
              </a:rPr>
              <a:t>)</a:t>
            </a:r>
            <a:r>
              <a:rPr sz="1250">
                <a:solidFill>
                  <a:srgbClr val="1C1A16"/>
                </a:solidFill>
                <a:latin typeface="Consolas"/>
              </a:rPr>
              <a:t>;</a:t>
            </a:r>
          </a:p>
        </p:txBody>
      </p:sp>
      <p:sp>
        <p:nvSpPr>
          <p:cNvPr id="15" name="Rounded Rectangle 14"/>
          <p:cNvSpPr/>
          <p:nvPr/>
        </p:nvSpPr>
        <p:spPr>
          <a:xfrm>
            <a:off x="749808" y="4526280"/>
            <a:ext cx="457200" cy="457200"/>
          </a:xfrm>
          <a:prstGeom prst="roundRect">
            <a:avLst>
              <a:gd name="adj" fmla="val 30000"/>
            </a:avLst>
          </a:prstGeom>
          <a:solidFill>
            <a:srgbClr val="F5EE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lert-triangle__amber.png"/>
          <p:cNvPicPr>
            <a:picLocks noChangeAspect="1"/>
          </p:cNvPicPr>
          <p:nvPr/>
        </p:nvPicPr>
        <p:blipFill>
          <a:blip r:embed="rId2"/>
          <a:stretch>
            <a:fillRect/>
          </a:stretch>
        </p:blipFill>
        <p:spPr>
          <a:xfrm>
            <a:off x="850391" y="4626864"/>
            <a:ext cx="256032" cy="256032"/>
          </a:xfrm>
          <a:prstGeom prst="rect">
            <a:avLst/>
          </a:prstGeom>
        </p:spPr>
      </p:pic>
      <p:sp>
        <p:nvSpPr>
          <p:cNvPr id="17" name="TextBox 16"/>
          <p:cNvSpPr txBox="1"/>
          <p:nvPr/>
        </p:nvSpPr>
        <p:spPr>
          <a:xfrm>
            <a:off x="749808" y="5111496"/>
            <a:ext cx="3259226" cy="365760"/>
          </a:xfrm>
          <a:prstGeom prst="rect">
            <a:avLst/>
          </a:prstGeom>
          <a:noFill/>
        </p:spPr>
        <p:txBody>
          <a:bodyPr wrap="square" anchor="t" lIns="0" rIns="0" tIns="0" bIns="0">
            <a:spAutoFit/>
          </a:bodyPr>
          <a:lstStyle/>
          <a:p>
            <a:pPr algn="l"/>
            <a:r>
              <a:rPr sz="1300" b="0">
                <a:solidFill>
                  <a:srgbClr val="1C1A16"/>
                </a:solidFill>
                <a:latin typeface="Inter SemiBold"/>
              </a:rPr>
              <a:t>The flaw</a:t>
            </a:r>
          </a:p>
        </p:txBody>
      </p:sp>
      <p:cxnSp>
        <p:nvCxnSpPr>
          <p:cNvPr id="18" name="Connector 17"/>
          <p:cNvCxnSpPr/>
          <p:nvPr/>
        </p:nvCxnSpPr>
        <p:spPr>
          <a:xfrm>
            <a:off x="749808" y="5413248"/>
            <a:ext cx="1368875" cy="0"/>
          </a:xfrm>
          <a:prstGeom prst="line">
            <a:avLst/>
          </a:prstGeom>
          <a:ln w="27940">
            <a:solidFill>
              <a:srgbClr val="B5760C"/>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49808" y="5532120"/>
            <a:ext cx="3259226" cy="1280160"/>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Every entry point imports and names BugTask, FeatureTask, and DocumentationTask directly.</a:t>
            </a:r>
          </a:p>
        </p:txBody>
      </p:sp>
      <p:sp>
        <p:nvSpPr>
          <p:cNvPr id="20" name="Rounded Rectangle 19"/>
          <p:cNvSpPr/>
          <p:nvPr/>
        </p:nvSpPr>
        <p:spPr>
          <a:xfrm>
            <a:off x="4466234" y="4526280"/>
            <a:ext cx="457200" cy="457200"/>
          </a:xfrm>
          <a:prstGeom prst="roundRect">
            <a:avLst>
              <a:gd name="adj" fmla="val 30000"/>
            </a:avLst>
          </a:prstGeom>
          <a:solidFill>
            <a:srgbClr val="F7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git-branch-01__red.png"/>
          <p:cNvPicPr>
            <a:picLocks noChangeAspect="1"/>
          </p:cNvPicPr>
          <p:nvPr/>
        </p:nvPicPr>
        <p:blipFill>
          <a:blip r:embed="rId3"/>
          <a:stretch>
            <a:fillRect/>
          </a:stretch>
        </p:blipFill>
        <p:spPr>
          <a:xfrm>
            <a:off x="4566818" y="4626864"/>
            <a:ext cx="256032" cy="256032"/>
          </a:xfrm>
          <a:prstGeom prst="rect">
            <a:avLst/>
          </a:prstGeom>
        </p:spPr>
      </p:pic>
      <p:sp>
        <p:nvSpPr>
          <p:cNvPr id="22" name="TextBox 21"/>
          <p:cNvSpPr txBox="1"/>
          <p:nvPr/>
        </p:nvSpPr>
        <p:spPr>
          <a:xfrm>
            <a:off x="4466234" y="5111496"/>
            <a:ext cx="3259226" cy="365760"/>
          </a:xfrm>
          <a:prstGeom prst="rect">
            <a:avLst/>
          </a:prstGeom>
          <a:noFill/>
        </p:spPr>
        <p:txBody>
          <a:bodyPr wrap="square" anchor="t" lIns="0" rIns="0" tIns="0" bIns="0">
            <a:spAutoFit/>
          </a:bodyPr>
          <a:lstStyle/>
          <a:p>
            <a:pPr algn="l"/>
            <a:r>
              <a:rPr sz="1300" b="0">
                <a:solidFill>
                  <a:srgbClr val="1C1A16"/>
                </a:solidFill>
                <a:latin typeface="Inter SemiBold"/>
              </a:rPr>
              <a:t>The cost</a:t>
            </a:r>
          </a:p>
        </p:txBody>
      </p:sp>
      <p:cxnSp>
        <p:nvCxnSpPr>
          <p:cNvPr id="23" name="Connector 22"/>
          <p:cNvCxnSpPr/>
          <p:nvPr/>
        </p:nvCxnSpPr>
        <p:spPr>
          <a:xfrm>
            <a:off x="4466234" y="5413248"/>
            <a:ext cx="1368875" cy="0"/>
          </a:xfrm>
          <a:prstGeom prst="line">
            <a:avLst/>
          </a:prstGeom>
          <a:ln w="27940">
            <a:solidFill>
              <a:srgbClr val="BB2D23"/>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466234" y="5532120"/>
            <a:ext cx="3259226" cy="1280160"/>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Adding a fourth type means hunting down and editing every place that builds a task.</a:t>
            </a:r>
          </a:p>
        </p:txBody>
      </p:sp>
      <p:sp>
        <p:nvSpPr>
          <p:cNvPr id="25" name="Rounded Rectangle 24"/>
          <p:cNvSpPr/>
          <p:nvPr/>
        </p:nvSpPr>
        <p:spPr>
          <a:xfrm>
            <a:off x="8182660" y="4526280"/>
            <a:ext cx="457200" cy="457200"/>
          </a:xfrm>
          <a:prstGeom prst="roundRect">
            <a:avLst>
              <a:gd name="adj" fmla="val 30000"/>
            </a:avLst>
          </a:prstGeom>
          <a:solidFill>
            <a:srgbClr val="E6F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magic-wand-01__green.png"/>
          <p:cNvPicPr>
            <a:picLocks noChangeAspect="1"/>
          </p:cNvPicPr>
          <p:nvPr/>
        </p:nvPicPr>
        <p:blipFill>
          <a:blip r:embed="rId4"/>
          <a:stretch>
            <a:fillRect/>
          </a:stretch>
        </p:blipFill>
        <p:spPr>
          <a:xfrm>
            <a:off x="8283244" y="4626864"/>
            <a:ext cx="256032" cy="256032"/>
          </a:xfrm>
          <a:prstGeom prst="rect">
            <a:avLst/>
          </a:prstGeom>
        </p:spPr>
      </p:pic>
      <p:sp>
        <p:nvSpPr>
          <p:cNvPr id="27" name="TextBox 26"/>
          <p:cNvSpPr txBox="1"/>
          <p:nvPr/>
        </p:nvSpPr>
        <p:spPr>
          <a:xfrm>
            <a:off x="8182660" y="5111496"/>
            <a:ext cx="3259226" cy="365760"/>
          </a:xfrm>
          <a:prstGeom prst="rect">
            <a:avLst/>
          </a:prstGeom>
          <a:noFill/>
        </p:spPr>
        <p:txBody>
          <a:bodyPr wrap="square" anchor="t" lIns="0" rIns="0" tIns="0" bIns="0">
            <a:spAutoFit/>
          </a:bodyPr>
          <a:lstStyle/>
          <a:p>
            <a:pPr algn="l"/>
            <a:r>
              <a:rPr sz="1300" b="0">
                <a:solidFill>
                  <a:srgbClr val="1C1A16"/>
                </a:solidFill>
                <a:latin typeface="Inter SemiBold"/>
              </a:rPr>
              <a:t>What we need</a:t>
            </a:r>
          </a:p>
        </p:txBody>
      </p:sp>
      <p:cxnSp>
        <p:nvCxnSpPr>
          <p:cNvPr id="28" name="Connector 27"/>
          <p:cNvCxnSpPr/>
          <p:nvPr/>
        </p:nvCxnSpPr>
        <p:spPr>
          <a:xfrm>
            <a:off x="8182660" y="5413248"/>
            <a:ext cx="1368875" cy="0"/>
          </a:xfrm>
          <a:prstGeom prst="line">
            <a:avLst/>
          </a:prstGeom>
          <a:ln w="27940">
            <a:solidFill>
              <a:srgbClr val="1E7A4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8182660" y="5532120"/>
            <a:ext cx="3259226" cy="1280160"/>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We need to make a task from a type identifier, so the caller never names a concrete class.</a:t>
            </a:r>
          </a:p>
        </p:txBody>
      </p:sp>
      <p:sp>
        <p:nvSpPr>
          <p:cNvPr id="30" name="TextBox 29"/>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31" name="TextBox 30"/>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06 / 32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4A45C7"/>
                </a:solidFill>
                <a:latin typeface="Inter SemiBold"/>
              </a:rPr>
              <a:t>PROBLEM DEFINITION  ·  PROBLEM 2</a:t>
            </a:r>
          </a:p>
        </p:txBody>
      </p:sp>
      <p:sp>
        <p:nvSpPr>
          <p:cNvPr id="4" name="Rounded Rectangle 3"/>
          <p:cNvSpPr/>
          <p:nvPr/>
        </p:nvSpPr>
        <p:spPr>
          <a:xfrm>
            <a:off x="9613087" y="640080"/>
            <a:ext cx="292608" cy="64008"/>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4A45C7"/>
                </a:solidFill>
                <a:latin typeface="Inter SemiBold"/>
              </a:rPr>
              <a:t>SECTION 1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900" b="0">
                <a:solidFill>
                  <a:srgbClr val="1C1A16"/>
                </a:solidFill>
                <a:latin typeface="Spectral SemiBold"/>
              </a:rPr>
              <a:t>Ordering depends on the moment.</a:t>
            </a:r>
          </a:p>
        </p:txBody>
      </p:sp>
      <p:sp>
        <p:nvSpPr>
          <p:cNvPr id="11" name="TextBox 10"/>
          <p:cNvSpPr txBox="1"/>
          <p:nvPr/>
        </p:nvSpPr>
        <p:spPr>
          <a:xfrm>
            <a:off x="749808" y="2066543"/>
            <a:ext cx="9777679" cy="640080"/>
          </a:xfrm>
          <a:prstGeom prst="rect">
            <a:avLst/>
          </a:prstGeom>
          <a:noFill/>
        </p:spPr>
        <p:txBody>
          <a:bodyPr wrap="square" anchor="t" lIns="0" rIns="0" tIns="0" bIns="0">
            <a:spAutoFit/>
          </a:bodyPr>
          <a:lstStyle/>
          <a:p>
            <a:pPr algn="l">
              <a:lnSpc>
                <a:spcPct val="136000"/>
              </a:lnSpc>
            </a:pPr>
            <a:r>
              <a:rPr sz="1300" b="0">
                <a:solidFill>
                  <a:srgbClr val="57534B"/>
                </a:solidFill>
                <a:latin typeface="Inter"/>
              </a:rPr>
              <a:t>The same task list is sorted differently at different times. The list never changes; only the rule does.</a:t>
            </a:r>
          </a:p>
        </p:txBody>
      </p:sp>
      <p:sp>
        <p:nvSpPr>
          <p:cNvPr id="12" name="Rounded Rectangle 11"/>
          <p:cNvSpPr/>
          <p:nvPr/>
        </p:nvSpPr>
        <p:spPr>
          <a:xfrm>
            <a:off x="749808" y="2697480"/>
            <a:ext cx="10692079" cy="1596072"/>
          </a:xfrm>
          <a:prstGeom prst="roundRect">
            <a:avLst>
              <a:gd name="adj" fmla="val 4000"/>
            </a:avLst>
          </a:prstGeom>
          <a:solidFill>
            <a:srgbClr val="F7F4ED"/>
          </a:solidFill>
          <a:ln w="12700">
            <a:solidFill>
              <a:srgbClr val="E7E1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749808" y="2697480"/>
            <a:ext cx="10692079" cy="0"/>
          </a:xfrm>
          <a:prstGeom prst="line">
            <a:avLst/>
          </a:prstGeom>
          <a:ln w="27940">
            <a:solidFill>
              <a:srgbClr val="0E7C72"/>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86384" y="2825496"/>
            <a:ext cx="10618927" cy="1413192"/>
          </a:xfrm>
          <a:prstGeom prst="rect">
            <a:avLst/>
          </a:prstGeom>
          <a:noFill/>
        </p:spPr>
        <p:txBody>
          <a:bodyPr wrap="none" anchor="t" lIns="237744" rIns="164592" tIns="54864" bIns="54864">
            <a:spAutoFit/>
          </a:bodyPr>
          <a:lstStyle/>
          <a:p>
            <a:pPr algn="l">
              <a:lnSpc>
                <a:spcPct val="142000"/>
              </a:lnSpc>
            </a:pPr>
            <a:r>
              <a:rPr sz="1250">
                <a:solidFill>
                  <a:srgbClr val="8250DF"/>
                </a:solidFill>
                <a:latin typeface="Consolas"/>
              </a:rPr>
              <a:t>switch</a:t>
            </a:r>
            <a:r>
              <a:rPr sz="1250">
                <a:solidFill>
                  <a:srgbClr val="1C1A16"/>
                </a:solidFill>
                <a:latin typeface="Consolas"/>
              </a:rPr>
              <a:t> </a:t>
            </a:r>
            <a:r>
              <a:rPr sz="1250">
                <a:solidFill>
                  <a:srgbClr val="1C1A16"/>
                </a:solidFill>
                <a:latin typeface="Consolas"/>
              </a:rPr>
              <a:t>(</a:t>
            </a:r>
            <a:r>
              <a:rPr sz="1250">
                <a:solidFill>
                  <a:srgbClr val="1C1A16"/>
                </a:solidFill>
                <a:latin typeface="Consolas"/>
              </a:rPr>
              <a:t>sortMode</a:t>
            </a:r>
            <a:r>
              <a:rPr sz="1250">
                <a:solidFill>
                  <a:srgbClr val="1C1A16"/>
                </a:solidFill>
                <a:latin typeface="Consolas"/>
              </a:rPr>
              <a:t>)</a:t>
            </a:r>
            <a:r>
              <a:rPr sz="1250">
                <a:solidFill>
                  <a:srgbClr val="1C1A16"/>
                </a:solidFill>
                <a:latin typeface="Consolas"/>
              </a:rPr>
              <a:t> </a:t>
            </a:r>
            <a:r>
              <a:rPr sz="1250">
                <a:solidFill>
                  <a:srgbClr val="1C1A16"/>
                </a:solidFill>
                <a:latin typeface="Consolas"/>
              </a:rPr>
              <a:t>{</a:t>
            </a:r>
          </a:p>
          <a:p>
            <a:pPr algn="l">
              <a:lnSpc>
                <a:spcPct val="142000"/>
              </a:lnSpc>
            </a:pPr>
            <a:r>
              <a:rPr sz="1250">
                <a:solidFill>
                  <a:srgbClr val="1C1A16"/>
                </a:solidFill>
                <a:latin typeface="Consolas"/>
              </a:rPr>
              <a:t>    </a:t>
            </a:r>
            <a:r>
              <a:rPr sz="1250">
                <a:solidFill>
                  <a:srgbClr val="8250DF"/>
                </a:solidFill>
                <a:latin typeface="Consolas"/>
              </a:rPr>
              <a:t>case</a:t>
            </a:r>
            <a:r>
              <a:rPr sz="1250">
                <a:solidFill>
                  <a:srgbClr val="1C1A16"/>
                </a:solidFill>
                <a:latin typeface="Consolas"/>
              </a:rPr>
              <a:t> </a:t>
            </a:r>
            <a:r>
              <a:rPr sz="1250">
                <a:solidFill>
                  <a:srgbClr val="0550AE"/>
                </a:solidFill>
                <a:latin typeface="Consolas"/>
              </a:rPr>
              <a:t>DEADLINE</a:t>
            </a:r>
            <a:r>
              <a:rPr sz="1250">
                <a:solidFill>
                  <a:srgbClr val="1C1A16"/>
                </a:solidFill>
                <a:latin typeface="Consolas"/>
              </a:rPr>
              <a:t>:</a:t>
            </a:r>
            <a:r>
              <a:rPr sz="1250">
                <a:solidFill>
                  <a:srgbClr val="1C1A16"/>
                </a:solidFill>
                <a:latin typeface="Consolas"/>
              </a:rPr>
              <a:t> </a:t>
            </a:r>
            <a:r>
              <a:rPr sz="1250">
                <a:solidFill>
                  <a:srgbClr val="1C1A16"/>
                </a:solidFill>
                <a:latin typeface="Consolas"/>
              </a:rPr>
              <a:t>/</a:t>
            </a:r>
            <a:r>
              <a:rPr sz="1250">
                <a:solidFill>
                  <a:srgbClr val="1C1A16"/>
                </a:solidFill>
                <a:latin typeface="Consolas"/>
              </a:rPr>
              <a:t>*</a:t>
            </a:r>
            <a:r>
              <a:rPr sz="1250">
                <a:solidFill>
                  <a:srgbClr val="1C1A16"/>
                </a:solidFill>
                <a:latin typeface="Consolas"/>
              </a:rPr>
              <a:t> </a:t>
            </a:r>
            <a:r>
              <a:rPr sz="1250">
                <a:solidFill>
                  <a:srgbClr val="1C1A16"/>
                </a:solidFill>
                <a:latin typeface="Consolas"/>
              </a:rPr>
              <a:t>sort</a:t>
            </a:r>
            <a:r>
              <a:rPr sz="1250">
                <a:solidFill>
                  <a:srgbClr val="1C1A16"/>
                </a:solidFill>
                <a:latin typeface="Consolas"/>
              </a:rPr>
              <a:t> </a:t>
            </a:r>
            <a:r>
              <a:rPr sz="1250">
                <a:solidFill>
                  <a:srgbClr val="1C1A16"/>
                </a:solidFill>
                <a:latin typeface="Consolas"/>
              </a:rPr>
              <a:t>by</a:t>
            </a:r>
            <a:r>
              <a:rPr sz="1250">
                <a:solidFill>
                  <a:srgbClr val="1C1A16"/>
                </a:solidFill>
                <a:latin typeface="Consolas"/>
              </a:rPr>
              <a:t> </a:t>
            </a:r>
            <a:r>
              <a:rPr sz="1250">
                <a:solidFill>
                  <a:srgbClr val="1C1A16"/>
                </a:solidFill>
                <a:latin typeface="Consolas"/>
              </a:rPr>
              <a:t>due</a:t>
            </a:r>
            <a:r>
              <a:rPr sz="1250">
                <a:solidFill>
                  <a:srgbClr val="1C1A16"/>
                </a:solidFill>
                <a:latin typeface="Consolas"/>
              </a:rPr>
              <a:t> </a:t>
            </a:r>
            <a:r>
              <a:rPr sz="1250">
                <a:solidFill>
                  <a:srgbClr val="1C1A16"/>
                </a:solidFill>
                <a:latin typeface="Consolas"/>
              </a:rPr>
              <a:t>date</a:t>
            </a:r>
            <a:r>
              <a:rPr sz="1250">
                <a:solidFill>
                  <a:srgbClr val="1C1A16"/>
                </a:solidFill>
                <a:latin typeface="Consolas"/>
              </a:rPr>
              <a:t>   </a:t>
            </a:r>
            <a:r>
              <a:rPr sz="1250">
                <a:solidFill>
                  <a:srgbClr val="1C1A16"/>
                </a:solidFill>
                <a:latin typeface="Consolas"/>
              </a:rPr>
              <a:t>*</a:t>
            </a:r>
            <a:r>
              <a:rPr sz="1250">
                <a:solidFill>
                  <a:srgbClr val="1C1A16"/>
                </a:solidFill>
                <a:latin typeface="Consolas"/>
              </a:rPr>
              <a:t>/</a:t>
            </a:r>
            <a:r>
              <a:rPr sz="1250">
                <a:solidFill>
                  <a:srgbClr val="1C1A16"/>
                </a:solidFill>
                <a:latin typeface="Consolas"/>
              </a:rPr>
              <a:t> </a:t>
            </a:r>
            <a:r>
              <a:rPr sz="1250">
                <a:solidFill>
                  <a:srgbClr val="1C1A16"/>
                </a:solidFill>
                <a:latin typeface="Consolas"/>
              </a:rPr>
              <a:t>break</a:t>
            </a:r>
            <a:r>
              <a:rPr sz="1250">
                <a:solidFill>
                  <a:srgbClr val="1C1A16"/>
                </a:solidFill>
                <a:latin typeface="Consolas"/>
              </a:rPr>
              <a:t>;</a:t>
            </a:r>
          </a:p>
          <a:p>
            <a:pPr algn="l">
              <a:lnSpc>
                <a:spcPct val="142000"/>
              </a:lnSpc>
            </a:pPr>
            <a:r>
              <a:rPr sz="1250">
                <a:solidFill>
                  <a:srgbClr val="1C1A16"/>
                </a:solidFill>
                <a:latin typeface="Consolas"/>
              </a:rPr>
              <a:t>    </a:t>
            </a:r>
            <a:r>
              <a:rPr sz="1250">
                <a:solidFill>
                  <a:srgbClr val="8250DF"/>
                </a:solidFill>
                <a:latin typeface="Consolas"/>
              </a:rPr>
              <a:t>case</a:t>
            </a:r>
            <a:r>
              <a:rPr sz="1250">
                <a:solidFill>
                  <a:srgbClr val="1C1A16"/>
                </a:solidFill>
                <a:latin typeface="Consolas"/>
              </a:rPr>
              <a:t> </a:t>
            </a:r>
            <a:r>
              <a:rPr sz="1250">
                <a:solidFill>
                  <a:srgbClr val="0550AE"/>
                </a:solidFill>
                <a:latin typeface="Consolas"/>
              </a:rPr>
              <a:t>SEVERITY</a:t>
            </a:r>
            <a:r>
              <a:rPr sz="1250">
                <a:solidFill>
                  <a:srgbClr val="1C1A16"/>
                </a:solidFill>
                <a:latin typeface="Consolas"/>
              </a:rPr>
              <a:t>:</a:t>
            </a:r>
            <a:r>
              <a:rPr sz="1250">
                <a:solidFill>
                  <a:srgbClr val="1C1A16"/>
                </a:solidFill>
                <a:latin typeface="Consolas"/>
              </a:rPr>
              <a:t> </a:t>
            </a:r>
            <a:r>
              <a:rPr sz="1250">
                <a:solidFill>
                  <a:srgbClr val="1C1A16"/>
                </a:solidFill>
                <a:latin typeface="Consolas"/>
              </a:rPr>
              <a:t>/</a:t>
            </a:r>
            <a:r>
              <a:rPr sz="1250">
                <a:solidFill>
                  <a:srgbClr val="1C1A16"/>
                </a:solidFill>
                <a:latin typeface="Consolas"/>
              </a:rPr>
              <a:t>*</a:t>
            </a:r>
            <a:r>
              <a:rPr sz="1250">
                <a:solidFill>
                  <a:srgbClr val="1C1A16"/>
                </a:solidFill>
                <a:latin typeface="Consolas"/>
              </a:rPr>
              <a:t> </a:t>
            </a:r>
            <a:r>
              <a:rPr sz="1250">
                <a:solidFill>
                  <a:srgbClr val="1C1A16"/>
                </a:solidFill>
                <a:latin typeface="Consolas"/>
              </a:rPr>
              <a:t>bugs</a:t>
            </a:r>
            <a:r>
              <a:rPr sz="1250">
                <a:solidFill>
                  <a:srgbClr val="1C1A16"/>
                </a:solidFill>
                <a:latin typeface="Consolas"/>
              </a:rPr>
              <a:t> </a:t>
            </a:r>
            <a:r>
              <a:rPr sz="1250">
                <a:solidFill>
                  <a:srgbClr val="1C1A16"/>
                </a:solidFill>
                <a:latin typeface="Consolas"/>
              </a:rPr>
              <a:t>first</a:t>
            </a:r>
            <a:r>
              <a:rPr sz="1250">
                <a:solidFill>
                  <a:srgbClr val="1C1A16"/>
                </a:solidFill>
                <a:latin typeface="Consolas"/>
              </a:rPr>
              <a:t>,</a:t>
            </a:r>
            <a:r>
              <a:rPr sz="1250">
                <a:solidFill>
                  <a:srgbClr val="1C1A16"/>
                </a:solidFill>
                <a:latin typeface="Consolas"/>
              </a:rPr>
              <a:t> </a:t>
            </a:r>
            <a:r>
              <a:rPr sz="1250">
                <a:solidFill>
                  <a:srgbClr val="1C1A16"/>
                </a:solidFill>
                <a:latin typeface="Consolas"/>
              </a:rPr>
              <a:t>by</a:t>
            </a:r>
            <a:r>
              <a:rPr sz="1250">
                <a:solidFill>
                  <a:srgbClr val="1C1A16"/>
                </a:solidFill>
                <a:latin typeface="Consolas"/>
              </a:rPr>
              <a:t> </a:t>
            </a:r>
            <a:r>
              <a:rPr sz="1250">
                <a:solidFill>
                  <a:srgbClr val="1C1A16"/>
                </a:solidFill>
                <a:latin typeface="Consolas"/>
              </a:rPr>
              <a:t>rank</a:t>
            </a:r>
            <a:r>
              <a:rPr sz="1250">
                <a:solidFill>
                  <a:srgbClr val="1C1A16"/>
                </a:solidFill>
                <a:latin typeface="Consolas"/>
              </a:rPr>
              <a:t> </a:t>
            </a:r>
            <a:r>
              <a:rPr sz="1250">
                <a:solidFill>
                  <a:srgbClr val="1C1A16"/>
                </a:solidFill>
                <a:latin typeface="Consolas"/>
              </a:rPr>
              <a:t>*</a:t>
            </a:r>
            <a:r>
              <a:rPr sz="1250">
                <a:solidFill>
                  <a:srgbClr val="1C1A16"/>
                </a:solidFill>
                <a:latin typeface="Consolas"/>
              </a:rPr>
              <a:t>/</a:t>
            </a:r>
            <a:r>
              <a:rPr sz="1250">
                <a:solidFill>
                  <a:srgbClr val="1C1A16"/>
                </a:solidFill>
                <a:latin typeface="Consolas"/>
              </a:rPr>
              <a:t> </a:t>
            </a:r>
            <a:r>
              <a:rPr sz="1250">
                <a:solidFill>
                  <a:srgbClr val="1C1A16"/>
                </a:solidFill>
                <a:latin typeface="Consolas"/>
              </a:rPr>
              <a:t>break</a:t>
            </a:r>
            <a:r>
              <a:rPr sz="1250">
                <a:solidFill>
                  <a:srgbClr val="1C1A16"/>
                </a:solidFill>
                <a:latin typeface="Consolas"/>
              </a:rPr>
              <a:t>;</a:t>
            </a:r>
          </a:p>
          <a:p>
            <a:pPr algn="l">
              <a:lnSpc>
                <a:spcPct val="142000"/>
              </a:lnSpc>
            </a:pPr>
            <a:r>
              <a:rPr sz="1250">
                <a:solidFill>
                  <a:srgbClr val="1C1A16"/>
                </a:solidFill>
                <a:latin typeface="Consolas"/>
              </a:rPr>
              <a:t>    </a:t>
            </a:r>
            <a:r>
              <a:rPr sz="1250">
                <a:solidFill>
                  <a:srgbClr val="8250DF"/>
                </a:solidFill>
                <a:latin typeface="Consolas"/>
              </a:rPr>
              <a:t>case</a:t>
            </a:r>
            <a:r>
              <a:rPr sz="1250">
                <a:solidFill>
                  <a:srgbClr val="1C1A16"/>
                </a:solidFill>
                <a:latin typeface="Consolas"/>
              </a:rPr>
              <a:t> </a:t>
            </a:r>
            <a:r>
              <a:rPr sz="1250">
                <a:solidFill>
                  <a:srgbClr val="0550AE"/>
                </a:solidFill>
                <a:latin typeface="Consolas"/>
              </a:rPr>
              <a:t>URGENT</a:t>
            </a:r>
            <a:r>
              <a:rPr sz="1250">
                <a:solidFill>
                  <a:srgbClr val="1C1A16"/>
                </a:solidFill>
                <a:latin typeface="Consolas"/>
              </a:rPr>
              <a:t>:</a:t>
            </a:r>
            <a:r>
              <a:rPr sz="1250">
                <a:solidFill>
                  <a:srgbClr val="1C1A16"/>
                </a:solidFill>
                <a:latin typeface="Consolas"/>
              </a:rPr>
              <a:t>   </a:t>
            </a:r>
            <a:r>
              <a:rPr sz="1250">
                <a:solidFill>
                  <a:srgbClr val="1C1A16"/>
                </a:solidFill>
                <a:latin typeface="Consolas"/>
              </a:rPr>
              <a:t>/</a:t>
            </a:r>
            <a:r>
              <a:rPr sz="1250">
                <a:solidFill>
                  <a:srgbClr val="1C1A16"/>
                </a:solidFill>
                <a:latin typeface="Consolas"/>
              </a:rPr>
              <a:t>*</a:t>
            </a:r>
            <a:r>
              <a:rPr sz="1250">
                <a:solidFill>
                  <a:srgbClr val="1C1A16"/>
                </a:solidFill>
                <a:latin typeface="Consolas"/>
              </a:rPr>
              <a:t> </a:t>
            </a:r>
            <a:r>
              <a:rPr sz="1250">
                <a:solidFill>
                  <a:srgbClr val="1C1A16"/>
                </a:solidFill>
                <a:latin typeface="Consolas"/>
              </a:rPr>
              <a:t>sort</a:t>
            </a:r>
            <a:r>
              <a:rPr sz="1250">
                <a:solidFill>
                  <a:srgbClr val="1C1A16"/>
                </a:solidFill>
                <a:latin typeface="Consolas"/>
              </a:rPr>
              <a:t> </a:t>
            </a:r>
            <a:r>
              <a:rPr sz="1250">
                <a:solidFill>
                  <a:srgbClr val="1C1A16"/>
                </a:solidFill>
                <a:latin typeface="Consolas"/>
              </a:rPr>
              <a:t>by</a:t>
            </a:r>
            <a:r>
              <a:rPr sz="1250">
                <a:solidFill>
                  <a:srgbClr val="1C1A16"/>
                </a:solidFill>
                <a:latin typeface="Consolas"/>
              </a:rPr>
              <a:t> </a:t>
            </a:r>
            <a:r>
              <a:rPr sz="1250">
                <a:solidFill>
                  <a:srgbClr val="1C1A16"/>
                </a:solidFill>
                <a:latin typeface="Consolas"/>
              </a:rPr>
              <a:t>priority</a:t>
            </a:r>
            <a:r>
              <a:rPr sz="1250">
                <a:solidFill>
                  <a:srgbClr val="1C1A16"/>
                </a:solidFill>
                <a:latin typeface="Consolas"/>
              </a:rPr>
              <a:t>    </a:t>
            </a:r>
            <a:r>
              <a:rPr sz="1250">
                <a:solidFill>
                  <a:srgbClr val="1C1A16"/>
                </a:solidFill>
                <a:latin typeface="Consolas"/>
              </a:rPr>
              <a:t>*</a:t>
            </a:r>
            <a:r>
              <a:rPr sz="1250">
                <a:solidFill>
                  <a:srgbClr val="1C1A16"/>
                </a:solidFill>
                <a:latin typeface="Consolas"/>
              </a:rPr>
              <a:t>/</a:t>
            </a:r>
            <a:r>
              <a:rPr sz="1250">
                <a:solidFill>
                  <a:srgbClr val="1C1A16"/>
                </a:solidFill>
                <a:latin typeface="Consolas"/>
              </a:rPr>
              <a:t> </a:t>
            </a:r>
            <a:r>
              <a:rPr sz="1250">
                <a:solidFill>
                  <a:srgbClr val="1C1A16"/>
                </a:solidFill>
                <a:latin typeface="Consolas"/>
              </a:rPr>
              <a:t>break</a:t>
            </a:r>
            <a:r>
              <a:rPr sz="1250">
                <a:solidFill>
                  <a:srgbClr val="1C1A16"/>
                </a:solidFill>
                <a:latin typeface="Consolas"/>
              </a:rPr>
              <a:t>;</a:t>
            </a:r>
          </a:p>
          <a:p>
            <a:pPr algn="l">
              <a:lnSpc>
                <a:spcPct val="142000"/>
              </a:lnSpc>
            </a:pPr>
            <a:r>
              <a:rPr sz="1250">
                <a:solidFill>
                  <a:srgbClr val="1C1A16"/>
                </a:solidFill>
                <a:latin typeface="Consolas"/>
              </a:rPr>
              <a:t>}</a:t>
            </a:r>
          </a:p>
        </p:txBody>
      </p:sp>
      <p:sp>
        <p:nvSpPr>
          <p:cNvPr id="15" name="Rounded Rectangle 14"/>
          <p:cNvSpPr/>
          <p:nvPr/>
        </p:nvSpPr>
        <p:spPr>
          <a:xfrm>
            <a:off x="749808" y="4590288"/>
            <a:ext cx="457200" cy="457200"/>
          </a:xfrm>
          <a:prstGeom prst="roundRect">
            <a:avLst>
              <a:gd name="adj" fmla="val 30000"/>
            </a:avLst>
          </a:prstGeom>
          <a:solidFill>
            <a:srgbClr val="F5EE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lert-triangle__amber.png"/>
          <p:cNvPicPr>
            <a:picLocks noChangeAspect="1"/>
          </p:cNvPicPr>
          <p:nvPr/>
        </p:nvPicPr>
        <p:blipFill>
          <a:blip r:embed="rId2"/>
          <a:stretch>
            <a:fillRect/>
          </a:stretch>
        </p:blipFill>
        <p:spPr>
          <a:xfrm>
            <a:off x="850391" y="4690872"/>
            <a:ext cx="256032" cy="256032"/>
          </a:xfrm>
          <a:prstGeom prst="rect">
            <a:avLst/>
          </a:prstGeom>
        </p:spPr>
      </p:pic>
      <p:sp>
        <p:nvSpPr>
          <p:cNvPr id="17" name="TextBox 16"/>
          <p:cNvSpPr txBox="1"/>
          <p:nvPr/>
        </p:nvSpPr>
        <p:spPr>
          <a:xfrm>
            <a:off x="749808" y="5175503"/>
            <a:ext cx="3259226" cy="365760"/>
          </a:xfrm>
          <a:prstGeom prst="rect">
            <a:avLst/>
          </a:prstGeom>
          <a:noFill/>
        </p:spPr>
        <p:txBody>
          <a:bodyPr wrap="square" anchor="t" lIns="0" rIns="0" tIns="0" bIns="0">
            <a:spAutoFit/>
          </a:bodyPr>
          <a:lstStyle/>
          <a:p>
            <a:pPr algn="l"/>
            <a:r>
              <a:rPr sz="1300" b="0">
                <a:solidFill>
                  <a:srgbClr val="1C1A16"/>
                </a:solidFill>
                <a:latin typeface="Inter SemiBold"/>
              </a:rPr>
              <a:t>The flaw</a:t>
            </a:r>
          </a:p>
        </p:txBody>
      </p:sp>
      <p:cxnSp>
        <p:nvCxnSpPr>
          <p:cNvPr id="18" name="Connector 17"/>
          <p:cNvCxnSpPr/>
          <p:nvPr/>
        </p:nvCxnSpPr>
        <p:spPr>
          <a:xfrm>
            <a:off x="749808" y="5477255"/>
            <a:ext cx="1368875" cy="0"/>
          </a:xfrm>
          <a:prstGeom prst="line">
            <a:avLst/>
          </a:prstGeom>
          <a:ln w="27940">
            <a:solidFill>
              <a:srgbClr val="B5760C"/>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49808" y="5596127"/>
            <a:ext cx="3259226" cy="1280160"/>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One switch statement inside the manager grows to carry every ordering rule.</a:t>
            </a:r>
          </a:p>
        </p:txBody>
      </p:sp>
      <p:sp>
        <p:nvSpPr>
          <p:cNvPr id="20" name="Rounded Rectangle 19"/>
          <p:cNvSpPr/>
          <p:nvPr/>
        </p:nvSpPr>
        <p:spPr>
          <a:xfrm>
            <a:off x="4466234" y="4590288"/>
            <a:ext cx="457200" cy="457200"/>
          </a:xfrm>
          <a:prstGeom prst="roundRect">
            <a:avLst>
              <a:gd name="adj" fmla="val 30000"/>
            </a:avLst>
          </a:prstGeom>
          <a:solidFill>
            <a:srgbClr val="F7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git-branch-01__red.png"/>
          <p:cNvPicPr>
            <a:picLocks noChangeAspect="1"/>
          </p:cNvPicPr>
          <p:nvPr/>
        </p:nvPicPr>
        <p:blipFill>
          <a:blip r:embed="rId3"/>
          <a:stretch>
            <a:fillRect/>
          </a:stretch>
        </p:blipFill>
        <p:spPr>
          <a:xfrm>
            <a:off x="4566818" y="4690872"/>
            <a:ext cx="256032" cy="256032"/>
          </a:xfrm>
          <a:prstGeom prst="rect">
            <a:avLst/>
          </a:prstGeom>
        </p:spPr>
      </p:pic>
      <p:sp>
        <p:nvSpPr>
          <p:cNvPr id="22" name="TextBox 21"/>
          <p:cNvSpPr txBox="1"/>
          <p:nvPr/>
        </p:nvSpPr>
        <p:spPr>
          <a:xfrm>
            <a:off x="4466234" y="5175503"/>
            <a:ext cx="3259226" cy="365760"/>
          </a:xfrm>
          <a:prstGeom prst="rect">
            <a:avLst/>
          </a:prstGeom>
          <a:noFill/>
        </p:spPr>
        <p:txBody>
          <a:bodyPr wrap="square" anchor="t" lIns="0" rIns="0" tIns="0" bIns="0">
            <a:spAutoFit/>
          </a:bodyPr>
          <a:lstStyle/>
          <a:p>
            <a:pPr algn="l"/>
            <a:r>
              <a:rPr sz="1300" b="0">
                <a:solidFill>
                  <a:srgbClr val="1C1A16"/>
                </a:solidFill>
                <a:latin typeface="Inter SemiBold"/>
              </a:rPr>
              <a:t>The cost</a:t>
            </a:r>
          </a:p>
        </p:txBody>
      </p:sp>
      <p:cxnSp>
        <p:nvCxnSpPr>
          <p:cNvPr id="23" name="Connector 22"/>
          <p:cNvCxnSpPr/>
          <p:nvPr/>
        </p:nvCxnSpPr>
        <p:spPr>
          <a:xfrm>
            <a:off x="4466234" y="5477255"/>
            <a:ext cx="1368875" cy="0"/>
          </a:xfrm>
          <a:prstGeom prst="line">
            <a:avLst/>
          </a:prstGeom>
          <a:ln w="27940">
            <a:solidFill>
              <a:srgbClr val="BB2D23"/>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466234" y="5596127"/>
            <a:ext cx="3259226" cy="1280160"/>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Each new context edits tested code, which breaks the Open/Closed principle.</a:t>
            </a:r>
          </a:p>
        </p:txBody>
      </p:sp>
      <p:sp>
        <p:nvSpPr>
          <p:cNvPr id="25" name="Rounded Rectangle 24"/>
          <p:cNvSpPr/>
          <p:nvPr/>
        </p:nvSpPr>
        <p:spPr>
          <a:xfrm>
            <a:off x="8182660" y="4590288"/>
            <a:ext cx="457200" cy="457200"/>
          </a:xfrm>
          <a:prstGeom prst="roundRect">
            <a:avLst>
              <a:gd name="adj" fmla="val 30000"/>
            </a:avLst>
          </a:prstGeom>
          <a:solidFill>
            <a:srgbClr val="E6F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magic-wand-01__green.png"/>
          <p:cNvPicPr>
            <a:picLocks noChangeAspect="1"/>
          </p:cNvPicPr>
          <p:nvPr/>
        </p:nvPicPr>
        <p:blipFill>
          <a:blip r:embed="rId4"/>
          <a:stretch>
            <a:fillRect/>
          </a:stretch>
        </p:blipFill>
        <p:spPr>
          <a:xfrm>
            <a:off x="8283244" y="4690872"/>
            <a:ext cx="256032" cy="256032"/>
          </a:xfrm>
          <a:prstGeom prst="rect">
            <a:avLst/>
          </a:prstGeom>
        </p:spPr>
      </p:pic>
      <p:sp>
        <p:nvSpPr>
          <p:cNvPr id="27" name="TextBox 26"/>
          <p:cNvSpPr txBox="1"/>
          <p:nvPr/>
        </p:nvSpPr>
        <p:spPr>
          <a:xfrm>
            <a:off x="8182660" y="5175503"/>
            <a:ext cx="3259226" cy="365760"/>
          </a:xfrm>
          <a:prstGeom prst="rect">
            <a:avLst/>
          </a:prstGeom>
          <a:noFill/>
        </p:spPr>
        <p:txBody>
          <a:bodyPr wrap="square" anchor="t" lIns="0" rIns="0" tIns="0" bIns="0">
            <a:spAutoFit/>
          </a:bodyPr>
          <a:lstStyle/>
          <a:p>
            <a:pPr algn="l"/>
            <a:r>
              <a:rPr sz="1300" b="0">
                <a:solidFill>
                  <a:srgbClr val="1C1A16"/>
                </a:solidFill>
                <a:latin typeface="Inter SemiBold"/>
              </a:rPr>
              <a:t>What we need</a:t>
            </a:r>
          </a:p>
        </p:txBody>
      </p:sp>
      <p:cxnSp>
        <p:nvCxnSpPr>
          <p:cNvPr id="28" name="Connector 27"/>
          <p:cNvCxnSpPr/>
          <p:nvPr/>
        </p:nvCxnSpPr>
        <p:spPr>
          <a:xfrm>
            <a:off x="8182660" y="5477255"/>
            <a:ext cx="1368875" cy="0"/>
          </a:xfrm>
          <a:prstGeom prst="line">
            <a:avLst/>
          </a:prstGeom>
          <a:ln w="27940">
            <a:solidFill>
              <a:srgbClr val="1E7A4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8182660" y="5596127"/>
            <a:ext cx="3259226" cy="1280160"/>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The ordering should swap at runtime, and new orderings should drop in without touching the manager.</a:t>
            </a:r>
          </a:p>
        </p:txBody>
      </p:sp>
      <p:sp>
        <p:nvSpPr>
          <p:cNvPr id="30" name="TextBox 29"/>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31" name="TextBox 30"/>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07 / 32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7C3AED"/>
        </a:solidFill>
        <a:effectLst/>
      </p:bgPr>
    </p:bg>
    <p:spTree>
      <p:nvGrpSpPr>
        <p:cNvPr id="1" name=""/>
        <p:cNvGrpSpPr/>
        <p:nvPr/>
      </p:nvGrpSpPr>
      <p:grpSpPr/>
      <p:sp>
        <p:nvSpPr>
          <p:cNvPr id="2" name="TextBox 1"/>
          <p:cNvSpPr txBox="1"/>
          <p:nvPr/>
        </p:nvSpPr>
        <p:spPr>
          <a:xfrm>
            <a:off x="749808" y="603504"/>
            <a:ext cx="8229600" cy="274320"/>
          </a:xfrm>
          <a:prstGeom prst="rect">
            <a:avLst/>
          </a:prstGeom>
          <a:noFill/>
        </p:spPr>
        <p:txBody>
          <a:bodyPr wrap="square" anchor="t" lIns="0" rIns="0" tIns="0" bIns="0">
            <a:spAutoFit/>
          </a:bodyPr>
          <a:lstStyle/>
          <a:p>
            <a:pPr algn="l"/>
            <a:r>
              <a:rPr sz="1100" b="1" spc="280">
                <a:solidFill>
                  <a:srgbClr val="FFFFFF"/>
                </a:solidFill>
                <a:latin typeface="Inter SemiBold"/>
              </a:rPr>
              <a:t>SECTION 02</a:t>
            </a:r>
          </a:p>
        </p:txBody>
      </p:sp>
      <p:sp>
        <p:nvSpPr>
          <p:cNvPr id="3" name="Rounded Rectangle 2"/>
          <p:cNvSpPr/>
          <p:nvPr/>
        </p:nvSpPr>
        <p:spPr>
          <a:xfrm>
            <a:off x="9613087" y="640080"/>
            <a:ext cx="292608" cy="64008"/>
          </a:xfrm>
          <a:prstGeom prst="roundRect">
            <a:avLst>
              <a:gd name="adj" fmla="val 50000"/>
            </a:avLst>
          </a:prstGeom>
          <a:solidFill>
            <a:srgbClr val="A37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997135" y="640080"/>
            <a:ext cx="292608" cy="640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381183" y="640080"/>
            <a:ext cx="292608" cy="64008"/>
          </a:xfrm>
          <a:prstGeom prst="roundRect">
            <a:avLst>
              <a:gd name="adj" fmla="val 50000"/>
            </a:avLst>
          </a:prstGeom>
          <a:solidFill>
            <a:srgbClr val="A37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765231" y="640080"/>
            <a:ext cx="292608" cy="64008"/>
          </a:xfrm>
          <a:prstGeom prst="roundRect">
            <a:avLst>
              <a:gd name="adj" fmla="val 50000"/>
            </a:avLst>
          </a:prstGeom>
          <a:solidFill>
            <a:srgbClr val="A37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1149279" y="640080"/>
            <a:ext cx="292608" cy="64008"/>
          </a:xfrm>
          <a:prstGeom prst="roundRect">
            <a:avLst>
              <a:gd name="adj" fmla="val 50000"/>
            </a:avLst>
          </a:prstGeom>
          <a:solidFill>
            <a:srgbClr val="A37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E7DCFC"/>
                </a:solidFill>
                <a:latin typeface="Inter SemiBold"/>
              </a:rPr>
              <a:t>SECTION 2 / 5</a:t>
            </a:r>
          </a:p>
        </p:txBody>
      </p:sp>
      <p:pic>
        <p:nvPicPr>
          <p:cNvPr id="9" name="Picture 8" descr="puzzle-piece-01__white.png"/>
          <p:cNvPicPr>
            <a:picLocks noChangeAspect="1"/>
          </p:cNvPicPr>
          <p:nvPr/>
        </p:nvPicPr>
        <p:blipFill>
          <a:blip r:embed="rId2"/>
          <a:stretch>
            <a:fillRect/>
          </a:stretch>
        </p:blipFill>
        <p:spPr>
          <a:xfrm>
            <a:off x="9590227" y="1165860"/>
            <a:ext cx="1417320" cy="1417320"/>
          </a:xfrm>
          <a:prstGeom prst="rect">
            <a:avLst/>
          </a:prstGeom>
        </p:spPr>
      </p:pic>
      <p:cxnSp>
        <p:nvCxnSpPr>
          <p:cNvPr id="10" name="Connector 9"/>
          <p:cNvCxnSpPr/>
          <p:nvPr/>
        </p:nvCxnSpPr>
        <p:spPr>
          <a:xfrm>
            <a:off x="749808" y="3017520"/>
            <a:ext cx="10692079" cy="0"/>
          </a:xfrm>
          <a:prstGeom prst="line">
            <a:avLst/>
          </a:prstGeom>
          <a:ln w="20320">
            <a:solidFill>
              <a:srgbClr val="BB99F6"/>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49808" y="3291840"/>
            <a:ext cx="9411919" cy="1280160"/>
          </a:xfrm>
          <a:prstGeom prst="rect">
            <a:avLst/>
          </a:prstGeom>
          <a:noFill/>
        </p:spPr>
        <p:txBody>
          <a:bodyPr wrap="square" anchor="t" lIns="0" rIns="0" tIns="0" bIns="0">
            <a:spAutoFit/>
          </a:bodyPr>
          <a:lstStyle/>
          <a:p>
            <a:pPr algn="l">
              <a:lnSpc>
                <a:spcPct val="105000"/>
              </a:lnSpc>
            </a:pPr>
            <a:r>
              <a:rPr sz="3700" b="0">
                <a:solidFill>
                  <a:srgbClr val="FFFFFF"/>
                </a:solidFill>
                <a:latin typeface="Spectral SemiBold"/>
              </a:rPr>
              <a:t>The design patterns.</a:t>
            </a:r>
          </a:p>
        </p:txBody>
      </p:sp>
      <p:sp>
        <p:nvSpPr>
          <p:cNvPr id="12" name="TextBox 11"/>
          <p:cNvSpPr txBox="1"/>
          <p:nvPr/>
        </p:nvSpPr>
        <p:spPr>
          <a:xfrm>
            <a:off x="749808" y="4370832"/>
            <a:ext cx="8680399" cy="914400"/>
          </a:xfrm>
          <a:prstGeom prst="rect">
            <a:avLst/>
          </a:prstGeom>
          <a:noFill/>
        </p:spPr>
        <p:txBody>
          <a:bodyPr wrap="square" anchor="t" lIns="0" rIns="0" tIns="0" bIns="0">
            <a:spAutoFit/>
          </a:bodyPr>
          <a:lstStyle/>
          <a:p>
            <a:pPr algn="l">
              <a:lnSpc>
                <a:spcPct val="142000"/>
              </a:lnSpc>
            </a:pPr>
            <a:r>
              <a:rPr sz="1400" b="0">
                <a:solidFill>
                  <a:srgbClr val="E7DCFC"/>
                </a:solidFill>
                <a:latin typeface="Inter"/>
              </a:rPr>
              <a:t>Two patterns chosen to match the two problems, plus a third that the task lifecycle gave us at no extra cost.</a:t>
            </a:r>
          </a:p>
        </p:txBody>
      </p:sp>
      <p:sp>
        <p:nvSpPr>
          <p:cNvPr id="13" name="Rounded Rectangle 12"/>
          <p:cNvSpPr/>
          <p:nvPr/>
        </p:nvSpPr>
        <p:spPr>
          <a:xfrm>
            <a:off x="749808" y="5596128"/>
            <a:ext cx="6382512" cy="493776"/>
          </a:xfrm>
          <a:prstGeom prst="roundRect">
            <a:avLst>
              <a:gd name="adj" fmla="val 1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24127" y="5797296"/>
            <a:ext cx="237744" cy="91440"/>
          </a:xfrm>
          <a:prstGeom prst="roundRect">
            <a:avLst>
              <a:gd name="adj" fmla="val 50000"/>
            </a:avLst>
          </a:prstGeom>
          <a:solidFill>
            <a:srgbClr val="BC5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53312" y="5678424"/>
            <a:ext cx="2743200" cy="329184"/>
          </a:xfrm>
          <a:prstGeom prst="rect">
            <a:avLst/>
          </a:prstGeom>
          <a:noFill/>
        </p:spPr>
        <p:txBody>
          <a:bodyPr wrap="square" anchor="t" lIns="0" rIns="0" tIns="0" bIns="0">
            <a:spAutoFit/>
          </a:bodyPr>
          <a:lstStyle/>
          <a:p>
            <a:pPr algn="l"/>
            <a:r>
              <a:rPr sz="1150" b="0">
                <a:solidFill>
                  <a:srgbClr val="1C1A16"/>
                </a:solidFill>
                <a:latin typeface="Inter SemiBold"/>
              </a:rPr>
              <a:t>Factory Method  </a:t>
            </a:r>
            <a:r>
              <a:rPr sz="1000" b="0">
                <a:solidFill>
                  <a:srgbClr val="8C877D"/>
                </a:solidFill>
                <a:latin typeface="Inter"/>
              </a:rPr>
              <a:t>creational</a:t>
            </a:r>
          </a:p>
        </p:txBody>
      </p:sp>
      <p:sp>
        <p:nvSpPr>
          <p:cNvPr id="16" name="Rounded Rectangle 15"/>
          <p:cNvSpPr/>
          <p:nvPr/>
        </p:nvSpPr>
        <p:spPr>
          <a:xfrm>
            <a:off x="3346704" y="5797296"/>
            <a:ext cx="237744" cy="91440"/>
          </a:xfrm>
          <a:prstGeom prst="roundRect">
            <a:avLst>
              <a:gd name="adj" fmla="val 50000"/>
            </a:avLst>
          </a:prstGeom>
          <a:solidFill>
            <a:srgbClr val="0E7C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75888" y="5678424"/>
            <a:ext cx="2743200" cy="329184"/>
          </a:xfrm>
          <a:prstGeom prst="rect">
            <a:avLst/>
          </a:prstGeom>
          <a:noFill/>
        </p:spPr>
        <p:txBody>
          <a:bodyPr wrap="square" anchor="t" lIns="0" rIns="0" tIns="0" bIns="0">
            <a:spAutoFit/>
          </a:bodyPr>
          <a:lstStyle/>
          <a:p>
            <a:pPr algn="l"/>
            <a:r>
              <a:rPr sz="1150" b="0">
                <a:solidFill>
                  <a:srgbClr val="1C1A16"/>
                </a:solidFill>
                <a:latin typeface="Inter SemiBold"/>
              </a:rPr>
              <a:t>Strategy  </a:t>
            </a:r>
            <a:r>
              <a:rPr sz="1000" b="0">
                <a:solidFill>
                  <a:srgbClr val="8C877D"/>
                </a:solidFill>
                <a:latin typeface="Inter"/>
              </a:rPr>
              <a:t>behavioural</a:t>
            </a:r>
          </a:p>
        </p:txBody>
      </p:sp>
      <p:sp>
        <p:nvSpPr>
          <p:cNvPr id="18" name="Rounded Rectangle 17"/>
          <p:cNvSpPr/>
          <p:nvPr/>
        </p:nvSpPr>
        <p:spPr>
          <a:xfrm>
            <a:off x="5193792" y="5797296"/>
            <a:ext cx="237744" cy="91440"/>
          </a:xfrm>
          <a:prstGeom prst="roundRect">
            <a:avLst>
              <a:gd name="adj" fmla="val 50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522976" y="5678424"/>
            <a:ext cx="2743200" cy="329184"/>
          </a:xfrm>
          <a:prstGeom prst="rect">
            <a:avLst/>
          </a:prstGeom>
          <a:noFill/>
        </p:spPr>
        <p:txBody>
          <a:bodyPr wrap="square" anchor="t" lIns="0" rIns="0" tIns="0" bIns="0">
            <a:spAutoFit/>
          </a:bodyPr>
          <a:lstStyle/>
          <a:p>
            <a:pPr algn="l"/>
            <a:r>
              <a:rPr sz="1150" b="0">
                <a:solidFill>
                  <a:srgbClr val="1C1A16"/>
                </a:solidFill>
                <a:latin typeface="Inter SemiBold"/>
              </a:rPr>
              <a:t>State  </a:t>
            </a:r>
            <a:r>
              <a:rPr sz="1000" b="0">
                <a:solidFill>
                  <a:srgbClr val="8C877D"/>
                </a:solidFill>
                <a:latin typeface="Inter"/>
              </a:rPr>
              <a:t>behavioural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7C3AED"/>
                </a:solidFill>
                <a:latin typeface="Inter SemiBold"/>
              </a:rPr>
              <a:t>PATTERN SELECTION</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7C3AED"/>
                </a:solidFill>
                <a:latin typeface="Inter SemiBold"/>
              </a:rPr>
              <a:t>SECTION 2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900" b="0">
                <a:solidFill>
                  <a:srgbClr val="1C1A16"/>
                </a:solidFill>
                <a:latin typeface="Spectral SemiBold"/>
              </a:rPr>
              <a:t>Matching patterns to problems.</a:t>
            </a:r>
          </a:p>
        </p:txBody>
      </p:sp>
      <p:sp>
        <p:nvSpPr>
          <p:cNvPr id="11" name="TextBox 10"/>
          <p:cNvSpPr txBox="1"/>
          <p:nvPr/>
        </p:nvSpPr>
        <p:spPr>
          <a:xfrm>
            <a:off x="749808" y="2066543"/>
            <a:ext cx="9777679" cy="640080"/>
          </a:xfrm>
          <a:prstGeom prst="rect">
            <a:avLst/>
          </a:prstGeom>
          <a:noFill/>
        </p:spPr>
        <p:txBody>
          <a:bodyPr wrap="square" anchor="t" lIns="0" rIns="0" tIns="0" bIns="0">
            <a:spAutoFit/>
          </a:bodyPr>
          <a:lstStyle/>
          <a:p>
            <a:pPr algn="l">
              <a:lnSpc>
                <a:spcPct val="136000"/>
              </a:lnSpc>
            </a:pPr>
            <a:r>
              <a:rPr sz="1300" b="0">
                <a:solidFill>
                  <a:srgbClr val="57534B"/>
                </a:solidFill>
                <a:latin typeface="Inter"/>
              </a:rPr>
              <a:t>We did not start from the patterns. We started from the two problems, and each one maps cleanly to a single pattern.</a:t>
            </a:r>
          </a:p>
        </p:txBody>
      </p:sp>
      <p:sp>
        <p:nvSpPr>
          <p:cNvPr id="12" name="Rounded Rectangle 11"/>
          <p:cNvSpPr/>
          <p:nvPr/>
        </p:nvSpPr>
        <p:spPr>
          <a:xfrm>
            <a:off x="749808" y="2743200"/>
            <a:ext cx="10692079" cy="914400"/>
          </a:xfrm>
          <a:prstGeom prst="roundRect">
            <a:avLst>
              <a:gd name="adj" fmla="val 5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50976" y="2962656"/>
            <a:ext cx="475488" cy="475488"/>
          </a:xfrm>
          <a:prstGeom prst="roundRect">
            <a:avLst>
              <a:gd name="adj" fmla="val 30000"/>
            </a:avLst>
          </a:prstGeom>
          <a:solidFill>
            <a:srgbClr val="F6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package__clay.png"/>
          <p:cNvPicPr>
            <a:picLocks noChangeAspect="1"/>
          </p:cNvPicPr>
          <p:nvPr/>
        </p:nvPicPr>
        <p:blipFill>
          <a:blip r:embed="rId2"/>
          <a:stretch>
            <a:fillRect/>
          </a:stretch>
        </p:blipFill>
        <p:spPr>
          <a:xfrm>
            <a:off x="1055583" y="3067263"/>
            <a:ext cx="266273" cy="266273"/>
          </a:xfrm>
          <a:prstGeom prst="rect">
            <a:avLst/>
          </a:prstGeom>
        </p:spPr>
      </p:pic>
      <p:sp>
        <p:nvSpPr>
          <p:cNvPr id="15" name="TextBox 14"/>
          <p:cNvSpPr txBox="1"/>
          <p:nvPr/>
        </p:nvSpPr>
        <p:spPr>
          <a:xfrm>
            <a:off x="1664207" y="2743200"/>
            <a:ext cx="3383280" cy="914400"/>
          </a:xfrm>
          <a:prstGeom prst="rect">
            <a:avLst/>
          </a:prstGeom>
          <a:noFill/>
        </p:spPr>
        <p:txBody>
          <a:bodyPr wrap="square" anchor="ctr" lIns="0" rIns="0" tIns="0" bIns="0">
            <a:spAutoFit/>
          </a:bodyPr>
          <a:lstStyle/>
          <a:p>
            <a:pPr algn="l">
              <a:lnSpc>
                <a:spcPct val="125000"/>
              </a:lnSpc>
            </a:pPr>
            <a:r>
              <a:rPr sz="1200" b="0">
                <a:solidFill>
                  <a:srgbClr val="57534B"/>
                </a:solidFill>
                <a:latin typeface="Inter"/>
              </a:rPr>
              <a:t>Problem 1  ·  different creation logic</a:t>
            </a:r>
          </a:p>
        </p:txBody>
      </p:sp>
      <p:pic>
        <p:nvPicPr>
          <p:cNvPr id="16" name="Picture 15" descr="arrow-narrow-right__mute.png"/>
          <p:cNvPicPr>
            <a:picLocks noChangeAspect="1"/>
          </p:cNvPicPr>
          <p:nvPr/>
        </p:nvPicPr>
        <p:blipFill>
          <a:blip r:embed="rId3"/>
          <a:stretch>
            <a:fillRect/>
          </a:stretch>
        </p:blipFill>
        <p:spPr>
          <a:xfrm>
            <a:off x="5212080" y="3044952"/>
            <a:ext cx="310896" cy="310896"/>
          </a:xfrm>
          <a:prstGeom prst="rect">
            <a:avLst/>
          </a:prstGeom>
        </p:spPr>
      </p:pic>
      <p:sp>
        <p:nvSpPr>
          <p:cNvPr id="17" name="TextBox 16"/>
          <p:cNvSpPr txBox="1"/>
          <p:nvPr/>
        </p:nvSpPr>
        <p:spPr>
          <a:xfrm>
            <a:off x="5687568" y="2743200"/>
            <a:ext cx="2926080" cy="914400"/>
          </a:xfrm>
          <a:prstGeom prst="rect">
            <a:avLst/>
          </a:prstGeom>
          <a:noFill/>
        </p:spPr>
        <p:txBody>
          <a:bodyPr wrap="square" anchor="ctr" lIns="0" rIns="0" tIns="0" bIns="0">
            <a:spAutoFit/>
          </a:bodyPr>
          <a:lstStyle/>
          <a:p>
            <a:pPr algn="l"/>
            <a:r>
              <a:rPr sz="1600" b="0">
                <a:solidFill>
                  <a:srgbClr val="BC5A2B"/>
                </a:solidFill>
                <a:latin typeface="Spectral SemiBold"/>
              </a:rPr>
              <a:t>Factory Method</a:t>
            </a:r>
          </a:p>
          <a:p>
            <a:pPr algn="l">
              <a:spcBef>
                <a:spcPts val="100"/>
              </a:spcBef>
            </a:pPr>
            <a:r>
              <a:rPr sz="1000" b="0">
                <a:solidFill>
                  <a:srgbClr val="8C877D"/>
                </a:solidFill>
                <a:latin typeface="Inter Medium"/>
              </a:rPr>
              <a:t>Creational pattern</a:t>
            </a:r>
          </a:p>
        </p:txBody>
      </p:sp>
      <p:sp>
        <p:nvSpPr>
          <p:cNvPr id="18" name="TextBox 17"/>
          <p:cNvSpPr txBox="1"/>
          <p:nvPr/>
        </p:nvSpPr>
        <p:spPr>
          <a:xfrm>
            <a:off x="8567928" y="2743200"/>
            <a:ext cx="2599639" cy="914400"/>
          </a:xfrm>
          <a:prstGeom prst="rect">
            <a:avLst/>
          </a:prstGeom>
          <a:noFill/>
        </p:spPr>
        <p:txBody>
          <a:bodyPr wrap="square" anchor="ctr" lIns="0" rIns="0" tIns="0" bIns="0">
            <a:spAutoFit/>
          </a:bodyPr>
          <a:lstStyle/>
          <a:p>
            <a:pPr algn="l">
              <a:lnSpc>
                <a:spcPct val="125000"/>
              </a:lnSpc>
            </a:pPr>
            <a:r>
              <a:rPr sz="1150" b="0">
                <a:solidFill>
                  <a:srgbClr val="57534B"/>
                </a:solidFill>
                <a:latin typeface="Inter"/>
              </a:rPr>
              <a:t>Decouples the caller from the concrete task classes.</a:t>
            </a:r>
          </a:p>
        </p:txBody>
      </p:sp>
      <p:sp>
        <p:nvSpPr>
          <p:cNvPr id="19" name="Rounded Rectangle 18"/>
          <p:cNvSpPr/>
          <p:nvPr/>
        </p:nvSpPr>
        <p:spPr>
          <a:xfrm>
            <a:off x="749808" y="3822191"/>
            <a:ext cx="10692079" cy="914400"/>
          </a:xfrm>
          <a:prstGeom prst="roundRect">
            <a:avLst>
              <a:gd name="adj" fmla="val 5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50976" y="4041648"/>
            <a:ext cx="475488" cy="475488"/>
          </a:xfrm>
          <a:prstGeom prst="roundRect">
            <a:avLst>
              <a:gd name="adj" fmla="val 30000"/>
            </a:avLst>
          </a:prstGeom>
          <a:solidFill>
            <a:srgbClr val="E2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witch-horizontal-01__teal.png"/>
          <p:cNvPicPr>
            <a:picLocks noChangeAspect="1"/>
          </p:cNvPicPr>
          <p:nvPr/>
        </p:nvPicPr>
        <p:blipFill>
          <a:blip r:embed="rId4"/>
          <a:stretch>
            <a:fillRect/>
          </a:stretch>
        </p:blipFill>
        <p:spPr>
          <a:xfrm>
            <a:off x="1055583" y="4146255"/>
            <a:ext cx="266273" cy="266273"/>
          </a:xfrm>
          <a:prstGeom prst="rect">
            <a:avLst/>
          </a:prstGeom>
        </p:spPr>
      </p:pic>
      <p:sp>
        <p:nvSpPr>
          <p:cNvPr id="22" name="TextBox 21"/>
          <p:cNvSpPr txBox="1"/>
          <p:nvPr/>
        </p:nvSpPr>
        <p:spPr>
          <a:xfrm>
            <a:off x="1664207" y="3822191"/>
            <a:ext cx="3383280" cy="914400"/>
          </a:xfrm>
          <a:prstGeom prst="rect">
            <a:avLst/>
          </a:prstGeom>
          <a:noFill/>
        </p:spPr>
        <p:txBody>
          <a:bodyPr wrap="square" anchor="ctr" lIns="0" rIns="0" tIns="0" bIns="0">
            <a:spAutoFit/>
          </a:bodyPr>
          <a:lstStyle/>
          <a:p>
            <a:pPr algn="l">
              <a:lnSpc>
                <a:spcPct val="125000"/>
              </a:lnSpc>
            </a:pPr>
            <a:r>
              <a:rPr sz="1200" b="0">
                <a:solidFill>
                  <a:srgbClr val="57534B"/>
                </a:solidFill>
                <a:latin typeface="Inter"/>
              </a:rPr>
              <a:t>Problem 2  ·  context-dependent ordering</a:t>
            </a:r>
          </a:p>
        </p:txBody>
      </p:sp>
      <p:pic>
        <p:nvPicPr>
          <p:cNvPr id="23" name="Picture 22" descr="arrow-narrow-right__mute.png"/>
          <p:cNvPicPr>
            <a:picLocks noChangeAspect="1"/>
          </p:cNvPicPr>
          <p:nvPr/>
        </p:nvPicPr>
        <p:blipFill>
          <a:blip r:embed="rId3"/>
          <a:stretch>
            <a:fillRect/>
          </a:stretch>
        </p:blipFill>
        <p:spPr>
          <a:xfrm>
            <a:off x="5212080" y="4123944"/>
            <a:ext cx="310896" cy="310896"/>
          </a:xfrm>
          <a:prstGeom prst="rect">
            <a:avLst/>
          </a:prstGeom>
        </p:spPr>
      </p:pic>
      <p:sp>
        <p:nvSpPr>
          <p:cNvPr id="24" name="TextBox 23"/>
          <p:cNvSpPr txBox="1"/>
          <p:nvPr/>
        </p:nvSpPr>
        <p:spPr>
          <a:xfrm>
            <a:off x="5687568" y="3822191"/>
            <a:ext cx="2926080" cy="914400"/>
          </a:xfrm>
          <a:prstGeom prst="rect">
            <a:avLst/>
          </a:prstGeom>
          <a:noFill/>
        </p:spPr>
        <p:txBody>
          <a:bodyPr wrap="square" anchor="ctr" lIns="0" rIns="0" tIns="0" bIns="0">
            <a:spAutoFit/>
          </a:bodyPr>
          <a:lstStyle/>
          <a:p>
            <a:pPr algn="l"/>
            <a:r>
              <a:rPr sz="1600" b="0">
                <a:solidFill>
                  <a:srgbClr val="0E7C72"/>
                </a:solidFill>
                <a:latin typeface="Spectral SemiBold"/>
              </a:rPr>
              <a:t>Strategy</a:t>
            </a:r>
          </a:p>
          <a:p>
            <a:pPr algn="l">
              <a:spcBef>
                <a:spcPts val="100"/>
              </a:spcBef>
            </a:pPr>
            <a:r>
              <a:rPr sz="1000" b="0">
                <a:solidFill>
                  <a:srgbClr val="8C877D"/>
                </a:solidFill>
                <a:latin typeface="Inter Medium"/>
              </a:rPr>
              <a:t>Behavioural pattern</a:t>
            </a:r>
          </a:p>
        </p:txBody>
      </p:sp>
      <p:sp>
        <p:nvSpPr>
          <p:cNvPr id="25" name="TextBox 24"/>
          <p:cNvSpPr txBox="1"/>
          <p:nvPr/>
        </p:nvSpPr>
        <p:spPr>
          <a:xfrm>
            <a:off x="8567928" y="3822191"/>
            <a:ext cx="2599639" cy="914400"/>
          </a:xfrm>
          <a:prstGeom prst="rect">
            <a:avLst/>
          </a:prstGeom>
          <a:noFill/>
        </p:spPr>
        <p:txBody>
          <a:bodyPr wrap="square" anchor="ctr" lIns="0" rIns="0" tIns="0" bIns="0">
            <a:spAutoFit/>
          </a:bodyPr>
          <a:lstStyle/>
          <a:p>
            <a:pPr algn="l">
              <a:lnSpc>
                <a:spcPct val="125000"/>
              </a:lnSpc>
            </a:pPr>
            <a:r>
              <a:rPr sz="1150" b="0">
                <a:solidFill>
                  <a:srgbClr val="57534B"/>
                </a:solidFill>
                <a:latin typeface="Inter"/>
              </a:rPr>
              <a:t>Makes each ordering a swappable object, chosen at runtime.</a:t>
            </a:r>
          </a:p>
        </p:txBody>
      </p:sp>
      <p:sp>
        <p:nvSpPr>
          <p:cNvPr id="26" name="Rounded Rectangle 25"/>
          <p:cNvSpPr/>
          <p:nvPr/>
        </p:nvSpPr>
        <p:spPr>
          <a:xfrm>
            <a:off x="749808" y="4901183"/>
            <a:ext cx="10692079" cy="914400"/>
          </a:xfrm>
          <a:prstGeom prst="roundRect">
            <a:avLst>
              <a:gd name="adj" fmla="val 5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50976" y="5120640"/>
            <a:ext cx="475488" cy="475488"/>
          </a:xfrm>
          <a:prstGeom prst="roundRect">
            <a:avLst>
              <a:gd name="adj" fmla="val 30000"/>
            </a:avLst>
          </a:prstGeom>
          <a:solidFill>
            <a:srgbClr val="F0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refresh-cw-01__violet.png"/>
          <p:cNvPicPr>
            <a:picLocks noChangeAspect="1"/>
          </p:cNvPicPr>
          <p:nvPr/>
        </p:nvPicPr>
        <p:blipFill>
          <a:blip r:embed="rId5"/>
          <a:stretch>
            <a:fillRect/>
          </a:stretch>
        </p:blipFill>
        <p:spPr>
          <a:xfrm>
            <a:off x="1055583" y="5225247"/>
            <a:ext cx="266273" cy="266273"/>
          </a:xfrm>
          <a:prstGeom prst="rect">
            <a:avLst/>
          </a:prstGeom>
        </p:spPr>
      </p:pic>
      <p:sp>
        <p:nvSpPr>
          <p:cNvPr id="29" name="TextBox 28"/>
          <p:cNvSpPr txBox="1"/>
          <p:nvPr/>
        </p:nvSpPr>
        <p:spPr>
          <a:xfrm>
            <a:off x="1664207" y="4901183"/>
            <a:ext cx="3383280" cy="914400"/>
          </a:xfrm>
          <a:prstGeom prst="rect">
            <a:avLst/>
          </a:prstGeom>
          <a:noFill/>
        </p:spPr>
        <p:txBody>
          <a:bodyPr wrap="square" anchor="ctr" lIns="0" rIns="0" tIns="0" bIns="0">
            <a:spAutoFit/>
          </a:bodyPr>
          <a:lstStyle/>
          <a:p>
            <a:pPr algn="l">
              <a:lnSpc>
                <a:spcPct val="125000"/>
              </a:lnSpc>
            </a:pPr>
            <a:r>
              <a:rPr sz="1200" b="0">
                <a:solidFill>
                  <a:srgbClr val="57534B"/>
                </a:solidFill>
                <a:latin typeface="Inter"/>
              </a:rPr>
              <a:t>Bonus  ·  the task lifecycle</a:t>
            </a:r>
          </a:p>
        </p:txBody>
      </p:sp>
      <p:pic>
        <p:nvPicPr>
          <p:cNvPr id="30" name="Picture 29" descr="arrow-narrow-right__mute.png"/>
          <p:cNvPicPr>
            <a:picLocks noChangeAspect="1"/>
          </p:cNvPicPr>
          <p:nvPr/>
        </p:nvPicPr>
        <p:blipFill>
          <a:blip r:embed="rId3"/>
          <a:stretch>
            <a:fillRect/>
          </a:stretch>
        </p:blipFill>
        <p:spPr>
          <a:xfrm>
            <a:off x="5212080" y="5202936"/>
            <a:ext cx="310896" cy="310896"/>
          </a:xfrm>
          <a:prstGeom prst="rect">
            <a:avLst/>
          </a:prstGeom>
        </p:spPr>
      </p:pic>
      <p:sp>
        <p:nvSpPr>
          <p:cNvPr id="31" name="TextBox 30"/>
          <p:cNvSpPr txBox="1"/>
          <p:nvPr/>
        </p:nvSpPr>
        <p:spPr>
          <a:xfrm>
            <a:off x="5687568" y="4901183"/>
            <a:ext cx="2926080" cy="914400"/>
          </a:xfrm>
          <a:prstGeom prst="rect">
            <a:avLst/>
          </a:prstGeom>
          <a:noFill/>
        </p:spPr>
        <p:txBody>
          <a:bodyPr wrap="square" anchor="ctr" lIns="0" rIns="0" tIns="0" bIns="0">
            <a:spAutoFit/>
          </a:bodyPr>
          <a:lstStyle/>
          <a:p>
            <a:pPr algn="l"/>
            <a:r>
              <a:rPr sz="1600" b="0">
                <a:solidFill>
                  <a:srgbClr val="7C3AED"/>
                </a:solidFill>
                <a:latin typeface="Spectral SemiBold"/>
              </a:rPr>
              <a:t>State (in an enum)</a:t>
            </a:r>
          </a:p>
          <a:p>
            <a:pPr algn="l">
              <a:spcBef>
                <a:spcPts val="100"/>
              </a:spcBef>
            </a:pPr>
            <a:r>
              <a:rPr sz="1000" b="0">
                <a:solidFill>
                  <a:srgbClr val="8C877D"/>
                </a:solidFill>
                <a:latin typeface="Inter Medium"/>
              </a:rPr>
              <a:t>Behavioural pattern</a:t>
            </a:r>
          </a:p>
        </p:txBody>
      </p:sp>
      <p:sp>
        <p:nvSpPr>
          <p:cNvPr id="32" name="TextBox 31"/>
          <p:cNvSpPr txBox="1"/>
          <p:nvPr/>
        </p:nvSpPr>
        <p:spPr>
          <a:xfrm>
            <a:off x="8567928" y="4901183"/>
            <a:ext cx="2599639" cy="914400"/>
          </a:xfrm>
          <a:prstGeom prst="rect">
            <a:avLst/>
          </a:prstGeom>
          <a:noFill/>
        </p:spPr>
        <p:txBody>
          <a:bodyPr wrap="square" anchor="ctr" lIns="0" rIns="0" tIns="0" bIns="0">
            <a:spAutoFit/>
          </a:bodyPr>
          <a:lstStyle/>
          <a:p>
            <a:pPr algn="l">
              <a:lnSpc>
                <a:spcPct val="125000"/>
              </a:lnSpc>
            </a:pPr>
            <a:r>
              <a:rPr sz="1150" b="0">
                <a:solidFill>
                  <a:srgbClr val="57534B"/>
                </a:solidFill>
                <a:latin typeface="Inter"/>
              </a:rPr>
              <a:t>Each status declares its own legal transitions.</a:t>
            </a:r>
          </a:p>
        </p:txBody>
      </p:sp>
      <p:sp>
        <p:nvSpPr>
          <p:cNvPr id="33" name="TextBox 32"/>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34" name="TextBox 33"/>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09 / 32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BC5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BC5A2B"/>
                </a:solidFill>
                <a:latin typeface="Inter SemiBold"/>
              </a:rPr>
              <a:t>PATTERN 1  ·  FACTORY METHOD</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7C3AED"/>
                </a:solidFill>
                <a:latin typeface="Inter SemiBold"/>
              </a:rPr>
              <a:t>SECTION 2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900" b="0">
                <a:solidFill>
                  <a:srgbClr val="1C1A16"/>
                </a:solidFill>
                <a:latin typeface="Spectral SemiBold"/>
              </a:rPr>
              <a:t>Factory Method, and why it fits.</a:t>
            </a:r>
          </a:p>
        </p:txBody>
      </p:sp>
      <p:sp>
        <p:nvSpPr>
          <p:cNvPr id="11" name="Rounded Rectangle 10"/>
          <p:cNvSpPr/>
          <p:nvPr/>
        </p:nvSpPr>
        <p:spPr>
          <a:xfrm>
            <a:off x="749808" y="2331720"/>
            <a:ext cx="5117439" cy="1591056"/>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05840" y="2587752"/>
            <a:ext cx="457200" cy="457200"/>
          </a:xfrm>
          <a:prstGeom prst="roundRect">
            <a:avLst>
              <a:gd name="adj" fmla="val 30000"/>
            </a:avLst>
          </a:prstGeom>
          <a:solidFill>
            <a:srgbClr val="F6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book-open-01__clay.png"/>
          <p:cNvPicPr>
            <a:picLocks noChangeAspect="1"/>
          </p:cNvPicPr>
          <p:nvPr/>
        </p:nvPicPr>
        <p:blipFill>
          <a:blip r:embed="rId2"/>
          <a:stretch>
            <a:fillRect/>
          </a:stretch>
        </p:blipFill>
        <p:spPr>
          <a:xfrm>
            <a:off x="1106424" y="2688336"/>
            <a:ext cx="256032" cy="256032"/>
          </a:xfrm>
          <a:prstGeom prst="rect">
            <a:avLst/>
          </a:prstGeom>
        </p:spPr>
      </p:pic>
      <p:sp>
        <p:nvSpPr>
          <p:cNvPr id="14" name="TextBox 13"/>
          <p:cNvSpPr txBox="1"/>
          <p:nvPr/>
        </p:nvSpPr>
        <p:spPr>
          <a:xfrm>
            <a:off x="1627632" y="2587752"/>
            <a:ext cx="4020159" cy="457200"/>
          </a:xfrm>
          <a:prstGeom prst="rect">
            <a:avLst/>
          </a:prstGeom>
          <a:noFill/>
        </p:spPr>
        <p:txBody>
          <a:bodyPr wrap="square" anchor="ctr" lIns="0" rIns="0" tIns="0" bIns="0">
            <a:spAutoFit/>
          </a:bodyPr>
          <a:lstStyle/>
          <a:p>
            <a:pPr algn="l">
              <a:lnSpc>
                <a:spcPct val="104000"/>
              </a:lnSpc>
            </a:pPr>
            <a:r>
              <a:rPr sz="1400" b="0">
                <a:solidFill>
                  <a:srgbClr val="1C1A16"/>
                </a:solidFill>
                <a:latin typeface="Inter SemiBold"/>
              </a:rPr>
              <a:t>Definition</a:t>
            </a:r>
          </a:p>
        </p:txBody>
      </p:sp>
      <p:sp>
        <p:nvSpPr>
          <p:cNvPr id="15" name="TextBox 14"/>
          <p:cNvSpPr txBox="1"/>
          <p:nvPr/>
        </p:nvSpPr>
        <p:spPr>
          <a:xfrm>
            <a:off x="1024127" y="3172968"/>
            <a:ext cx="4587087" cy="603503"/>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Define a method for making an object, and let each subclass decide which concrete class it produces.</a:t>
            </a:r>
          </a:p>
        </p:txBody>
      </p:sp>
      <p:sp>
        <p:nvSpPr>
          <p:cNvPr id="16" name="Rounded Rectangle 15"/>
          <p:cNvSpPr/>
          <p:nvPr/>
        </p:nvSpPr>
        <p:spPr>
          <a:xfrm>
            <a:off x="6324447" y="2331720"/>
            <a:ext cx="5117439" cy="1591056"/>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580479" y="2587752"/>
            <a:ext cx="457200" cy="457200"/>
          </a:xfrm>
          <a:prstGeom prst="roundRect">
            <a:avLst>
              <a:gd name="adj" fmla="val 30000"/>
            </a:avLst>
          </a:prstGeom>
          <a:solidFill>
            <a:srgbClr val="F6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puzzle-piece-01__clay.png"/>
          <p:cNvPicPr>
            <a:picLocks noChangeAspect="1"/>
          </p:cNvPicPr>
          <p:nvPr/>
        </p:nvPicPr>
        <p:blipFill>
          <a:blip r:embed="rId3"/>
          <a:stretch>
            <a:fillRect/>
          </a:stretch>
        </p:blipFill>
        <p:spPr>
          <a:xfrm>
            <a:off x="6681063" y="2688336"/>
            <a:ext cx="256032" cy="256032"/>
          </a:xfrm>
          <a:prstGeom prst="rect">
            <a:avLst/>
          </a:prstGeom>
        </p:spPr>
      </p:pic>
      <p:sp>
        <p:nvSpPr>
          <p:cNvPr id="19" name="TextBox 18"/>
          <p:cNvSpPr txBox="1"/>
          <p:nvPr/>
        </p:nvSpPr>
        <p:spPr>
          <a:xfrm>
            <a:off x="7202271" y="2587752"/>
            <a:ext cx="4020159" cy="457200"/>
          </a:xfrm>
          <a:prstGeom prst="rect">
            <a:avLst/>
          </a:prstGeom>
          <a:noFill/>
        </p:spPr>
        <p:txBody>
          <a:bodyPr wrap="square" anchor="ctr" lIns="0" rIns="0" tIns="0" bIns="0">
            <a:spAutoFit/>
          </a:bodyPr>
          <a:lstStyle/>
          <a:p>
            <a:pPr algn="l">
              <a:lnSpc>
                <a:spcPct val="104000"/>
              </a:lnSpc>
            </a:pPr>
            <a:r>
              <a:rPr sz="1400" b="0">
                <a:solidFill>
                  <a:srgbClr val="1C1A16"/>
                </a:solidFill>
                <a:latin typeface="Inter SemiBold"/>
              </a:rPr>
              <a:t>Why here</a:t>
            </a:r>
          </a:p>
        </p:txBody>
      </p:sp>
      <p:sp>
        <p:nvSpPr>
          <p:cNvPr id="20" name="TextBox 19"/>
          <p:cNvSpPr txBox="1"/>
          <p:nvPr/>
        </p:nvSpPr>
        <p:spPr>
          <a:xfrm>
            <a:off x="6598767" y="3172968"/>
            <a:ext cx="4587087" cy="603503"/>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Every task type has its own construction rules and defaults. The caller should not have to know them.</a:t>
            </a:r>
          </a:p>
        </p:txBody>
      </p:sp>
      <p:sp>
        <p:nvSpPr>
          <p:cNvPr id="21" name="Rounded Rectangle 20"/>
          <p:cNvSpPr/>
          <p:nvPr/>
        </p:nvSpPr>
        <p:spPr>
          <a:xfrm>
            <a:off x="749808" y="4160520"/>
            <a:ext cx="5117439" cy="1591056"/>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05840" y="4416552"/>
            <a:ext cx="457200" cy="457200"/>
          </a:xfrm>
          <a:prstGeom prst="roundRect">
            <a:avLst>
              <a:gd name="adj" fmla="val 30000"/>
            </a:avLst>
          </a:prstGeom>
          <a:solidFill>
            <a:srgbClr val="F6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plus-circle__clay.png"/>
          <p:cNvPicPr>
            <a:picLocks noChangeAspect="1"/>
          </p:cNvPicPr>
          <p:nvPr/>
        </p:nvPicPr>
        <p:blipFill>
          <a:blip r:embed="rId4"/>
          <a:stretch>
            <a:fillRect/>
          </a:stretch>
        </p:blipFill>
        <p:spPr>
          <a:xfrm>
            <a:off x="1106424" y="4517136"/>
            <a:ext cx="256032" cy="256032"/>
          </a:xfrm>
          <a:prstGeom prst="rect">
            <a:avLst/>
          </a:prstGeom>
        </p:spPr>
      </p:pic>
      <p:sp>
        <p:nvSpPr>
          <p:cNvPr id="24" name="TextBox 23"/>
          <p:cNvSpPr txBox="1"/>
          <p:nvPr/>
        </p:nvSpPr>
        <p:spPr>
          <a:xfrm>
            <a:off x="1627632" y="4416552"/>
            <a:ext cx="4020159" cy="457200"/>
          </a:xfrm>
          <a:prstGeom prst="rect">
            <a:avLst/>
          </a:prstGeom>
          <a:noFill/>
        </p:spPr>
        <p:txBody>
          <a:bodyPr wrap="square" anchor="ctr" lIns="0" rIns="0" tIns="0" bIns="0">
            <a:spAutoFit/>
          </a:bodyPr>
          <a:lstStyle/>
          <a:p>
            <a:pPr algn="l">
              <a:lnSpc>
                <a:spcPct val="104000"/>
              </a:lnSpc>
            </a:pPr>
            <a:r>
              <a:rPr sz="1400" b="0">
                <a:solidFill>
                  <a:srgbClr val="1C1A16"/>
                </a:solidFill>
                <a:latin typeface="Inter SemiBold"/>
              </a:rPr>
              <a:t>Advantage</a:t>
            </a:r>
          </a:p>
        </p:txBody>
      </p:sp>
      <p:sp>
        <p:nvSpPr>
          <p:cNvPr id="25" name="TextBox 24"/>
          <p:cNvSpPr txBox="1"/>
          <p:nvPr/>
        </p:nvSpPr>
        <p:spPr>
          <a:xfrm>
            <a:off x="1024127" y="5001768"/>
            <a:ext cx="4587087" cy="603503"/>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A new task type is a new class. Code that creates tasks never changes when a type is added.</a:t>
            </a:r>
          </a:p>
        </p:txBody>
      </p:sp>
      <p:sp>
        <p:nvSpPr>
          <p:cNvPr id="26" name="Rounded Rectangle 25"/>
          <p:cNvSpPr/>
          <p:nvPr/>
        </p:nvSpPr>
        <p:spPr>
          <a:xfrm>
            <a:off x="6324447" y="4160520"/>
            <a:ext cx="5117439" cy="1591056"/>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580479" y="4416552"/>
            <a:ext cx="457200" cy="457200"/>
          </a:xfrm>
          <a:prstGeom prst="roundRect">
            <a:avLst>
              <a:gd name="adj" fmla="val 30000"/>
            </a:avLst>
          </a:prstGeom>
          <a:solidFill>
            <a:srgbClr val="F6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file-02__clay.png"/>
          <p:cNvPicPr>
            <a:picLocks noChangeAspect="1"/>
          </p:cNvPicPr>
          <p:nvPr/>
        </p:nvPicPr>
        <p:blipFill>
          <a:blip r:embed="rId5"/>
          <a:stretch>
            <a:fillRect/>
          </a:stretch>
        </p:blipFill>
        <p:spPr>
          <a:xfrm>
            <a:off x="6681063" y="4517136"/>
            <a:ext cx="256032" cy="256032"/>
          </a:xfrm>
          <a:prstGeom prst="rect">
            <a:avLst/>
          </a:prstGeom>
        </p:spPr>
      </p:pic>
      <p:sp>
        <p:nvSpPr>
          <p:cNvPr id="29" name="TextBox 28"/>
          <p:cNvSpPr txBox="1"/>
          <p:nvPr/>
        </p:nvSpPr>
        <p:spPr>
          <a:xfrm>
            <a:off x="7202271" y="4416552"/>
            <a:ext cx="4020159" cy="457200"/>
          </a:xfrm>
          <a:prstGeom prst="rect">
            <a:avLst/>
          </a:prstGeom>
          <a:noFill/>
        </p:spPr>
        <p:txBody>
          <a:bodyPr wrap="square" anchor="ctr" lIns="0" rIns="0" tIns="0" bIns="0">
            <a:spAutoFit/>
          </a:bodyPr>
          <a:lstStyle/>
          <a:p>
            <a:pPr algn="l">
              <a:lnSpc>
                <a:spcPct val="104000"/>
              </a:lnSpc>
            </a:pPr>
            <a:r>
              <a:rPr sz="1400" b="0">
                <a:solidFill>
                  <a:srgbClr val="1C1A16"/>
                </a:solidFill>
                <a:latin typeface="Inter SemiBold"/>
              </a:rPr>
              <a:t>Real world</a:t>
            </a:r>
          </a:p>
        </p:txBody>
      </p:sp>
      <p:sp>
        <p:nvSpPr>
          <p:cNvPr id="30" name="TextBox 29"/>
          <p:cNvSpPr txBox="1"/>
          <p:nvPr/>
        </p:nvSpPr>
        <p:spPr>
          <a:xfrm>
            <a:off x="6598767" y="5001768"/>
            <a:ext cx="4587087" cy="603503"/>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A document app that opens PDF, DOCX, and TXT files through one Open action, without naming a concrete reader.</a:t>
            </a:r>
          </a:p>
        </p:txBody>
      </p:sp>
      <p:sp>
        <p:nvSpPr>
          <p:cNvPr id="31" name="TextBox 30"/>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32" name="TextBox 31"/>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10 / 32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BC5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BC5A2B"/>
                </a:solidFill>
                <a:latin typeface="Inter SemiBold"/>
              </a:rPr>
              <a:t>PATTERN 1  ·  FACTORY METHOD</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7C3AED"/>
                </a:solidFill>
                <a:latin typeface="Inter SemiBold"/>
              </a:rPr>
              <a:t>SECTION 2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900" b="0">
                <a:solidFill>
                  <a:srgbClr val="1C1A16"/>
                </a:solidFill>
                <a:latin typeface="Spectral SemiBold"/>
              </a:rPr>
              <a:t>How we built it.</a:t>
            </a:r>
          </a:p>
        </p:txBody>
      </p:sp>
      <p:sp>
        <p:nvSpPr>
          <p:cNvPr id="11" name="TextBox 10"/>
          <p:cNvSpPr txBox="1"/>
          <p:nvPr/>
        </p:nvSpPr>
        <p:spPr>
          <a:xfrm>
            <a:off x="749808" y="2066543"/>
            <a:ext cx="9777679" cy="640080"/>
          </a:xfrm>
          <a:prstGeom prst="rect">
            <a:avLst/>
          </a:prstGeom>
          <a:noFill/>
        </p:spPr>
        <p:txBody>
          <a:bodyPr wrap="square" anchor="t" lIns="0" rIns="0" tIns="0" bIns="0">
            <a:spAutoFit/>
          </a:bodyPr>
          <a:lstStyle/>
          <a:p>
            <a:pPr algn="l">
              <a:lnSpc>
                <a:spcPct val="136000"/>
              </a:lnSpc>
            </a:pPr>
            <a:r>
              <a:rPr sz="1300" b="0">
                <a:solidFill>
                  <a:srgbClr val="57534B"/>
                </a:solidFill>
                <a:latin typeface="Inter"/>
              </a:rPr>
              <a:t>The manager keeps a registry of factories keyed by a string. The caller asks for a type by name and never sees a concrete class.</a:t>
            </a:r>
          </a:p>
        </p:txBody>
      </p:sp>
      <p:sp>
        <p:nvSpPr>
          <p:cNvPr id="12" name="Rounded Rectangle 11"/>
          <p:cNvSpPr/>
          <p:nvPr/>
        </p:nvSpPr>
        <p:spPr>
          <a:xfrm>
            <a:off x="749808" y="2651760"/>
            <a:ext cx="10692079" cy="857885"/>
          </a:xfrm>
          <a:prstGeom prst="roundRect">
            <a:avLst>
              <a:gd name="adj" fmla="val 4000"/>
            </a:avLst>
          </a:prstGeom>
          <a:solidFill>
            <a:srgbClr val="F7F4ED"/>
          </a:solidFill>
          <a:ln w="12700">
            <a:solidFill>
              <a:srgbClr val="E7E1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749808" y="2651760"/>
            <a:ext cx="10692079" cy="0"/>
          </a:xfrm>
          <a:prstGeom prst="line">
            <a:avLst/>
          </a:prstGeom>
          <a:ln w="27940">
            <a:solidFill>
              <a:srgbClr val="BC5A2B"/>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86384" y="2779776"/>
            <a:ext cx="10618927" cy="675004"/>
          </a:xfrm>
          <a:prstGeom prst="rect">
            <a:avLst/>
          </a:prstGeom>
          <a:noFill/>
        </p:spPr>
        <p:txBody>
          <a:bodyPr wrap="none" anchor="t" lIns="237744" rIns="164592" tIns="54864" bIns="54864">
            <a:spAutoFit/>
          </a:bodyPr>
          <a:lstStyle/>
          <a:p>
            <a:pPr algn="l">
              <a:lnSpc>
                <a:spcPct val="142000"/>
              </a:lnSpc>
            </a:pPr>
            <a:r>
              <a:rPr sz="1250">
                <a:solidFill>
                  <a:srgbClr val="1C1A16"/>
                </a:solidFill>
                <a:latin typeface="Consolas"/>
              </a:rPr>
              <a:t>manager</a:t>
            </a:r>
            <a:r>
              <a:rPr sz="1250">
                <a:solidFill>
                  <a:srgbClr val="1C1A16"/>
                </a:solidFill>
                <a:latin typeface="Consolas"/>
              </a:rPr>
              <a:t>.</a:t>
            </a:r>
            <a:r>
              <a:rPr sz="1250">
                <a:solidFill>
                  <a:srgbClr val="1C1A16"/>
                </a:solidFill>
                <a:latin typeface="Consolas"/>
              </a:rPr>
              <a:t>createTask</a:t>
            </a:r>
            <a:r>
              <a:rPr sz="1250">
                <a:solidFill>
                  <a:srgbClr val="1C1A16"/>
                </a:solidFill>
                <a:latin typeface="Consolas"/>
              </a:rPr>
              <a:t>(</a:t>
            </a:r>
            <a:r>
              <a:rPr sz="1250">
                <a:solidFill>
                  <a:srgbClr val="0A7B33"/>
                </a:solidFill>
                <a:latin typeface="Consolas"/>
              </a:rPr>
              <a:t>"BUG"</a:t>
            </a:r>
            <a:r>
              <a:rPr sz="1250">
                <a:solidFill>
                  <a:srgbClr val="1C1A16"/>
                </a:solidFill>
                <a:latin typeface="Consolas"/>
              </a:rPr>
              <a:t>,</a:t>
            </a:r>
            <a:r>
              <a:rPr sz="1250">
                <a:solidFill>
                  <a:srgbClr val="1C1A16"/>
                </a:solidFill>
                <a:latin typeface="Consolas"/>
              </a:rPr>
              <a:t> </a:t>
            </a:r>
            <a:r>
              <a:rPr sz="1250">
                <a:solidFill>
                  <a:srgbClr val="0A7B33"/>
                </a:solidFill>
                <a:latin typeface="Consolas"/>
              </a:rPr>
              <a:t>"Login broken"</a:t>
            </a:r>
            <a:r>
              <a:rPr sz="1250">
                <a:solidFill>
                  <a:srgbClr val="1C1A16"/>
                </a:solidFill>
                <a:latin typeface="Consolas"/>
              </a:rPr>
              <a:t>,</a:t>
            </a:r>
            <a:r>
              <a:rPr sz="1250">
                <a:solidFill>
                  <a:srgbClr val="1C1A16"/>
                </a:solidFill>
                <a:latin typeface="Consolas"/>
              </a:rPr>
              <a:t> </a:t>
            </a:r>
            <a:r>
              <a:rPr sz="1250">
                <a:solidFill>
                  <a:srgbClr val="0A7B33"/>
                </a:solidFill>
                <a:latin typeface="Consolas"/>
              </a:rPr>
              <a:t>"OAuth callback fails"</a:t>
            </a:r>
            <a:r>
              <a:rPr sz="1250">
                <a:solidFill>
                  <a:srgbClr val="1C1A16"/>
                </a:solidFill>
                <a:latin typeface="Consolas"/>
              </a:rPr>
              <a:t>,</a:t>
            </a:r>
            <a:r>
              <a:rPr sz="1250">
                <a:solidFill>
                  <a:srgbClr val="1C1A16"/>
                </a:solidFill>
                <a:latin typeface="Consolas"/>
              </a:rPr>
              <a:t> </a:t>
            </a:r>
            <a:r>
              <a:rPr sz="1250">
                <a:solidFill>
                  <a:srgbClr val="0550AE"/>
                </a:solidFill>
                <a:latin typeface="Consolas"/>
              </a:rPr>
              <a:t>8</a:t>
            </a:r>
            <a:r>
              <a:rPr sz="1250">
                <a:solidFill>
                  <a:srgbClr val="1C1A16"/>
                </a:solidFill>
                <a:latin typeface="Consolas"/>
              </a:rPr>
              <a:t>)</a:t>
            </a:r>
            <a:r>
              <a:rPr sz="1250">
                <a:solidFill>
                  <a:srgbClr val="1C1A16"/>
                </a:solidFill>
                <a:latin typeface="Consolas"/>
              </a:rPr>
              <a:t>;</a:t>
            </a:r>
          </a:p>
          <a:p>
            <a:pPr algn="l">
              <a:lnSpc>
                <a:spcPct val="142000"/>
              </a:lnSpc>
            </a:pPr>
            <a:r>
              <a:rPr sz="1250">
                <a:solidFill>
                  <a:srgbClr val="1C1A16"/>
                </a:solidFill>
                <a:latin typeface="Consolas"/>
              </a:rPr>
              <a:t>manager</a:t>
            </a:r>
            <a:r>
              <a:rPr sz="1250">
                <a:solidFill>
                  <a:srgbClr val="1C1A16"/>
                </a:solidFill>
                <a:latin typeface="Consolas"/>
              </a:rPr>
              <a:t>.</a:t>
            </a:r>
            <a:r>
              <a:rPr sz="1250">
                <a:solidFill>
                  <a:srgbClr val="1C1A16"/>
                </a:solidFill>
                <a:latin typeface="Consolas"/>
              </a:rPr>
              <a:t>createTask</a:t>
            </a:r>
            <a:r>
              <a:rPr sz="1250">
                <a:solidFill>
                  <a:srgbClr val="1C1A16"/>
                </a:solidFill>
                <a:latin typeface="Consolas"/>
              </a:rPr>
              <a:t>(</a:t>
            </a:r>
            <a:r>
              <a:rPr sz="1250">
                <a:solidFill>
                  <a:srgbClr val="0A7B33"/>
                </a:solidFill>
                <a:latin typeface="Consolas"/>
              </a:rPr>
              <a:t>"FEATURE"</a:t>
            </a:r>
            <a:r>
              <a:rPr sz="1250">
                <a:solidFill>
                  <a:srgbClr val="1C1A16"/>
                </a:solidFill>
                <a:latin typeface="Consolas"/>
              </a:rPr>
              <a:t>,</a:t>
            </a:r>
            <a:r>
              <a:rPr sz="1250">
                <a:solidFill>
                  <a:srgbClr val="1C1A16"/>
                </a:solidFill>
                <a:latin typeface="Consolas"/>
              </a:rPr>
              <a:t> </a:t>
            </a:r>
            <a:r>
              <a:rPr sz="1250">
                <a:solidFill>
                  <a:srgbClr val="0A7B33"/>
                </a:solidFill>
                <a:latin typeface="Consolas"/>
              </a:rPr>
              <a:t>"Dark mode"</a:t>
            </a:r>
            <a:r>
              <a:rPr sz="1250">
                <a:solidFill>
                  <a:srgbClr val="1C1A16"/>
                </a:solidFill>
                <a:latin typeface="Consolas"/>
              </a:rPr>
              <a:t>,</a:t>
            </a:r>
            <a:r>
              <a:rPr sz="1250">
                <a:solidFill>
                  <a:srgbClr val="1C1A16"/>
                </a:solidFill>
                <a:latin typeface="Consolas"/>
              </a:rPr>
              <a:t> </a:t>
            </a:r>
            <a:r>
              <a:rPr sz="1250">
                <a:solidFill>
                  <a:srgbClr val="0A7B33"/>
                </a:solidFill>
                <a:latin typeface="Consolas"/>
              </a:rPr>
              <a:t>"Top user request"</a:t>
            </a:r>
            <a:r>
              <a:rPr sz="1250">
                <a:solidFill>
                  <a:srgbClr val="1C1A16"/>
                </a:solidFill>
                <a:latin typeface="Consolas"/>
              </a:rPr>
              <a:t>,</a:t>
            </a:r>
            <a:r>
              <a:rPr sz="1250">
                <a:solidFill>
                  <a:srgbClr val="1C1A16"/>
                </a:solidFill>
                <a:latin typeface="Consolas"/>
              </a:rPr>
              <a:t> </a:t>
            </a:r>
            <a:r>
              <a:rPr sz="1250">
                <a:solidFill>
                  <a:srgbClr val="0550AE"/>
                </a:solidFill>
                <a:latin typeface="Consolas"/>
              </a:rPr>
              <a:t>5</a:t>
            </a:r>
            <a:r>
              <a:rPr sz="1250">
                <a:solidFill>
                  <a:srgbClr val="1C1A16"/>
                </a:solidFill>
                <a:latin typeface="Consolas"/>
              </a:rPr>
              <a:t>)</a:t>
            </a:r>
            <a:r>
              <a:rPr sz="1250">
                <a:solidFill>
                  <a:srgbClr val="1C1A16"/>
                </a:solidFill>
                <a:latin typeface="Consolas"/>
              </a:rPr>
              <a:t>;</a:t>
            </a:r>
          </a:p>
        </p:txBody>
      </p:sp>
      <p:sp>
        <p:nvSpPr>
          <p:cNvPr id="15" name="Rounded Rectangle 14"/>
          <p:cNvSpPr/>
          <p:nvPr/>
        </p:nvSpPr>
        <p:spPr>
          <a:xfrm>
            <a:off x="749808" y="4224528"/>
            <a:ext cx="5117439" cy="1627632"/>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05840" y="4480560"/>
            <a:ext cx="457200" cy="457200"/>
          </a:xfrm>
          <a:prstGeom prst="roundRect">
            <a:avLst>
              <a:gd name="adj" fmla="val 30000"/>
            </a:avLst>
          </a:prstGeom>
          <a:solidFill>
            <a:srgbClr val="F6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ackage__clay.png"/>
          <p:cNvPicPr>
            <a:picLocks noChangeAspect="1"/>
          </p:cNvPicPr>
          <p:nvPr/>
        </p:nvPicPr>
        <p:blipFill>
          <a:blip r:embed="rId2"/>
          <a:stretch>
            <a:fillRect/>
          </a:stretch>
        </p:blipFill>
        <p:spPr>
          <a:xfrm>
            <a:off x="1106424" y="4581144"/>
            <a:ext cx="256032" cy="256032"/>
          </a:xfrm>
          <a:prstGeom prst="rect">
            <a:avLst/>
          </a:prstGeom>
        </p:spPr>
      </p:pic>
      <p:sp>
        <p:nvSpPr>
          <p:cNvPr id="18" name="TextBox 17"/>
          <p:cNvSpPr txBox="1"/>
          <p:nvPr/>
        </p:nvSpPr>
        <p:spPr>
          <a:xfrm>
            <a:off x="1627632" y="4480560"/>
            <a:ext cx="4020159" cy="457200"/>
          </a:xfrm>
          <a:prstGeom prst="rect">
            <a:avLst/>
          </a:prstGeom>
          <a:noFill/>
        </p:spPr>
        <p:txBody>
          <a:bodyPr wrap="square" anchor="ctr" lIns="0" rIns="0" tIns="0" bIns="0">
            <a:spAutoFit/>
          </a:bodyPr>
          <a:lstStyle/>
          <a:p>
            <a:pPr algn="l">
              <a:lnSpc>
                <a:spcPct val="104000"/>
              </a:lnSpc>
            </a:pPr>
            <a:r>
              <a:rPr sz="1350" b="0">
                <a:solidFill>
                  <a:srgbClr val="1C1A16"/>
                </a:solidFill>
                <a:latin typeface="Inter SemiBold"/>
              </a:rPr>
              <a:t>An abstract class, not an interface</a:t>
            </a:r>
          </a:p>
        </p:txBody>
      </p:sp>
      <p:sp>
        <p:nvSpPr>
          <p:cNvPr id="19" name="TextBox 18"/>
          <p:cNvSpPr txBox="1"/>
          <p:nvPr/>
        </p:nvSpPr>
        <p:spPr>
          <a:xfrm>
            <a:off x="1024127" y="5065776"/>
            <a:ext cx="4587087" cy="640080"/>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Each subclass owns its defaults: a bug is MEDIUM severity, a feature is 8h of effort at value 5, a doc targets developers.</a:t>
            </a:r>
          </a:p>
        </p:txBody>
      </p:sp>
      <p:sp>
        <p:nvSpPr>
          <p:cNvPr id="20" name="Rounded Rectangle 19"/>
          <p:cNvSpPr/>
          <p:nvPr/>
        </p:nvSpPr>
        <p:spPr>
          <a:xfrm>
            <a:off x="6324447" y="4224528"/>
            <a:ext cx="5117439" cy="1627632"/>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580479" y="4480560"/>
            <a:ext cx="457200" cy="457200"/>
          </a:xfrm>
          <a:prstGeom prst="roundRect">
            <a:avLst>
              <a:gd name="adj" fmla="val 30000"/>
            </a:avLst>
          </a:prstGeom>
          <a:solidFill>
            <a:srgbClr val="F6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layers-three-01__indigo.png"/>
          <p:cNvPicPr>
            <a:picLocks noChangeAspect="1"/>
          </p:cNvPicPr>
          <p:nvPr/>
        </p:nvPicPr>
        <p:blipFill>
          <a:blip r:embed="rId3"/>
          <a:stretch>
            <a:fillRect/>
          </a:stretch>
        </p:blipFill>
        <p:spPr>
          <a:xfrm>
            <a:off x="6681063" y="4581144"/>
            <a:ext cx="256032" cy="256032"/>
          </a:xfrm>
          <a:prstGeom prst="rect">
            <a:avLst/>
          </a:prstGeom>
        </p:spPr>
      </p:pic>
      <p:sp>
        <p:nvSpPr>
          <p:cNvPr id="23" name="TextBox 22"/>
          <p:cNvSpPr txBox="1"/>
          <p:nvPr/>
        </p:nvSpPr>
        <p:spPr>
          <a:xfrm>
            <a:off x="7202271" y="4480560"/>
            <a:ext cx="4020159" cy="457200"/>
          </a:xfrm>
          <a:prstGeom prst="rect">
            <a:avLst/>
          </a:prstGeom>
          <a:noFill/>
        </p:spPr>
        <p:txBody>
          <a:bodyPr wrap="square" anchor="ctr" lIns="0" rIns="0" tIns="0" bIns="0">
            <a:spAutoFit/>
          </a:bodyPr>
          <a:lstStyle/>
          <a:p>
            <a:pPr algn="l">
              <a:lnSpc>
                <a:spcPct val="104000"/>
              </a:lnSpc>
            </a:pPr>
            <a:r>
              <a:rPr sz="1350" b="0">
                <a:solidFill>
                  <a:srgbClr val="1C1A16"/>
                </a:solidFill>
                <a:latin typeface="Inter SemiBold"/>
              </a:rPr>
              <a:t>A template method on the base</a:t>
            </a:r>
          </a:p>
        </p:txBody>
      </p:sp>
      <p:sp>
        <p:nvSpPr>
          <p:cNvPr id="24" name="TextBox 23"/>
          <p:cNvSpPr txBox="1"/>
          <p:nvPr/>
        </p:nvSpPr>
        <p:spPr>
          <a:xfrm>
            <a:off x="6598767" y="5065776"/>
            <a:ext cx="4587087" cy="640080"/>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createTaskWithDeadline wraps createTask and attaches a deadline once. Written once, reused by all three factories.</a:t>
            </a:r>
          </a:p>
        </p:txBody>
      </p:sp>
      <p:sp>
        <p:nvSpPr>
          <p:cNvPr id="25" name="TextBox 24"/>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26" name="TextBox 25"/>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11 / 32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0E7C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0E7C72"/>
                </a:solidFill>
                <a:latin typeface="Inter SemiBold"/>
              </a:rPr>
              <a:t>PATTERN 2  ·  STRATEGY</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7C3AED"/>
                </a:solidFill>
                <a:latin typeface="Inter SemiBold"/>
              </a:rPr>
              <a:t>SECTION 2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900" b="0">
                <a:solidFill>
                  <a:srgbClr val="1C1A16"/>
                </a:solidFill>
                <a:latin typeface="Spectral SemiBold"/>
              </a:rPr>
              <a:t>Strategy, and why it fits.</a:t>
            </a:r>
          </a:p>
        </p:txBody>
      </p:sp>
      <p:sp>
        <p:nvSpPr>
          <p:cNvPr id="11" name="Rounded Rectangle 10"/>
          <p:cNvSpPr/>
          <p:nvPr/>
        </p:nvSpPr>
        <p:spPr>
          <a:xfrm>
            <a:off x="749808" y="2331720"/>
            <a:ext cx="5117439" cy="1591056"/>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05840" y="2587752"/>
            <a:ext cx="457200" cy="457200"/>
          </a:xfrm>
          <a:prstGeom prst="roundRect">
            <a:avLst>
              <a:gd name="adj" fmla="val 30000"/>
            </a:avLst>
          </a:prstGeom>
          <a:solidFill>
            <a:srgbClr val="E2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book-open-01__teal.png"/>
          <p:cNvPicPr>
            <a:picLocks noChangeAspect="1"/>
          </p:cNvPicPr>
          <p:nvPr/>
        </p:nvPicPr>
        <p:blipFill>
          <a:blip r:embed="rId2"/>
          <a:stretch>
            <a:fillRect/>
          </a:stretch>
        </p:blipFill>
        <p:spPr>
          <a:xfrm>
            <a:off x="1106424" y="2688336"/>
            <a:ext cx="256032" cy="256032"/>
          </a:xfrm>
          <a:prstGeom prst="rect">
            <a:avLst/>
          </a:prstGeom>
        </p:spPr>
      </p:pic>
      <p:sp>
        <p:nvSpPr>
          <p:cNvPr id="14" name="TextBox 13"/>
          <p:cNvSpPr txBox="1"/>
          <p:nvPr/>
        </p:nvSpPr>
        <p:spPr>
          <a:xfrm>
            <a:off x="1627632" y="2587752"/>
            <a:ext cx="4020159" cy="457200"/>
          </a:xfrm>
          <a:prstGeom prst="rect">
            <a:avLst/>
          </a:prstGeom>
          <a:noFill/>
        </p:spPr>
        <p:txBody>
          <a:bodyPr wrap="square" anchor="ctr" lIns="0" rIns="0" tIns="0" bIns="0">
            <a:spAutoFit/>
          </a:bodyPr>
          <a:lstStyle/>
          <a:p>
            <a:pPr algn="l">
              <a:lnSpc>
                <a:spcPct val="104000"/>
              </a:lnSpc>
            </a:pPr>
            <a:r>
              <a:rPr sz="1400" b="0">
                <a:solidFill>
                  <a:srgbClr val="1C1A16"/>
                </a:solidFill>
                <a:latin typeface="Inter SemiBold"/>
              </a:rPr>
              <a:t>Definition</a:t>
            </a:r>
          </a:p>
        </p:txBody>
      </p:sp>
      <p:sp>
        <p:nvSpPr>
          <p:cNvPr id="15" name="TextBox 14"/>
          <p:cNvSpPr txBox="1"/>
          <p:nvPr/>
        </p:nvSpPr>
        <p:spPr>
          <a:xfrm>
            <a:off x="1024127" y="3172968"/>
            <a:ext cx="4587087" cy="603503"/>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Define a family of interchangeable algorithms, wrap each one, and select between them at runtime.</a:t>
            </a:r>
          </a:p>
        </p:txBody>
      </p:sp>
      <p:sp>
        <p:nvSpPr>
          <p:cNvPr id="16" name="Rounded Rectangle 15"/>
          <p:cNvSpPr/>
          <p:nvPr/>
        </p:nvSpPr>
        <p:spPr>
          <a:xfrm>
            <a:off x="6324447" y="2331720"/>
            <a:ext cx="5117439" cy="1591056"/>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580479" y="2587752"/>
            <a:ext cx="457200" cy="457200"/>
          </a:xfrm>
          <a:prstGeom prst="roundRect">
            <a:avLst>
              <a:gd name="adj" fmla="val 30000"/>
            </a:avLst>
          </a:prstGeom>
          <a:solidFill>
            <a:srgbClr val="E2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puzzle-piece-01__teal.png"/>
          <p:cNvPicPr>
            <a:picLocks noChangeAspect="1"/>
          </p:cNvPicPr>
          <p:nvPr/>
        </p:nvPicPr>
        <p:blipFill>
          <a:blip r:embed="rId3"/>
          <a:stretch>
            <a:fillRect/>
          </a:stretch>
        </p:blipFill>
        <p:spPr>
          <a:xfrm>
            <a:off x="6681063" y="2688336"/>
            <a:ext cx="256032" cy="256032"/>
          </a:xfrm>
          <a:prstGeom prst="rect">
            <a:avLst/>
          </a:prstGeom>
        </p:spPr>
      </p:pic>
      <p:sp>
        <p:nvSpPr>
          <p:cNvPr id="19" name="TextBox 18"/>
          <p:cNvSpPr txBox="1"/>
          <p:nvPr/>
        </p:nvSpPr>
        <p:spPr>
          <a:xfrm>
            <a:off x="7202271" y="2587752"/>
            <a:ext cx="4020159" cy="457200"/>
          </a:xfrm>
          <a:prstGeom prst="rect">
            <a:avLst/>
          </a:prstGeom>
          <a:noFill/>
        </p:spPr>
        <p:txBody>
          <a:bodyPr wrap="square" anchor="ctr" lIns="0" rIns="0" tIns="0" bIns="0">
            <a:spAutoFit/>
          </a:bodyPr>
          <a:lstStyle/>
          <a:p>
            <a:pPr algn="l">
              <a:lnSpc>
                <a:spcPct val="104000"/>
              </a:lnSpc>
            </a:pPr>
            <a:r>
              <a:rPr sz="1400" b="0">
                <a:solidFill>
                  <a:srgbClr val="1C1A16"/>
                </a:solidFill>
                <a:latin typeface="Inter SemiBold"/>
              </a:rPr>
              <a:t>Why here</a:t>
            </a:r>
          </a:p>
        </p:txBody>
      </p:sp>
      <p:sp>
        <p:nvSpPr>
          <p:cNvPr id="20" name="TextBox 19"/>
          <p:cNvSpPr txBox="1"/>
          <p:nvPr/>
        </p:nvSpPr>
        <p:spPr>
          <a:xfrm>
            <a:off x="6598767" y="3172968"/>
            <a:ext cx="4587087" cy="603503"/>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The same task list must be ordered differently in different moments, while the app is running.</a:t>
            </a:r>
          </a:p>
        </p:txBody>
      </p:sp>
      <p:sp>
        <p:nvSpPr>
          <p:cNvPr id="21" name="Rounded Rectangle 20"/>
          <p:cNvSpPr/>
          <p:nvPr/>
        </p:nvSpPr>
        <p:spPr>
          <a:xfrm>
            <a:off x="749808" y="4160520"/>
            <a:ext cx="5117439" cy="1591056"/>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05840" y="4416552"/>
            <a:ext cx="457200" cy="457200"/>
          </a:xfrm>
          <a:prstGeom prst="roundRect">
            <a:avLst>
              <a:gd name="adj" fmla="val 30000"/>
            </a:avLst>
          </a:prstGeom>
          <a:solidFill>
            <a:srgbClr val="E2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plus-circle__teal.png"/>
          <p:cNvPicPr>
            <a:picLocks noChangeAspect="1"/>
          </p:cNvPicPr>
          <p:nvPr/>
        </p:nvPicPr>
        <p:blipFill>
          <a:blip r:embed="rId4"/>
          <a:stretch>
            <a:fillRect/>
          </a:stretch>
        </p:blipFill>
        <p:spPr>
          <a:xfrm>
            <a:off x="1106424" y="4517136"/>
            <a:ext cx="256032" cy="256032"/>
          </a:xfrm>
          <a:prstGeom prst="rect">
            <a:avLst/>
          </a:prstGeom>
        </p:spPr>
      </p:pic>
      <p:sp>
        <p:nvSpPr>
          <p:cNvPr id="24" name="TextBox 23"/>
          <p:cNvSpPr txBox="1"/>
          <p:nvPr/>
        </p:nvSpPr>
        <p:spPr>
          <a:xfrm>
            <a:off x="1627632" y="4416552"/>
            <a:ext cx="4020159" cy="457200"/>
          </a:xfrm>
          <a:prstGeom prst="rect">
            <a:avLst/>
          </a:prstGeom>
          <a:noFill/>
        </p:spPr>
        <p:txBody>
          <a:bodyPr wrap="square" anchor="ctr" lIns="0" rIns="0" tIns="0" bIns="0">
            <a:spAutoFit/>
          </a:bodyPr>
          <a:lstStyle/>
          <a:p>
            <a:pPr algn="l">
              <a:lnSpc>
                <a:spcPct val="104000"/>
              </a:lnSpc>
            </a:pPr>
            <a:r>
              <a:rPr sz="1400" b="0">
                <a:solidFill>
                  <a:srgbClr val="1C1A16"/>
                </a:solidFill>
                <a:latin typeface="Inter SemiBold"/>
              </a:rPr>
              <a:t>Advantage</a:t>
            </a:r>
          </a:p>
        </p:txBody>
      </p:sp>
      <p:sp>
        <p:nvSpPr>
          <p:cNvPr id="25" name="TextBox 24"/>
          <p:cNvSpPr txBox="1"/>
          <p:nvPr/>
        </p:nvSpPr>
        <p:spPr>
          <a:xfrm>
            <a:off x="1024127" y="5001768"/>
            <a:ext cx="4587087" cy="603503"/>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Add or switch an ordering without touching the code that holds and manages the list.</a:t>
            </a:r>
          </a:p>
        </p:txBody>
      </p:sp>
      <p:sp>
        <p:nvSpPr>
          <p:cNvPr id="26" name="Rounded Rectangle 25"/>
          <p:cNvSpPr/>
          <p:nvPr/>
        </p:nvSpPr>
        <p:spPr>
          <a:xfrm>
            <a:off x="6324447" y="4160520"/>
            <a:ext cx="5117439" cy="1591056"/>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580479" y="4416552"/>
            <a:ext cx="457200" cy="457200"/>
          </a:xfrm>
          <a:prstGeom prst="roundRect">
            <a:avLst>
              <a:gd name="adj" fmla="val 30000"/>
            </a:avLst>
          </a:prstGeom>
          <a:solidFill>
            <a:srgbClr val="E2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compass__teal.png"/>
          <p:cNvPicPr>
            <a:picLocks noChangeAspect="1"/>
          </p:cNvPicPr>
          <p:nvPr/>
        </p:nvPicPr>
        <p:blipFill>
          <a:blip r:embed="rId5"/>
          <a:stretch>
            <a:fillRect/>
          </a:stretch>
        </p:blipFill>
        <p:spPr>
          <a:xfrm>
            <a:off x="6681063" y="4517136"/>
            <a:ext cx="256032" cy="256032"/>
          </a:xfrm>
          <a:prstGeom prst="rect">
            <a:avLst/>
          </a:prstGeom>
        </p:spPr>
      </p:pic>
      <p:sp>
        <p:nvSpPr>
          <p:cNvPr id="29" name="TextBox 28"/>
          <p:cNvSpPr txBox="1"/>
          <p:nvPr/>
        </p:nvSpPr>
        <p:spPr>
          <a:xfrm>
            <a:off x="7202271" y="4416552"/>
            <a:ext cx="4020159" cy="457200"/>
          </a:xfrm>
          <a:prstGeom prst="rect">
            <a:avLst/>
          </a:prstGeom>
          <a:noFill/>
        </p:spPr>
        <p:txBody>
          <a:bodyPr wrap="square" anchor="ctr" lIns="0" rIns="0" tIns="0" bIns="0">
            <a:spAutoFit/>
          </a:bodyPr>
          <a:lstStyle/>
          <a:p>
            <a:pPr algn="l">
              <a:lnSpc>
                <a:spcPct val="104000"/>
              </a:lnSpc>
            </a:pPr>
            <a:r>
              <a:rPr sz="1400" b="0">
                <a:solidFill>
                  <a:srgbClr val="1C1A16"/>
                </a:solidFill>
                <a:latin typeface="Inter SemiBold"/>
              </a:rPr>
              <a:t>Real world</a:t>
            </a:r>
          </a:p>
        </p:txBody>
      </p:sp>
      <p:sp>
        <p:nvSpPr>
          <p:cNvPr id="30" name="TextBox 29"/>
          <p:cNvSpPr txBox="1"/>
          <p:nvPr/>
        </p:nvSpPr>
        <p:spPr>
          <a:xfrm>
            <a:off x="6598767" y="5001768"/>
            <a:ext cx="4587087" cy="603503"/>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Like picking a route in a maps app: fastest, shortest, or no tolls, over the same map.</a:t>
            </a:r>
          </a:p>
        </p:txBody>
      </p:sp>
      <p:sp>
        <p:nvSpPr>
          <p:cNvPr id="31" name="TextBox 30"/>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32" name="TextBox 31"/>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12 / 32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0E7C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0E7C72"/>
                </a:solidFill>
                <a:latin typeface="Inter SemiBold"/>
              </a:rPr>
              <a:t>PATTERN 2  ·  STRATEGY</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7C3AED"/>
                </a:solidFill>
                <a:latin typeface="Inter SemiBold"/>
              </a:rPr>
              <a:t>SECTION 2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900" b="0">
                <a:solidFill>
                  <a:srgbClr val="1C1A16"/>
                </a:solidFill>
                <a:latin typeface="Spectral SemiBold"/>
              </a:rPr>
              <a:t>How we built it.</a:t>
            </a:r>
          </a:p>
        </p:txBody>
      </p:sp>
      <p:sp>
        <p:nvSpPr>
          <p:cNvPr id="11" name="TextBox 10"/>
          <p:cNvSpPr txBox="1"/>
          <p:nvPr/>
        </p:nvSpPr>
        <p:spPr>
          <a:xfrm>
            <a:off x="749808" y="2066543"/>
            <a:ext cx="9777679" cy="640080"/>
          </a:xfrm>
          <a:prstGeom prst="rect">
            <a:avLst/>
          </a:prstGeom>
          <a:noFill/>
        </p:spPr>
        <p:txBody>
          <a:bodyPr wrap="square" anchor="t" lIns="0" rIns="0" tIns="0" bIns="0">
            <a:spAutoFit/>
          </a:bodyPr>
          <a:lstStyle/>
          <a:p>
            <a:pPr algn="l">
              <a:lnSpc>
                <a:spcPct val="136000"/>
              </a:lnSpc>
            </a:pPr>
            <a:r>
              <a:rPr sz="1300" b="0">
                <a:solidFill>
                  <a:srgbClr val="57534B"/>
                </a:solidFill>
                <a:latin typeface="Inter"/>
              </a:rPr>
              <a:t>Each ordering is a swappable object behind one interface. Changing the sort is a single setter call; the manager never learns which one is active.</a:t>
            </a:r>
          </a:p>
        </p:txBody>
      </p:sp>
      <p:sp>
        <p:nvSpPr>
          <p:cNvPr id="12" name="Rounded Rectangle 11"/>
          <p:cNvSpPr/>
          <p:nvPr/>
        </p:nvSpPr>
        <p:spPr>
          <a:xfrm>
            <a:off x="749808" y="2651760"/>
            <a:ext cx="10692079" cy="857885"/>
          </a:xfrm>
          <a:prstGeom prst="roundRect">
            <a:avLst>
              <a:gd name="adj" fmla="val 4000"/>
            </a:avLst>
          </a:prstGeom>
          <a:solidFill>
            <a:srgbClr val="F7F4ED"/>
          </a:solidFill>
          <a:ln w="12700">
            <a:solidFill>
              <a:srgbClr val="E7E1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749808" y="2651760"/>
            <a:ext cx="10692079" cy="0"/>
          </a:xfrm>
          <a:prstGeom prst="line">
            <a:avLst/>
          </a:prstGeom>
          <a:ln w="27940">
            <a:solidFill>
              <a:srgbClr val="0E7C72"/>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86384" y="2779776"/>
            <a:ext cx="10618927" cy="675004"/>
          </a:xfrm>
          <a:prstGeom prst="rect">
            <a:avLst/>
          </a:prstGeom>
          <a:noFill/>
        </p:spPr>
        <p:txBody>
          <a:bodyPr wrap="none" anchor="t" lIns="237744" rIns="164592" tIns="54864" bIns="54864">
            <a:spAutoFit/>
          </a:bodyPr>
          <a:lstStyle/>
          <a:p>
            <a:pPr algn="l">
              <a:lnSpc>
                <a:spcPct val="142000"/>
              </a:lnSpc>
            </a:pPr>
            <a:r>
              <a:rPr sz="1250">
                <a:solidFill>
                  <a:srgbClr val="1C1A16"/>
                </a:solidFill>
                <a:latin typeface="Consolas"/>
              </a:rPr>
              <a:t>manager</a:t>
            </a:r>
            <a:r>
              <a:rPr sz="1250">
                <a:solidFill>
                  <a:srgbClr val="1C1A16"/>
                </a:solidFill>
                <a:latin typeface="Consolas"/>
              </a:rPr>
              <a:t>.</a:t>
            </a:r>
            <a:r>
              <a:rPr sz="1250">
                <a:solidFill>
                  <a:srgbClr val="1C1A16"/>
                </a:solidFill>
                <a:latin typeface="Consolas"/>
              </a:rPr>
              <a:t>setPriorityStrategy</a:t>
            </a:r>
            <a:r>
              <a:rPr sz="1250">
                <a:solidFill>
                  <a:srgbClr val="1C1A16"/>
                </a:solidFill>
                <a:latin typeface="Consolas"/>
              </a:rPr>
              <a:t>(</a:t>
            </a:r>
            <a:r>
              <a:rPr sz="1250">
                <a:solidFill>
                  <a:srgbClr val="8250DF"/>
                </a:solidFill>
                <a:latin typeface="Consolas"/>
              </a:rPr>
              <a:t>new</a:t>
            </a:r>
            <a:r>
              <a:rPr sz="1250">
                <a:solidFill>
                  <a:srgbClr val="1C1A16"/>
                </a:solidFill>
                <a:latin typeface="Consolas"/>
              </a:rPr>
              <a:t> </a:t>
            </a:r>
            <a:r>
              <a:rPr sz="1250">
                <a:solidFill>
                  <a:srgbClr val="0550AE"/>
                </a:solidFill>
                <a:latin typeface="Consolas"/>
              </a:rPr>
              <a:t>SeverityFirstStrategy</a:t>
            </a:r>
            <a:r>
              <a:rPr sz="1250">
                <a:solidFill>
                  <a:srgbClr val="1C1A16"/>
                </a:solidFill>
                <a:latin typeface="Consolas"/>
              </a:rPr>
              <a:t>(</a:t>
            </a:r>
            <a:r>
              <a:rPr sz="1250">
                <a:solidFill>
                  <a:srgbClr val="1C1A16"/>
                </a:solidFill>
                <a:latin typeface="Consolas"/>
              </a:rPr>
              <a:t>)</a:t>
            </a:r>
            <a:r>
              <a:rPr sz="1250">
                <a:solidFill>
                  <a:srgbClr val="1C1A16"/>
                </a:solidFill>
                <a:latin typeface="Consolas"/>
              </a:rPr>
              <a:t>)</a:t>
            </a:r>
            <a:r>
              <a:rPr sz="1250">
                <a:solidFill>
                  <a:srgbClr val="1C1A16"/>
                </a:solidFill>
                <a:latin typeface="Consolas"/>
              </a:rPr>
              <a:t>;</a:t>
            </a:r>
          </a:p>
          <a:p>
            <a:pPr algn="l">
              <a:lnSpc>
                <a:spcPct val="142000"/>
              </a:lnSpc>
            </a:pPr>
            <a:r>
              <a:rPr sz="1250">
                <a:solidFill>
                  <a:srgbClr val="8C877D"/>
                </a:solidFill>
                <a:latin typeface="Consolas"/>
              </a:rPr>
              <a:t>// the next call to getPrioritizedTasks() returns the new order</a:t>
            </a:r>
          </a:p>
        </p:txBody>
      </p:sp>
      <p:sp>
        <p:nvSpPr>
          <p:cNvPr id="15" name="Rounded Rectangle 14"/>
          <p:cNvSpPr/>
          <p:nvPr/>
        </p:nvSpPr>
        <p:spPr>
          <a:xfrm>
            <a:off x="749808" y="4114800"/>
            <a:ext cx="5117439" cy="1737360"/>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05840" y="4370832"/>
            <a:ext cx="457200" cy="457200"/>
          </a:xfrm>
          <a:prstGeom prst="roundRect">
            <a:avLst>
              <a:gd name="adj" fmla="val 30000"/>
            </a:avLst>
          </a:prstGeom>
          <a:solidFill>
            <a:srgbClr val="E2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witch-horizontal-01__teal.png"/>
          <p:cNvPicPr>
            <a:picLocks noChangeAspect="1"/>
          </p:cNvPicPr>
          <p:nvPr/>
        </p:nvPicPr>
        <p:blipFill>
          <a:blip r:embed="rId2"/>
          <a:stretch>
            <a:fillRect/>
          </a:stretch>
        </p:blipFill>
        <p:spPr>
          <a:xfrm>
            <a:off x="1106424" y="4471416"/>
            <a:ext cx="256032" cy="256032"/>
          </a:xfrm>
          <a:prstGeom prst="rect">
            <a:avLst/>
          </a:prstGeom>
        </p:spPr>
      </p:pic>
      <p:sp>
        <p:nvSpPr>
          <p:cNvPr id="18" name="TextBox 17"/>
          <p:cNvSpPr txBox="1"/>
          <p:nvPr/>
        </p:nvSpPr>
        <p:spPr>
          <a:xfrm>
            <a:off x="1627632" y="4370832"/>
            <a:ext cx="4020159" cy="457200"/>
          </a:xfrm>
          <a:prstGeom prst="rect">
            <a:avLst/>
          </a:prstGeom>
          <a:noFill/>
        </p:spPr>
        <p:txBody>
          <a:bodyPr wrap="square" anchor="ctr" lIns="0" rIns="0" tIns="0" bIns="0">
            <a:spAutoFit/>
          </a:bodyPr>
          <a:lstStyle/>
          <a:p>
            <a:pPr algn="l">
              <a:lnSpc>
                <a:spcPct val="104000"/>
              </a:lnSpc>
            </a:pPr>
            <a:r>
              <a:rPr sz="1350" b="0">
                <a:solidFill>
                  <a:srgbClr val="1C1A16"/>
                </a:solidFill>
                <a:latin typeface="Inter SemiBold"/>
              </a:rPr>
              <a:t>An interface, not a raw Comparator</a:t>
            </a:r>
          </a:p>
        </p:txBody>
      </p:sp>
      <p:sp>
        <p:nvSpPr>
          <p:cNvPr id="19" name="TextBox 18"/>
          <p:cNvSpPr txBox="1"/>
          <p:nvPr/>
        </p:nvSpPr>
        <p:spPr>
          <a:xfrm>
            <a:off x="1024127" y="4956048"/>
            <a:ext cx="4587087" cy="749807"/>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PriorityStrategy names the role. SeverityFirst also lifts bugs to the top before sorting the rest, which a pairwise Comparator handles awkwardly.</a:t>
            </a:r>
          </a:p>
        </p:txBody>
      </p:sp>
      <p:sp>
        <p:nvSpPr>
          <p:cNvPr id="20" name="Rounded Rectangle 19"/>
          <p:cNvSpPr/>
          <p:nvPr/>
        </p:nvSpPr>
        <p:spPr>
          <a:xfrm>
            <a:off x="6324447" y="4114800"/>
            <a:ext cx="5117439" cy="1737360"/>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580479" y="4370832"/>
            <a:ext cx="457200" cy="457200"/>
          </a:xfrm>
          <a:prstGeom prst="roundRect">
            <a:avLst>
              <a:gd name="adj" fmla="val 30000"/>
            </a:avLst>
          </a:prstGeom>
          <a:solidFill>
            <a:srgbClr val="E2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ettings-01__indigo.png"/>
          <p:cNvPicPr>
            <a:picLocks noChangeAspect="1"/>
          </p:cNvPicPr>
          <p:nvPr/>
        </p:nvPicPr>
        <p:blipFill>
          <a:blip r:embed="rId3"/>
          <a:stretch>
            <a:fillRect/>
          </a:stretch>
        </p:blipFill>
        <p:spPr>
          <a:xfrm>
            <a:off x="6681063" y="4471416"/>
            <a:ext cx="256032" cy="256032"/>
          </a:xfrm>
          <a:prstGeom prst="rect">
            <a:avLst/>
          </a:prstGeom>
        </p:spPr>
      </p:pic>
      <p:sp>
        <p:nvSpPr>
          <p:cNvPr id="23" name="TextBox 22"/>
          <p:cNvSpPr txBox="1"/>
          <p:nvPr/>
        </p:nvSpPr>
        <p:spPr>
          <a:xfrm>
            <a:off x="7202271" y="4370832"/>
            <a:ext cx="4020159" cy="457200"/>
          </a:xfrm>
          <a:prstGeom prst="rect">
            <a:avLst/>
          </a:prstGeom>
          <a:noFill/>
        </p:spPr>
        <p:txBody>
          <a:bodyPr wrap="square" anchor="ctr" lIns="0" rIns="0" tIns="0" bIns="0">
            <a:spAutoFit/>
          </a:bodyPr>
          <a:lstStyle/>
          <a:p>
            <a:pPr algn="l">
              <a:lnSpc>
                <a:spcPct val="104000"/>
              </a:lnSpc>
            </a:pPr>
            <a:r>
              <a:rPr sz="1350" b="0">
                <a:solidFill>
                  <a:srgbClr val="1C1A16"/>
                </a:solidFill>
                <a:latin typeface="Inter SemiBold"/>
              </a:rPr>
              <a:t>A setter, not a constructor argument</a:t>
            </a:r>
          </a:p>
        </p:txBody>
      </p:sp>
      <p:sp>
        <p:nvSpPr>
          <p:cNvPr id="24" name="TextBox 23"/>
          <p:cNvSpPr txBox="1"/>
          <p:nvPr/>
        </p:nvSpPr>
        <p:spPr>
          <a:xfrm>
            <a:off x="6598767" y="4956048"/>
            <a:ext cx="4587087" cy="749807"/>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Users change the sort mid-session. A setter avoids rebuilding the manager and copying every task into a fresh instance.</a:t>
            </a:r>
          </a:p>
        </p:txBody>
      </p:sp>
      <p:sp>
        <p:nvSpPr>
          <p:cNvPr id="25" name="TextBox 24"/>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26" name="TextBox 25"/>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13 / 32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0E7C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0E7C72"/>
                </a:solidFill>
                <a:latin typeface="Inter SemiBold"/>
              </a:rPr>
              <a:t>PATTERN 2  ·  STRATEGY  ·  EVIDENCE</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7C3AED"/>
                </a:solidFill>
                <a:latin typeface="Inter SemiBold"/>
              </a:rPr>
              <a:t>SECTION 2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900" b="0">
                <a:solidFill>
                  <a:srgbClr val="1C1A16"/>
                </a:solidFill>
                <a:latin typeface="Spectral SemiBold"/>
              </a:rPr>
              <a:t>The same list, reordered live.</a:t>
            </a:r>
          </a:p>
        </p:txBody>
      </p:sp>
      <p:sp>
        <p:nvSpPr>
          <p:cNvPr id="11" name="Rounded Rectangle 10"/>
          <p:cNvSpPr/>
          <p:nvPr/>
        </p:nvSpPr>
        <p:spPr>
          <a:xfrm>
            <a:off x="749808" y="2286000"/>
            <a:ext cx="5094579" cy="3383280"/>
          </a:xfrm>
          <a:prstGeom prst="roundRect">
            <a:avLst>
              <a:gd name="adj" fmla="val 3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749808" y="2286000"/>
            <a:ext cx="5094579" cy="0"/>
          </a:xfrm>
          <a:prstGeom prst="line">
            <a:avLst/>
          </a:prstGeom>
          <a:ln w="30480">
            <a:solidFill>
              <a:srgbClr val="0E7C72"/>
            </a:solidFill>
          </a:ln>
          <a:effectLst/>
        </p:spPr>
        <p:style>
          <a:lnRef idx="2">
            <a:schemeClr val="accent1"/>
          </a:lnRef>
          <a:fillRef idx="0">
            <a:schemeClr val="accent1"/>
          </a:fillRef>
          <a:effectRef idx="1">
            <a:schemeClr val="accent1"/>
          </a:effectRef>
          <a:fontRef idx="minor">
            <a:schemeClr val="tx1"/>
          </a:fontRef>
        </p:style>
      </p:cxnSp>
      <p:pic>
        <p:nvPicPr>
          <p:cNvPr id="13" name="Picture 12" descr="gui-strategy.png"/>
          <p:cNvPicPr>
            <a:picLocks noChangeAspect="1"/>
          </p:cNvPicPr>
          <p:nvPr/>
        </p:nvPicPr>
        <p:blipFill>
          <a:blip r:embed="rId2"/>
          <a:stretch>
            <a:fillRect/>
          </a:stretch>
        </p:blipFill>
        <p:spPr>
          <a:xfrm>
            <a:off x="1249494" y="2487168"/>
            <a:ext cx="4095205" cy="3017520"/>
          </a:xfrm>
          <a:prstGeom prst="rect">
            <a:avLst/>
          </a:prstGeom>
        </p:spPr>
      </p:pic>
      <p:sp>
        <p:nvSpPr>
          <p:cNvPr id="14" name="TextBox 13"/>
          <p:cNvSpPr txBox="1"/>
          <p:nvPr/>
        </p:nvSpPr>
        <p:spPr>
          <a:xfrm>
            <a:off x="749808" y="5760720"/>
            <a:ext cx="5094579" cy="274320"/>
          </a:xfrm>
          <a:prstGeom prst="rect">
            <a:avLst/>
          </a:prstGeom>
          <a:noFill/>
        </p:spPr>
        <p:txBody>
          <a:bodyPr wrap="square" anchor="t" lIns="0" rIns="0" tIns="0" bIns="0">
            <a:spAutoFit/>
          </a:bodyPr>
          <a:lstStyle/>
          <a:p>
            <a:pPr algn="ctr"/>
            <a:r>
              <a:rPr sz="1000" b="0" spc="40">
                <a:solidFill>
                  <a:srgbClr val="8C877D"/>
                </a:solidFill>
                <a:latin typeface="Inter"/>
              </a:rPr>
              <a:t>Urgent First sort: priority 5 down to 1.</a:t>
            </a:r>
          </a:p>
        </p:txBody>
      </p:sp>
      <p:sp>
        <p:nvSpPr>
          <p:cNvPr id="15" name="Rounded Rectangle 14"/>
          <p:cNvSpPr/>
          <p:nvPr/>
        </p:nvSpPr>
        <p:spPr>
          <a:xfrm>
            <a:off x="6347307" y="2286000"/>
            <a:ext cx="5094579" cy="3383280"/>
          </a:xfrm>
          <a:prstGeom prst="roundRect">
            <a:avLst>
              <a:gd name="adj" fmla="val 3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6347307" y="2286000"/>
            <a:ext cx="5094580" cy="0"/>
          </a:xfrm>
          <a:prstGeom prst="line">
            <a:avLst/>
          </a:prstGeom>
          <a:ln w="30480">
            <a:solidFill>
              <a:srgbClr val="0E7C72"/>
            </a:solidFill>
          </a:ln>
          <a:effectLst/>
        </p:spPr>
        <p:style>
          <a:lnRef idx="2">
            <a:schemeClr val="accent1"/>
          </a:lnRef>
          <a:fillRef idx="0">
            <a:schemeClr val="accent1"/>
          </a:fillRef>
          <a:effectRef idx="1">
            <a:schemeClr val="accent1"/>
          </a:effectRef>
          <a:fontRef idx="minor">
            <a:schemeClr val="tx1"/>
          </a:fontRef>
        </p:style>
      </p:cxnSp>
      <p:pic>
        <p:nvPicPr>
          <p:cNvPr id="17" name="Picture 16" descr="gui-severity.png"/>
          <p:cNvPicPr>
            <a:picLocks noChangeAspect="1"/>
          </p:cNvPicPr>
          <p:nvPr/>
        </p:nvPicPr>
        <p:blipFill>
          <a:blip r:embed="rId3"/>
          <a:stretch>
            <a:fillRect/>
          </a:stretch>
        </p:blipFill>
        <p:spPr>
          <a:xfrm>
            <a:off x="6846994" y="2487168"/>
            <a:ext cx="4095205" cy="3017520"/>
          </a:xfrm>
          <a:prstGeom prst="rect">
            <a:avLst/>
          </a:prstGeom>
        </p:spPr>
      </p:pic>
      <p:sp>
        <p:nvSpPr>
          <p:cNvPr id="18" name="TextBox 17"/>
          <p:cNvSpPr txBox="1"/>
          <p:nvPr/>
        </p:nvSpPr>
        <p:spPr>
          <a:xfrm>
            <a:off x="6347307" y="5760720"/>
            <a:ext cx="5094579" cy="274320"/>
          </a:xfrm>
          <a:prstGeom prst="rect">
            <a:avLst/>
          </a:prstGeom>
          <a:noFill/>
        </p:spPr>
        <p:txBody>
          <a:bodyPr wrap="square" anchor="t" lIns="0" rIns="0" tIns="0" bIns="0">
            <a:spAutoFit/>
          </a:bodyPr>
          <a:lstStyle/>
          <a:p>
            <a:pPr algn="ctr"/>
            <a:r>
              <a:rPr sz="1000" b="0" spc="40">
                <a:solidFill>
                  <a:srgbClr val="8C877D"/>
                </a:solidFill>
                <a:latin typeface="Inter"/>
              </a:rPr>
              <a:t>Severity First sort: both bugs rise to the top.</a:t>
            </a:r>
          </a:p>
        </p:txBody>
      </p:sp>
      <p:sp>
        <p:nvSpPr>
          <p:cNvPr id="19" name="TextBox 18"/>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20" name="TextBox 19"/>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14 / 32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7C3AED"/>
                </a:solidFill>
                <a:latin typeface="Inter SemiBold"/>
              </a:rPr>
              <a:t>BONUS PATTERN  ·  STATE</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7C3AED"/>
                </a:solidFill>
                <a:latin typeface="Inter SemiBold"/>
              </a:rPr>
              <a:t>SECTION 2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900" b="0">
                <a:solidFill>
                  <a:srgbClr val="1C1A16"/>
                </a:solidFill>
                <a:latin typeface="Spectral SemiBold"/>
              </a:rPr>
              <a:t>The lifecycle is a state machine.</a:t>
            </a:r>
          </a:p>
        </p:txBody>
      </p:sp>
      <p:sp>
        <p:nvSpPr>
          <p:cNvPr id="11" name="Rounded Rectangle 10"/>
          <p:cNvSpPr/>
          <p:nvPr/>
        </p:nvSpPr>
        <p:spPr>
          <a:xfrm>
            <a:off x="749808" y="2286000"/>
            <a:ext cx="5440680" cy="3657600"/>
          </a:xfrm>
          <a:prstGeom prst="roundRect">
            <a:avLst>
              <a:gd name="adj" fmla="val 3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749808" y="2286000"/>
            <a:ext cx="5440680" cy="0"/>
          </a:xfrm>
          <a:prstGeom prst="line">
            <a:avLst/>
          </a:prstGeom>
          <a:ln w="30480">
            <a:solidFill>
              <a:srgbClr val="7C3AED"/>
            </a:solidFill>
          </a:ln>
          <a:effectLst/>
        </p:spPr>
        <p:style>
          <a:lnRef idx="2">
            <a:schemeClr val="accent1"/>
          </a:lnRef>
          <a:fillRef idx="0">
            <a:schemeClr val="accent1"/>
          </a:fillRef>
          <a:effectRef idx="1">
            <a:schemeClr val="accent1"/>
          </a:effectRef>
          <a:fontRef idx="minor">
            <a:schemeClr val="tx1"/>
          </a:fontRef>
        </p:style>
      </p:cxnSp>
      <p:pic>
        <p:nvPicPr>
          <p:cNvPr id="13" name="Picture 12" descr="state-diagram.png"/>
          <p:cNvPicPr>
            <a:picLocks noChangeAspect="1"/>
          </p:cNvPicPr>
          <p:nvPr/>
        </p:nvPicPr>
        <p:blipFill>
          <a:blip r:embed="rId2"/>
          <a:stretch>
            <a:fillRect/>
          </a:stretch>
        </p:blipFill>
        <p:spPr>
          <a:xfrm>
            <a:off x="1776076" y="2487168"/>
            <a:ext cx="3388143" cy="3291840"/>
          </a:xfrm>
          <a:prstGeom prst="rect">
            <a:avLst/>
          </a:prstGeom>
        </p:spPr>
      </p:pic>
      <p:pic>
        <p:nvPicPr>
          <p:cNvPr id="14" name="Picture 13" descr="refresh-cw-01__violet.png"/>
          <p:cNvPicPr>
            <a:picLocks noChangeAspect="1"/>
          </p:cNvPicPr>
          <p:nvPr/>
        </p:nvPicPr>
        <p:blipFill>
          <a:blip r:embed="rId3"/>
          <a:stretch>
            <a:fillRect/>
          </a:stretch>
        </p:blipFill>
        <p:spPr>
          <a:xfrm>
            <a:off x="6537960" y="2331720"/>
            <a:ext cx="292608" cy="292608"/>
          </a:xfrm>
          <a:prstGeom prst="rect">
            <a:avLst/>
          </a:prstGeom>
        </p:spPr>
      </p:pic>
      <p:sp>
        <p:nvSpPr>
          <p:cNvPr id="15" name="TextBox 14"/>
          <p:cNvSpPr txBox="1"/>
          <p:nvPr/>
        </p:nvSpPr>
        <p:spPr>
          <a:xfrm>
            <a:off x="6940296" y="2331720"/>
            <a:ext cx="4501591" cy="365760"/>
          </a:xfrm>
          <a:prstGeom prst="rect">
            <a:avLst/>
          </a:prstGeom>
          <a:noFill/>
        </p:spPr>
        <p:txBody>
          <a:bodyPr wrap="square" anchor="t" lIns="0" rIns="0" tIns="0" bIns="0">
            <a:spAutoFit/>
          </a:bodyPr>
          <a:lstStyle/>
          <a:p>
            <a:pPr algn="l"/>
            <a:r>
              <a:rPr sz="1300" b="0">
                <a:solidFill>
                  <a:srgbClr val="1C1A16"/>
                </a:solidFill>
                <a:latin typeface="Inter SemiBold"/>
              </a:rPr>
              <a:t>TaskStatus owns its transitions</a:t>
            </a:r>
          </a:p>
        </p:txBody>
      </p:sp>
      <p:sp>
        <p:nvSpPr>
          <p:cNvPr id="16" name="TextBox 15"/>
          <p:cNvSpPr txBox="1"/>
          <p:nvPr/>
        </p:nvSpPr>
        <p:spPr>
          <a:xfrm>
            <a:off x="6940296" y="2606039"/>
            <a:ext cx="4501591" cy="640080"/>
          </a:xfrm>
          <a:prstGeom prst="rect">
            <a:avLst/>
          </a:prstGeom>
          <a:noFill/>
        </p:spPr>
        <p:txBody>
          <a:bodyPr wrap="square" anchor="t" lIns="0" rIns="0" tIns="0" bIns="0">
            <a:spAutoFit/>
          </a:bodyPr>
          <a:lstStyle/>
          <a:p>
            <a:pPr algn="l">
              <a:lnSpc>
                <a:spcPct val="128000"/>
              </a:lnSpc>
            </a:pPr>
            <a:r>
              <a:rPr sz="1100" b="0">
                <a:solidFill>
                  <a:srgbClr val="57534B"/>
                </a:solidFill>
                <a:latin typeface="Inter"/>
              </a:rPr>
              <a:t>Each enum constant declares its legal next states through canTransitionTo().</a:t>
            </a:r>
          </a:p>
        </p:txBody>
      </p:sp>
      <p:pic>
        <p:nvPicPr>
          <p:cNvPr id="17" name="Picture 16" descr="refresh-cw-01__violet.png"/>
          <p:cNvPicPr>
            <a:picLocks noChangeAspect="1"/>
          </p:cNvPicPr>
          <p:nvPr/>
        </p:nvPicPr>
        <p:blipFill>
          <a:blip r:embed="rId3"/>
          <a:stretch>
            <a:fillRect/>
          </a:stretch>
        </p:blipFill>
        <p:spPr>
          <a:xfrm>
            <a:off x="6537960" y="3246120"/>
            <a:ext cx="292608" cy="292608"/>
          </a:xfrm>
          <a:prstGeom prst="rect">
            <a:avLst/>
          </a:prstGeom>
        </p:spPr>
      </p:pic>
      <p:sp>
        <p:nvSpPr>
          <p:cNvPr id="18" name="TextBox 17"/>
          <p:cNvSpPr txBox="1"/>
          <p:nvPr/>
        </p:nvSpPr>
        <p:spPr>
          <a:xfrm>
            <a:off x="6940296" y="3246120"/>
            <a:ext cx="4501591" cy="365760"/>
          </a:xfrm>
          <a:prstGeom prst="rect">
            <a:avLst/>
          </a:prstGeom>
          <a:noFill/>
        </p:spPr>
        <p:txBody>
          <a:bodyPr wrap="square" anchor="t" lIns="0" rIns="0" tIns="0" bIns="0">
            <a:spAutoFit/>
          </a:bodyPr>
          <a:lstStyle/>
          <a:p>
            <a:pPr algn="l"/>
            <a:r>
              <a:rPr sz="1300" b="0">
                <a:solidFill>
                  <a:srgbClr val="1C1A16"/>
                </a:solidFill>
                <a:latin typeface="Inter SemiBold"/>
              </a:rPr>
              <a:t>The base class enforces them</a:t>
            </a:r>
          </a:p>
        </p:txBody>
      </p:sp>
      <p:sp>
        <p:nvSpPr>
          <p:cNvPr id="19" name="TextBox 18"/>
          <p:cNvSpPr txBox="1"/>
          <p:nvPr/>
        </p:nvSpPr>
        <p:spPr>
          <a:xfrm>
            <a:off x="6940296" y="3520439"/>
            <a:ext cx="4501591" cy="640080"/>
          </a:xfrm>
          <a:prstGeom prst="rect">
            <a:avLst/>
          </a:prstGeom>
          <a:noFill/>
        </p:spPr>
        <p:txBody>
          <a:bodyPr wrap="square" anchor="t" lIns="0" rIns="0" tIns="0" bIns="0">
            <a:spAutoFit/>
          </a:bodyPr>
          <a:lstStyle/>
          <a:p>
            <a:pPr algn="l">
              <a:lnSpc>
                <a:spcPct val="128000"/>
              </a:lnSpc>
            </a:pPr>
            <a:r>
              <a:rPr sz="1100" b="0">
                <a:solidFill>
                  <a:srgbClr val="57534B"/>
                </a:solidFill>
                <a:latin typeface="Inter"/>
              </a:rPr>
              <a:t>AbstractTask.setStatus() checks that table and throws on an illegal move.</a:t>
            </a:r>
          </a:p>
        </p:txBody>
      </p:sp>
      <p:pic>
        <p:nvPicPr>
          <p:cNvPr id="20" name="Picture 19" descr="refresh-cw-01__violet.png"/>
          <p:cNvPicPr>
            <a:picLocks noChangeAspect="1"/>
          </p:cNvPicPr>
          <p:nvPr/>
        </p:nvPicPr>
        <p:blipFill>
          <a:blip r:embed="rId3"/>
          <a:stretch>
            <a:fillRect/>
          </a:stretch>
        </p:blipFill>
        <p:spPr>
          <a:xfrm>
            <a:off x="6537960" y="4160520"/>
            <a:ext cx="292608" cy="292608"/>
          </a:xfrm>
          <a:prstGeom prst="rect">
            <a:avLst/>
          </a:prstGeom>
        </p:spPr>
      </p:pic>
      <p:sp>
        <p:nvSpPr>
          <p:cNvPr id="21" name="TextBox 20"/>
          <p:cNvSpPr txBox="1"/>
          <p:nvPr/>
        </p:nvSpPr>
        <p:spPr>
          <a:xfrm>
            <a:off x="6940296" y="4160520"/>
            <a:ext cx="4501591" cy="365760"/>
          </a:xfrm>
          <a:prstGeom prst="rect">
            <a:avLst/>
          </a:prstGeom>
          <a:noFill/>
        </p:spPr>
        <p:txBody>
          <a:bodyPr wrap="square" anchor="t" lIns="0" rIns="0" tIns="0" bIns="0">
            <a:spAutoFit/>
          </a:bodyPr>
          <a:lstStyle/>
          <a:p>
            <a:pPr algn="l"/>
            <a:r>
              <a:rPr sz="1300" b="0">
                <a:solidFill>
                  <a:srgbClr val="1C1A16"/>
                </a:solidFill>
                <a:latin typeface="Inter SemiBold"/>
              </a:rPr>
              <a:t>No shortcuts</a:t>
            </a:r>
          </a:p>
        </p:txBody>
      </p:sp>
      <p:sp>
        <p:nvSpPr>
          <p:cNvPr id="22" name="TextBox 21"/>
          <p:cNvSpPr txBox="1"/>
          <p:nvPr/>
        </p:nvSpPr>
        <p:spPr>
          <a:xfrm>
            <a:off x="6940296" y="4434840"/>
            <a:ext cx="4501591" cy="640080"/>
          </a:xfrm>
          <a:prstGeom prst="rect">
            <a:avLst/>
          </a:prstGeom>
          <a:noFill/>
        </p:spPr>
        <p:txBody>
          <a:bodyPr wrap="square" anchor="t" lIns="0" rIns="0" tIns="0" bIns="0">
            <a:spAutoFit/>
          </a:bodyPr>
          <a:lstStyle/>
          <a:p>
            <a:pPr algn="l">
              <a:lnSpc>
                <a:spcPct val="128000"/>
              </a:lnSpc>
            </a:pPr>
            <a:r>
              <a:rPr sz="1100" b="0">
                <a:solidFill>
                  <a:srgbClr val="57534B"/>
                </a:solidFill>
                <a:latin typeface="Inter"/>
              </a:rPr>
              <a:t>The engine refuses to jump OPEN straight to DONE; the cycle has to be walked.</a:t>
            </a:r>
          </a:p>
        </p:txBody>
      </p:sp>
      <p:pic>
        <p:nvPicPr>
          <p:cNvPr id="23" name="Picture 22" descr="refresh-cw-01__violet.png"/>
          <p:cNvPicPr>
            <a:picLocks noChangeAspect="1"/>
          </p:cNvPicPr>
          <p:nvPr/>
        </p:nvPicPr>
        <p:blipFill>
          <a:blip r:embed="rId3"/>
          <a:stretch>
            <a:fillRect/>
          </a:stretch>
        </p:blipFill>
        <p:spPr>
          <a:xfrm>
            <a:off x="6537960" y="5074920"/>
            <a:ext cx="292608" cy="292608"/>
          </a:xfrm>
          <a:prstGeom prst="rect">
            <a:avLst/>
          </a:prstGeom>
        </p:spPr>
      </p:pic>
      <p:sp>
        <p:nvSpPr>
          <p:cNvPr id="24" name="TextBox 23"/>
          <p:cNvSpPr txBox="1"/>
          <p:nvPr/>
        </p:nvSpPr>
        <p:spPr>
          <a:xfrm>
            <a:off x="6940296" y="5074920"/>
            <a:ext cx="4501591" cy="365760"/>
          </a:xfrm>
          <a:prstGeom prst="rect">
            <a:avLst/>
          </a:prstGeom>
          <a:noFill/>
        </p:spPr>
        <p:txBody>
          <a:bodyPr wrap="square" anchor="t" lIns="0" rIns="0" tIns="0" bIns="0">
            <a:spAutoFit/>
          </a:bodyPr>
          <a:lstStyle/>
          <a:p>
            <a:pPr algn="l"/>
            <a:r>
              <a:rPr sz="1300" b="0">
                <a:solidFill>
                  <a:srgbClr val="1C1A16"/>
                </a:solidFill>
                <a:latin typeface="Inter SemiBold"/>
              </a:rPr>
              <a:t>State, for zero extra files</a:t>
            </a:r>
          </a:p>
        </p:txBody>
      </p:sp>
      <p:sp>
        <p:nvSpPr>
          <p:cNvPr id="25" name="TextBox 24"/>
          <p:cNvSpPr txBox="1"/>
          <p:nvPr/>
        </p:nvSpPr>
        <p:spPr>
          <a:xfrm>
            <a:off x="6940296" y="5349240"/>
            <a:ext cx="4501591" cy="640080"/>
          </a:xfrm>
          <a:prstGeom prst="rect">
            <a:avLst/>
          </a:prstGeom>
          <a:noFill/>
        </p:spPr>
        <p:txBody>
          <a:bodyPr wrap="square" anchor="t" lIns="0" rIns="0" tIns="0" bIns="0">
            <a:spAutoFit/>
          </a:bodyPr>
          <a:lstStyle/>
          <a:p>
            <a:pPr algn="l">
              <a:lnSpc>
                <a:spcPct val="128000"/>
              </a:lnSpc>
            </a:pPr>
            <a:r>
              <a:rPr sz="1100" b="0">
                <a:solidFill>
                  <a:srgbClr val="57534B"/>
                </a:solidFill>
                <a:latin typeface="Inter"/>
              </a:rPr>
              <a:t>The whole pattern lives in one enum, with no extra classes.</a:t>
            </a:r>
          </a:p>
        </p:txBody>
      </p:sp>
      <p:sp>
        <p:nvSpPr>
          <p:cNvPr id="26" name="TextBox 25"/>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27" name="TextBox 26"/>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15 / 32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E7C72"/>
        </a:solidFill>
        <a:effectLst/>
      </p:bgPr>
    </p:bg>
    <p:spTree>
      <p:nvGrpSpPr>
        <p:cNvPr id="1" name=""/>
        <p:cNvGrpSpPr/>
        <p:nvPr/>
      </p:nvGrpSpPr>
      <p:grpSpPr/>
      <p:sp>
        <p:nvSpPr>
          <p:cNvPr id="2" name="TextBox 1"/>
          <p:cNvSpPr txBox="1"/>
          <p:nvPr/>
        </p:nvSpPr>
        <p:spPr>
          <a:xfrm>
            <a:off x="749808" y="603504"/>
            <a:ext cx="8229600" cy="274320"/>
          </a:xfrm>
          <a:prstGeom prst="rect">
            <a:avLst/>
          </a:prstGeom>
          <a:noFill/>
        </p:spPr>
        <p:txBody>
          <a:bodyPr wrap="square" anchor="t" lIns="0" rIns="0" tIns="0" bIns="0">
            <a:spAutoFit/>
          </a:bodyPr>
          <a:lstStyle/>
          <a:p>
            <a:pPr algn="l"/>
            <a:r>
              <a:rPr sz="1100" b="1" spc="280">
                <a:solidFill>
                  <a:srgbClr val="FFFFFF"/>
                </a:solidFill>
                <a:latin typeface="Inter SemiBold"/>
              </a:rPr>
              <a:t>SECTION 03</a:t>
            </a:r>
          </a:p>
        </p:txBody>
      </p:sp>
      <p:sp>
        <p:nvSpPr>
          <p:cNvPr id="3" name="Rounded Rectangle 2"/>
          <p:cNvSpPr/>
          <p:nvPr/>
        </p:nvSpPr>
        <p:spPr>
          <a:xfrm>
            <a:off x="9613087" y="640080"/>
            <a:ext cx="292608" cy="64008"/>
          </a:xfrm>
          <a:prstGeom prst="roundRect">
            <a:avLst>
              <a:gd name="adj" fmla="val 50000"/>
            </a:avLst>
          </a:prstGeom>
          <a:solidFill>
            <a:srgbClr val="56A3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997135" y="640080"/>
            <a:ext cx="292608" cy="64008"/>
          </a:xfrm>
          <a:prstGeom prst="roundRect">
            <a:avLst>
              <a:gd name="adj" fmla="val 50000"/>
            </a:avLst>
          </a:prstGeom>
          <a:solidFill>
            <a:srgbClr val="56A3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381183" y="640080"/>
            <a:ext cx="292608" cy="640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765231" y="640080"/>
            <a:ext cx="292608" cy="64008"/>
          </a:xfrm>
          <a:prstGeom prst="roundRect">
            <a:avLst>
              <a:gd name="adj" fmla="val 50000"/>
            </a:avLst>
          </a:prstGeom>
          <a:solidFill>
            <a:srgbClr val="56A3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1149279" y="640080"/>
            <a:ext cx="292608" cy="64008"/>
          </a:xfrm>
          <a:prstGeom prst="roundRect">
            <a:avLst>
              <a:gd name="adj" fmla="val 50000"/>
            </a:avLst>
          </a:prstGeom>
          <a:solidFill>
            <a:srgbClr val="56A3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D4E7E6"/>
                </a:solidFill>
                <a:latin typeface="Inter SemiBold"/>
              </a:rPr>
              <a:t>SECTION 3 / 5</a:t>
            </a:r>
          </a:p>
        </p:txBody>
      </p:sp>
      <p:pic>
        <p:nvPicPr>
          <p:cNvPr id="9" name="Picture 8" descr="grid-01__white.png"/>
          <p:cNvPicPr>
            <a:picLocks noChangeAspect="1"/>
          </p:cNvPicPr>
          <p:nvPr/>
        </p:nvPicPr>
        <p:blipFill>
          <a:blip r:embed="rId2"/>
          <a:stretch>
            <a:fillRect/>
          </a:stretch>
        </p:blipFill>
        <p:spPr>
          <a:xfrm>
            <a:off x="9590227" y="1165860"/>
            <a:ext cx="1417320" cy="1417320"/>
          </a:xfrm>
          <a:prstGeom prst="rect">
            <a:avLst/>
          </a:prstGeom>
        </p:spPr>
      </p:pic>
      <p:cxnSp>
        <p:nvCxnSpPr>
          <p:cNvPr id="10" name="Connector 9"/>
          <p:cNvCxnSpPr/>
          <p:nvPr/>
        </p:nvCxnSpPr>
        <p:spPr>
          <a:xfrm>
            <a:off x="749808" y="3017520"/>
            <a:ext cx="10692079" cy="0"/>
          </a:xfrm>
          <a:prstGeom prst="line">
            <a:avLst/>
          </a:prstGeom>
          <a:ln w="20320">
            <a:solidFill>
              <a:srgbClr val="82BBB6"/>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49808" y="3291840"/>
            <a:ext cx="9411919" cy="1280160"/>
          </a:xfrm>
          <a:prstGeom prst="rect">
            <a:avLst/>
          </a:prstGeom>
          <a:noFill/>
        </p:spPr>
        <p:txBody>
          <a:bodyPr wrap="square" anchor="t" lIns="0" rIns="0" tIns="0" bIns="0">
            <a:spAutoFit/>
          </a:bodyPr>
          <a:lstStyle/>
          <a:p>
            <a:pPr algn="l">
              <a:lnSpc>
                <a:spcPct val="105000"/>
              </a:lnSpc>
            </a:pPr>
            <a:r>
              <a:rPr sz="3700" b="0">
                <a:solidFill>
                  <a:srgbClr val="FFFFFF"/>
                </a:solidFill>
                <a:latin typeface="Spectral SemiBold"/>
              </a:rPr>
              <a:t>Architecture and implementation.</a:t>
            </a:r>
          </a:p>
        </p:txBody>
      </p:sp>
      <p:sp>
        <p:nvSpPr>
          <p:cNvPr id="12" name="TextBox 11"/>
          <p:cNvSpPr txBox="1"/>
          <p:nvPr/>
        </p:nvSpPr>
        <p:spPr>
          <a:xfrm>
            <a:off x="749808" y="4370832"/>
            <a:ext cx="8680399" cy="914400"/>
          </a:xfrm>
          <a:prstGeom prst="rect">
            <a:avLst/>
          </a:prstGeom>
          <a:noFill/>
        </p:spPr>
        <p:txBody>
          <a:bodyPr wrap="square" anchor="t" lIns="0" rIns="0" tIns="0" bIns="0">
            <a:spAutoFit/>
          </a:bodyPr>
          <a:lstStyle/>
          <a:p>
            <a:pPr algn="l">
              <a:lnSpc>
                <a:spcPct val="142000"/>
              </a:lnSpc>
            </a:pPr>
            <a:r>
              <a:rPr sz="1400" b="0">
                <a:solidFill>
                  <a:srgbClr val="D4E7E6"/>
                </a:solidFill>
                <a:latin typeface="Inter"/>
              </a:rPr>
              <a:t>How the design looks as classes, how one request flows through it, and how it satisfies all five SOLID principles.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BC5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BC5A2B"/>
                </a:solidFill>
                <a:latin typeface="Inter SemiBold"/>
              </a:rPr>
              <a:t>ARCHITECTURE  ·  STRUCTURE  ·  FACTORY METHOD</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0E7C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0E7C72"/>
                </a:solidFill>
                <a:latin typeface="Inter SemiBold"/>
              </a:rPr>
              <a:t>SECTION 3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300" b="0">
                <a:solidFill>
                  <a:srgbClr val="1C1A16"/>
                </a:solidFill>
                <a:latin typeface="Spectral SemiBold"/>
              </a:rPr>
              <a:t>Class view — the Factory Method side.</a:t>
            </a:r>
          </a:p>
        </p:txBody>
      </p:sp>
      <p:sp>
        <p:nvSpPr>
          <p:cNvPr id="11" name="TextBox 10"/>
          <p:cNvSpPr txBox="1"/>
          <p:nvPr/>
        </p:nvSpPr>
        <p:spPr>
          <a:xfrm>
            <a:off x="749808" y="1938528"/>
            <a:ext cx="9777679" cy="640080"/>
          </a:xfrm>
          <a:prstGeom prst="rect">
            <a:avLst/>
          </a:prstGeom>
          <a:noFill/>
        </p:spPr>
        <p:txBody>
          <a:bodyPr wrap="square" anchor="t" lIns="0" rIns="0" tIns="0" bIns="0">
            <a:spAutoFit/>
          </a:bodyPr>
          <a:lstStyle/>
          <a:p>
            <a:pPr algn="l">
              <a:lnSpc>
                <a:spcPct val="136000"/>
              </a:lnSpc>
            </a:pPr>
            <a:r>
              <a:rPr sz="1150" b="0">
                <a:solidFill>
                  <a:srgbClr val="8C877D"/>
                </a:solidFill>
                <a:latin typeface="Inter"/>
              </a:rPr>
              <a:t>TaskManager talks only to the abstract TaskFactory, which creates a Task. Each concrete factory and each concrete task slots in underneath.</a:t>
            </a:r>
          </a:p>
        </p:txBody>
      </p:sp>
      <p:sp>
        <p:nvSpPr>
          <p:cNvPr id="12" name="Rounded Rectangle 11"/>
          <p:cNvSpPr/>
          <p:nvPr/>
        </p:nvSpPr>
        <p:spPr>
          <a:xfrm>
            <a:off x="749808" y="2505456"/>
            <a:ext cx="10692079" cy="3639312"/>
          </a:xfrm>
          <a:prstGeom prst="roundRect">
            <a:avLst>
              <a:gd name="adj" fmla="val 3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749808" y="2505456"/>
            <a:ext cx="10692079" cy="0"/>
          </a:xfrm>
          <a:prstGeom prst="line">
            <a:avLst/>
          </a:prstGeom>
          <a:ln w="30480">
            <a:solidFill>
              <a:srgbClr val="BC5A2B"/>
            </a:solidFill>
          </a:ln>
          <a:effectLst/>
        </p:spPr>
        <p:style>
          <a:lnRef idx="2">
            <a:schemeClr val="accent1"/>
          </a:lnRef>
          <a:fillRef idx="0">
            <a:schemeClr val="accent1"/>
          </a:fillRef>
          <a:effectRef idx="1">
            <a:schemeClr val="accent1"/>
          </a:effectRef>
          <a:fontRef idx="minor">
            <a:schemeClr val="tx1"/>
          </a:fontRef>
        </p:style>
      </p:cxnSp>
      <p:pic>
        <p:nvPicPr>
          <p:cNvPr id="14" name="Picture 13" descr="class-factory.png"/>
          <p:cNvPicPr>
            <a:picLocks noChangeAspect="1"/>
          </p:cNvPicPr>
          <p:nvPr/>
        </p:nvPicPr>
        <p:blipFill>
          <a:blip r:embed="rId2"/>
          <a:stretch>
            <a:fillRect/>
          </a:stretch>
        </p:blipFill>
        <p:spPr>
          <a:xfrm>
            <a:off x="1860757" y="2706624"/>
            <a:ext cx="8470180" cy="3273552"/>
          </a:xfrm>
          <a:prstGeom prst="rect">
            <a:avLst/>
          </a:prstGeom>
        </p:spPr>
      </p:pic>
      <p:sp>
        <p:nvSpPr>
          <p:cNvPr id="15" name="TextBox 14"/>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16" name="TextBox 15"/>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17 / 32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0E7C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0E7C72"/>
                </a:solidFill>
                <a:latin typeface="Inter SemiBold"/>
              </a:rPr>
              <a:t>ARCHITECTURE  ·  STRUCTURE  ·  STRATEGY</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0E7C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0E7C72"/>
                </a:solidFill>
                <a:latin typeface="Inter SemiBold"/>
              </a:rPr>
              <a:t>SECTION 3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300" b="0">
                <a:solidFill>
                  <a:srgbClr val="1C1A16"/>
                </a:solidFill>
                <a:latin typeface="Spectral SemiBold"/>
              </a:rPr>
              <a:t>Class view — the Strategy side.</a:t>
            </a:r>
          </a:p>
        </p:txBody>
      </p:sp>
      <p:sp>
        <p:nvSpPr>
          <p:cNvPr id="11" name="TextBox 10"/>
          <p:cNvSpPr txBox="1"/>
          <p:nvPr/>
        </p:nvSpPr>
        <p:spPr>
          <a:xfrm>
            <a:off x="749808" y="1938528"/>
            <a:ext cx="9777679" cy="640080"/>
          </a:xfrm>
          <a:prstGeom prst="rect">
            <a:avLst/>
          </a:prstGeom>
          <a:noFill/>
        </p:spPr>
        <p:txBody>
          <a:bodyPr wrap="square" anchor="t" lIns="0" rIns="0" tIns="0" bIns="0">
            <a:spAutoFit/>
          </a:bodyPr>
          <a:lstStyle/>
          <a:p>
            <a:pPr algn="l">
              <a:lnSpc>
                <a:spcPct val="136000"/>
              </a:lnSpc>
            </a:pPr>
            <a:r>
              <a:rPr sz="1150" b="0">
                <a:solidFill>
                  <a:srgbClr val="8C877D"/>
                </a:solidFill>
                <a:latin typeface="Inter"/>
              </a:rPr>
              <a:t>TaskManager holds one PriorityStrategy and can swap it at runtime. Each ordering is an interchangeable implementation of the same interface.</a:t>
            </a:r>
          </a:p>
        </p:txBody>
      </p:sp>
      <p:sp>
        <p:nvSpPr>
          <p:cNvPr id="12" name="Rounded Rectangle 11"/>
          <p:cNvSpPr/>
          <p:nvPr/>
        </p:nvSpPr>
        <p:spPr>
          <a:xfrm>
            <a:off x="749808" y="2505456"/>
            <a:ext cx="10692079" cy="3639312"/>
          </a:xfrm>
          <a:prstGeom prst="roundRect">
            <a:avLst>
              <a:gd name="adj" fmla="val 3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749808" y="2505456"/>
            <a:ext cx="10692079" cy="0"/>
          </a:xfrm>
          <a:prstGeom prst="line">
            <a:avLst/>
          </a:prstGeom>
          <a:ln w="30480">
            <a:solidFill>
              <a:srgbClr val="0E7C72"/>
            </a:solidFill>
          </a:ln>
          <a:effectLst/>
        </p:spPr>
        <p:style>
          <a:lnRef idx="2">
            <a:schemeClr val="accent1"/>
          </a:lnRef>
          <a:fillRef idx="0">
            <a:schemeClr val="accent1"/>
          </a:fillRef>
          <a:effectRef idx="1">
            <a:schemeClr val="accent1"/>
          </a:effectRef>
          <a:fontRef idx="minor">
            <a:schemeClr val="tx1"/>
          </a:fontRef>
        </p:style>
      </p:cxnSp>
      <p:pic>
        <p:nvPicPr>
          <p:cNvPr id="14" name="Picture 13" descr="class-strategy.png"/>
          <p:cNvPicPr>
            <a:picLocks noChangeAspect="1"/>
          </p:cNvPicPr>
          <p:nvPr/>
        </p:nvPicPr>
        <p:blipFill>
          <a:blip r:embed="rId2"/>
          <a:stretch>
            <a:fillRect/>
          </a:stretch>
        </p:blipFill>
        <p:spPr>
          <a:xfrm>
            <a:off x="2183553" y="2706624"/>
            <a:ext cx="7824587" cy="3273552"/>
          </a:xfrm>
          <a:prstGeom prst="rect">
            <a:avLst/>
          </a:prstGeom>
        </p:spPr>
      </p:pic>
      <p:sp>
        <p:nvSpPr>
          <p:cNvPr id="15" name="TextBox 14"/>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16" name="TextBox 15"/>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18 / 32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BC5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BC5A2B"/>
                </a:solidFill>
                <a:latin typeface="Inter SemiBold"/>
              </a:rPr>
              <a:t>ARCHITECTURE  ·  BEHAVIOUR  ·  CREATION</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0E7C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0E7C72"/>
                </a:solidFill>
                <a:latin typeface="Inter SemiBold"/>
              </a:rPr>
              <a:t>SECTION 3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300" b="0">
                <a:solidFill>
                  <a:srgbClr val="1C1A16"/>
                </a:solidFill>
                <a:latin typeface="Spectral SemiBold"/>
              </a:rPr>
              <a:t>Creating a task, step by step.</a:t>
            </a:r>
          </a:p>
        </p:txBody>
      </p:sp>
      <p:sp>
        <p:nvSpPr>
          <p:cNvPr id="11" name="TextBox 10"/>
          <p:cNvSpPr txBox="1"/>
          <p:nvPr/>
        </p:nvSpPr>
        <p:spPr>
          <a:xfrm>
            <a:off x="749808" y="1938528"/>
            <a:ext cx="9777679" cy="640080"/>
          </a:xfrm>
          <a:prstGeom prst="rect">
            <a:avLst/>
          </a:prstGeom>
          <a:noFill/>
        </p:spPr>
        <p:txBody>
          <a:bodyPr wrap="square" anchor="t" lIns="0" rIns="0" tIns="0" bIns="0">
            <a:spAutoFit/>
          </a:bodyPr>
          <a:lstStyle/>
          <a:p>
            <a:pPr algn="l">
              <a:lnSpc>
                <a:spcPct val="136000"/>
              </a:lnSpc>
            </a:pPr>
            <a:r>
              <a:rPr sz="1150" b="0">
                <a:solidFill>
                  <a:srgbClr val="8C877D"/>
                </a:solidFill>
                <a:latin typeface="Inter"/>
              </a:rPr>
              <a:t>The caller passes a type string; the manager looks up the registered factory and returns a Task. No concrete class is ever named by the caller.</a:t>
            </a:r>
          </a:p>
        </p:txBody>
      </p:sp>
      <p:sp>
        <p:nvSpPr>
          <p:cNvPr id="12" name="Rounded Rectangle 11"/>
          <p:cNvSpPr/>
          <p:nvPr/>
        </p:nvSpPr>
        <p:spPr>
          <a:xfrm>
            <a:off x="749808" y="2505456"/>
            <a:ext cx="10692079" cy="3639312"/>
          </a:xfrm>
          <a:prstGeom prst="roundRect">
            <a:avLst>
              <a:gd name="adj" fmla="val 3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749808" y="2505456"/>
            <a:ext cx="10692079" cy="0"/>
          </a:xfrm>
          <a:prstGeom prst="line">
            <a:avLst/>
          </a:prstGeom>
          <a:ln w="30480">
            <a:solidFill>
              <a:srgbClr val="BC5A2B"/>
            </a:solidFill>
          </a:ln>
          <a:effectLst/>
        </p:spPr>
        <p:style>
          <a:lnRef idx="2">
            <a:schemeClr val="accent1"/>
          </a:lnRef>
          <a:fillRef idx="0">
            <a:schemeClr val="accent1"/>
          </a:fillRef>
          <a:effectRef idx="1">
            <a:schemeClr val="accent1"/>
          </a:effectRef>
          <a:fontRef idx="minor">
            <a:schemeClr val="tx1"/>
          </a:fontRef>
        </p:style>
      </p:cxnSp>
      <p:pic>
        <p:nvPicPr>
          <p:cNvPr id="14" name="Picture 13" descr="seq-create.png"/>
          <p:cNvPicPr>
            <a:picLocks noChangeAspect="1"/>
          </p:cNvPicPr>
          <p:nvPr/>
        </p:nvPicPr>
        <p:blipFill>
          <a:blip r:embed="rId2"/>
          <a:stretch>
            <a:fillRect/>
          </a:stretch>
        </p:blipFill>
        <p:spPr>
          <a:xfrm>
            <a:off x="2780001" y="2706624"/>
            <a:ext cx="6631691" cy="3273552"/>
          </a:xfrm>
          <a:prstGeom prst="rect">
            <a:avLst/>
          </a:prstGeom>
        </p:spPr>
      </p:pic>
      <p:sp>
        <p:nvSpPr>
          <p:cNvPr id="15" name="TextBox 14"/>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16" name="TextBox 15"/>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19 / 32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0E7C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0E7C72"/>
                </a:solidFill>
                <a:latin typeface="Inter SemiBold"/>
              </a:rPr>
              <a:t>ARCHITECTURE  ·  BEHAVIOUR  ·  ORDERING</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0E7C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0E7C72"/>
                </a:solidFill>
                <a:latin typeface="Inter SemiBold"/>
              </a:rPr>
              <a:t>SECTION 3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300" b="0">
                <a:solidFill>
                  <a:srgbClr val="1C1A16"/>
                </a:solidFill>
                <a:latin typeface="Spectral SemiBold"/>
              </a:rPr>
              <a:t>Ordering the list, step by step.</a:t>
            </a:r>
          </a:p>
        </p:txBody>
      </p:sp>
      <p:sp>
        <p:nvSpPr>
          <p:cNvPr id="11" name="TextBox 10"/>
          <p:cNvSpPr txBox="1"/>
          <p:nvPr/>
        </p:nvSpPr>
        <p:spPr>
          <a:xfrm>
            <a:off x="749808" y="1938528"/>
            <a:ext cx="9777679" cy="640080"/>
          </a:xfrm>
          <a:prstGeom prst="rect">
            <a:avLst/>
          </a:prstGeom>
          <a:noFill/>
        </p:spPr>
        <p:txBody>
          <a:bodyPr wrap="square" anchor="t" lIns="0" rIns="0" tIns="0" bIns="0">
            <a:spAutoFit/>
          </a:bodyPr>
          <a:lstStyle/>
          <a:p>
            <a:pPr algn="l">
              <a:lnSpc>
                <a:spcPct val="136000"/>
              </a:lnSpc>
            </a:pPr>
            <a:r>
              <a:rPr sz="1150" b="0">
                <a:solidFill>
                  <a:srgbClr val="8C877D"/>
                </a:solidFill>
                <a:latin typeface="Inter"/>
              </a:rPr>
              <a:t>Set a strategy, then ask for the prioritized list. The manager delegates the sort to whichever strategy is currently set.</a:t>
            </a:r>
          </a:p>
        </p:txBody>
      </p:sp>
      <p:sp>
        <p:nvSpPr>
          <p:cNvPr id="12" name="Rounded Rectangle 11"/>
          <p:cNvSpPr/>
          <p:nvPr/>
        </p:nvSpPr>
        <p:spPr>
          <a:xfrm>
            <a:off x="749808" y="2505456"/>
            <a:ext cx="10692079" cy="3639312"/>
          </a:xfrm>
          <a:prstGeom prst="roundRect">
            <a:avLst>
              <a:gd name="adj" fmla="val 3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749808" y="2505456"/>
            <a:ext cx="10692079" cy="0"/>
          </a:xfrm>
          <a:prstGeom prst="line">
            <a:avLst/>
          </a:prstGeom>
          <a:ln w="30480">
            <a:solidFill>
              <a:srgbClr val="0E7C72"/>
            </a:solidFill>
          </a:ln>
          <a:effectLst/>
        </p:spPr>
        <p:style>
          <a:lnRef idx="2">
            <a:schemeClr val="accent1"/>
          </a:lnRef>
          <a:fillRef idx="0">
            <a:schemeClr val="accent1"/>
          </a:fillRef>
          <a:effectRef idx="1">
            <a:schemeClr val="accent1"/>
          </a:effectRef>
          <a:fontRef idx="minor">
            <a:schemeClr val="tx1"/>
          </a:fontRef>
        </p:style>
      </p:cxnSp>
      <p:pic>
        <p:nvPicPr>
          <p:cNvPr id="14" name="Picture 13" descr="seq-order.png"/>
          <p:cNvPicPr>
            <a:picLocks noChangeAspect="1"/>
          </p:cNvPicPr>
          <p:nvPr/>
        </p:nvPicPr>
        <p:blipFill>
          <a:blip r:embed="rId2"/>
          <a:stretch>
            <a:fillRect/>
          </a:stretch>
        </p:blipFill>
        <p:spPr>
          <a:xfrm>
            <a:off x="3524239" y="2706624"/>
            <a:ext cx="5143215" cy="3273552"/>
          </a:xfrm>
          <a:prstGeom prst="rect">
            <a:avLst/>
          </a:prstGeom>
        </p:spPr>
      </p:pic>
      <p:sp>
        <p:nvSpPr>
          <p:cNvPr id="15" name="TextBox 14"/>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16" name="TextBox 15"/>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20 / 32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0E7C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0E7C72"/>
                </a:solidFill>
                <a:latin typeface="Inter SemiBold"/>
              </a:rPr>
              <a:t>IMPLEMENTATION  ·  STRUCTURE</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0E7C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0E7C72"/>
                </a:solidFill>
                <a:latin typeface="Inter SemiBold"/>
              </a:rPr>
              <a:t>SECTION 3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900" b="0">
                <a:solidFill>
                  <a:srgbClr val="1C1A16"/>
                </a:solidFill>
                <a:latin typeface="Spectral SemiBold"/>
              </a:rPr>
              <a:t>Sixteen files, three layers.</a:t>
            </a:r>
          </a:p>
        </p:txBody>
      </p:sp>
      <p:sp>
        <p:nvSpPr>
          <p:cNvPr id="11" name="TextBox 10"/>
          <p:cNvSpPr txBox="1"/>
          <p:nvPr/>
        </p:nvSpPr>
        <p:spPr>
          <a:xfrm>
            <a:off x="749808" y="2066543"/>
            <a:ext cx="9777679" cy="640080"/>
          </a:xfrm>
          <a:prstGeom prst="rect">
            <a:avLst/>
          </a:prstGeom>
          <a:noFill/>
        </p:spPr>
        <p:txBody>
          <a:bodyPr wrap="square" anchor="t" lIns="0" rIns="0" tIns="0" bIns="0">
            <a:spAutoFit/>
          </a:bodyPr>
          <a:lstStyle/>
          <a:p>
            <a:pPr algn="l">
              <a:lnSpc>
                <a:spcPct val="136000"/>
              </a:lnSpc>
            </a:pPr>
            <a:r>
              <a:rPr sz="1300" b="0">
                <a:solidFill>
                  <a:srgbClr val="57534B"/>
                </a:solidFill>
                <a:latin typeface="Inter"/>
              </a:rPr>
              <a:t>No package declarations, only java.util and java.time imported. The columns mirror the three layers of the class diagram.</a:t>
            </a:r>
          </a:p>
        </p:txBody>
      </p:sp>
      <p:sp>
        <p:nvSpPr>
          <p:cNvPr id="12" name="Rounded Rectangle 11"/>
          <p:cNvSpPr/>
          <p:nvPr/>
        </p:nvSpPr>
        <p:spPr>
          <a:xfrm>
            <a:off x="749808" y="2505456"/>
            <a:ext cx="3289706" cy="3291840"/>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24127" y="2761488"/>
            <a:ext cx="457200" cy="457200"/>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ube-01__indigo.png"/>
          <p:cNvPicPr>
            <a:picLocks noChangeAspect="1"/>
          </p:cNvPicPr>
          <p:nvPr/>
        </p:nvPicPr>
        <p:blipFill>
          <a:blip r:embed="rId2"/>
          <a:stretch>
            <a:fillRect/>
          </a:stretch>
        </p:blipFill>
        <p:spPr>
          <a:xfrm>
            <a:off x="1124712" y="2862072"/>
            <a:ext cx="256032" cy="256032"/>
          </a:xfrm>
          <a:prstGeom prst="rect">
            <a:avLst/>
          </a:prstGeom>
        </p:spPr>
      </p:pic>
      <p:sp>
        <p:nvSpPr>
          <p:cNvPr id="15" name="TextBox 14"/>
          <p:cNvSpPr txBox="1"/>
          <p:nvPr/>
        </p:nvSpPr>
        <p:spPr>
          <a:xfrm>
            <a:off x="1645919" y="2761488"/>
            <a:ext cx="2192426" cy="457200"/>
          </a:xfrm>
          <a:prstGeom prst="rect">
            <a:avLst/>
          </a:prstGeom>
          <a:noFill/>
        </p:spPr>
        <p:txBody>
          <a:bodyPr wrap="square" anchor="ctr" lIns="0" rIns="0" tIns="0" bIns="0">
            <a:spAutoFit/>
          </a:bodyPr>
          <a:lstStyle/>
          <a:p>
            <a:pPr algn="l"/>
            <a:r>
              <a:rPr sz="1100" b="0" spc="140">
                <a:solidFill>
                  <a:srgbClr val="1C1A16"/>
                </a:solidFill>
                <a:latin typeface="Inter SemiBold"/>
              </a:rPr>
              <a:t>PRODUCT LAYER</a:t>
            </a:r>
          </a:p>
        </p:txBody>
      </p:sp>
      <p:sp>
        <p:nvSpPr>
          <p:cNvPr id="16" name="TextBox 15"/>
          <p:cNvSpPr txBox="1"/>
          <p:nvPr/>
        </p:nvSpPr>
        <p:spPr>
          <a:xfrm>
            <a:off x="1060704" y="3447288"/>
            <a:ext cx="201168" cy="274320"/>
          </a:xfrm>
          <a:prstGeom prst="rect">
            <a:avLst/>
          </a:prstGeom>
          <a:noFill/>
        </p:spPr>
        <p:txBody>
          <a:bodyPr wrap="square" anchor="t" lIns="0" rIns="0" tIns="0" bIns="0">
            <a:spAutoFit/>
          </a:bodyPr>
          <a:lstStyle/>
          <a:p>
            <a:pPr algn="l"/>
            <a:r>
              <a:rPr sz="1150" b="0">
                <a:solidFill>
                  <a:srgbClr val="4A45C7"/>
                </a:solidFill>
                <a:latin typeface="Inter SemiBold"/>
              </a:rPr>
              <a:t>›</a:t>
            </a:r>
          </a:p>
        </p:txBody>
      </p:sp>
      <p:sp>
        <p:nvSpPr>
          <p:cNvPr id="17" name="TextBox 16"/>
          <p:cNvSpPr txBox="1"/>
          <p:nvPr/>
        </p:nvSpPr>
        <p:spPr>
          <a:xfrm>
            <a:off x="1280160" y="3456432"/>
            <a:ext cx="2503322" cy="548640"/>
          </a:xfrm>
          <a:prstGeom prst="rect">
            <a:avLst/>
          </a:prstGeom>
          <a:noFill/>
        </p:spPr>
        <p:txBody>
          <a:bodyPr wrap="square" anchor="t" lIns="0" rIns="0" tIns="0" bIns="0">
            <a:spAutoFit/>
          </a:bodyPr>
          <a:lstStyle/>
          <a:p>
            <a:pPr algn="l">
              <a:lnSpc>
                <a:spcPct val="120000"/>
              </a:lnSpc>
            </a:pPr>
            <a:r>
              <a:rPr sz="1150" b="0">
                <a:solidFill>
                  <a:srgbClr val="57534B"/>
                </a:solidFill>
                <a:latin typeface="Inter"/>
              </a:rPr>
              <a:t>Task (interface)</a:t>
            </a:r>
          </a:p>
        </p:txBody>
      </p:sp>
      <p:sp>
        <p:nvSpPr>
          <p:cNvPr id="18" name="TextBox 17"/>
          <p:cNvSpPr txBox="1"/>
          <p:nvPr/>
        </p:nvSpPr>
        <p:spPr>
          <a:xfrm>
            <a:off x="1060704" y="3904488"/>
            <a:ext cx="201168" cy="274320"/>
          </a:xfrm>
          <a:prstGeom prst="rect">
            <a:avLst/>
          </a:prstGeom>
          <a:noFill/>
        </p:spPr>
        <p:txBody>
          <a:bodyPr wrap="square" anchor="t" lIns="0" rIns="0" tIns="0" bIns="0">
            <a:spAutoFit/>
          </a:bodyPr>
          <a:lstStyle/>
          <a:p>
            <a:pPr algn="l"/>
            <a:r>
              <a:rPr sz="1150" b="0">
                <a:solidFill>
                  <a:srgbClr val="4A45C7"/>
                </a:solidFill>
                <a:latin typeface="Inter SemiBold"/>
              </a:rPr>
              <a:t>›</a:t>
            </a:r>
          </a:p>
        </p:txBody>
      </p:sp>
      <p:sp>
        <p:nvSpPr>
          <p:cNvPr id="19" name="TextBox 18"/>
          <p:cNvSpPr txBox="1"/>
          <p:nvPr/>
        </p:nvSpPr>
        <p:spPr>
          <a:xfrm>
            <a:off x="1280160" y="3913632"/>
            <a:ext cx="2503322" cy="548640"/>
          </a:xfrm>
          <a:prstGeom prst="rect">
            <a:avLst/>
          </a:prstGeom>
          <a:noFill/>
        </p:spPr>
        <p:txBody>
          <a:bodyPr wrap="square" anchor="t" lIns="0" rIns="0" tIns="0" bIns="0">
            <a:spAutoFit/>
          </a:bodyPr>
          <a:lstStyle/>
          <a:p>
            <a:pPr algn="l">
              <a:lnSpc>
                <a:spcPct val="120000"/>
              </a:lnSpc>
            </a:pPr>
            <a:r>
              <a:rPr sz="1150" b="0">
                <a:solidFill>
                  <a:srgbClr val="57534B"/>
                </a:solidFill>
                <a:latin typeface="Inter"/>
              </a:rPr>
              <a:t>AbstractTask (base)</a:t>
            </a:r>
          </a:p>
        </p:txBody>
      </p:sp>
      <p:sp>
        <p:nvSpPr>
          <p:cNvPr id="20" name="TextBox 19"/>
          <p:cNvSpPr txBox="1"/>
          <p:nvPr/>
        </p:nvSpPr>
        <p:spPr>
          <a:xfrm>
            <a:off x="1060704" y="4361688"/>
            <a:ext cx="201168" cy="274320"/>
          </a:xfrm>
          <a:prstGeom prst="rect">
            <a:avLst/>
          </a:prstGeom>
          <a:noFill/>
        </p:spPr>
        <p:txBody>
          <a:bodyPr wrap="square" anchor="t" lIns="0" rIns="0" tIns="0" bIns="0">
            <a:spAutoFit/>
          </a:bodyPr>
          <a:lstStyle/>
          <a:p>
            <a:pPr algn="l"/>
            <a:r>
              <a:rPr sz="1150" b="0">
                <a:solidFill>
                  <a:srgbClr val="4A45C7"/>
                </a:solidFill>
                <a:latin typeface="Inter SemiBold"/>
              </a:rPr>
              <a:t>›</a:t>
            </a:r>
          </a:p>
        </p:txBody>
      </p:sp>
      <p:sp>
        <p:nvSpPr>
          <p:cNvPr id="21" name="TextBox 20"/>
          <p:cNvSpPr txBox="1"/>
          <p:nvPr/>
        </p:nvSpPr>
        <p:spPr>
          <a:xfrm>
            <a:off x="1280160" y="4370832"/>
            <a:ext cx="2503322" cy="548640"/>
          </a:xfrm>
          <a:prstGeom prst="rect">
            <a:avLst/>
          </a:prstGeom>
          <a:noFill/>
        </p:spPr>
        <p:txBody>
          <a:bodyPr wrap="square" anchor="t" lIns="0" rIns="0" tIns="0" bIns="0">
            <a:spAutoFit/>
          </a:bodyPr>
          <a:lstStyle/>
          <a:p>
            <a:pPr algn="l">
              <a:lnSpc>
                <a:spcPct val="120000"/>
              </a:lnSpc>
            </a:pPr>
            <a:r>
              <a:rPr sz="1150" b="0">
                <a:solidFill>
                  <a:srgbClr val="57534B"/>
                </a:solidFill>
                <a:latin typeface="Inter"/>
              </a:rPr>
              <a:t>BugTask, FeatureTask</a:t>
            </a:r>
          </a:p>
        </p:txBody>
      </p:sp>
      <p:sp>
        <p:nvSpPr>
          <p:cNvPr id="22" name="TextBox 21"/>
          <p:cNvSpPr txBox="1"/>
          <p:nvPr/>
        </p:nvSpPr>
        <p:spPr>
          <a:xfrm>
            <a:off x="1060704" y="4818888"/>
            <a:ext cx="201168" cy="274320"/>
          </a:xfrm>
          <a:prstGeom prst="rect">
            <a:avLst/>
          </a:prstGeom>
          <a:noFill/>
        </p:spPr>
        <p:txBody>
          <a:bodyPr wrap="square" anchor="t" lIns="0" rIns="0" tIns="0" bIns="0">
            <a:spAutoFit/>
          </a:bodyPr>
          <a:lstStyle/>
          <a:p>
            <a:pPr algn="l"/>
            <a:r>
              <a:rPr sz="1150" b="0">
                <a:solidFill>
                  <a:srgbClr val="4A45C7"/>
                </a:solidFill>
                <a:latin typeface="Inter SemiBold"/>
              </a:rPr>
              <a:t>›</a:t>
            </a:r>
          </a:p>
        </p:txBody>
      </p:sp>
      <p:sp>
        <p:nvSpPr>
          <p:cNvPr id="23" name="TextBox 22"/>
          <p:cNvSpPr txBox="1"/>
          <p:nvPr/>
        </p:nvSpPr>
        <p:spPr>
          <a:xfrm>
            <a:off x="1280160" y="4828032"/>
            <a:ext cx="2503322" cy="548640"/>
          </a:xfrm>
          <a:prstGeom prst="rect">
            <a:avLst/>
          </a:prstGeom>
          <a:noFill/>
        </p:spPr>
        <p:txBody>
          <a:bodyPr wrap="square" anchor="t" lIns="0" rIns="0" tIns="0" bIns="0">
            <a:spAutoFit/>
          </a:bodyPr>
          <a:lstStyle/>
          <a:p>
            <a:pPr algn="l">
              <a:lnSpc>
                <a:spcPct val="120000"/>
              </a:lnSpc>
            </a:pPr>
            <a:r>
              <a:rPr sz="1150" b="0">
                <a:solidFill>
                  <a:srgbClr val="57534B"/>
                </a:solidFill>
                <a:latin typeface="Inter"/>
              </a:rPr>
              <a:t>DocumentationTask</a:t>
            </a:r>
          </a:p>
        </p:txBody>
      </p:sp>
      <p:sp>
        <p:nvSpPr>
          <p:cNvPr id="24" name="TextBox 23"/>
          <p:cNvSpPr txBox="1"/>
          <p:nvPr/>
        </p:nvSpPr>
        <p:spPr>
          <a:xfrm>
            <a:off x="1060704" y="5276088"/>
            <a:ext cx="201168" cy="274320"/>
          </a:xfrm>
          <a:prstGeom prst="rect">
            <a:avLst/>
          </a:prstGeom>
          <a:noFill/>
        </p:spPr>
        <p:txBody>
          <a:bodyPr wrap="square" anchor="t" lIns="0" rIns="0" tIns="0" bIns="0">
            <a:spAutoFit/>
          </a:bodyPr>
          <a:lstStyle/>
          <a:p>
            <a:pPr algn="l"/>
            <a:r>
              <a:rPr sz="1150" b="0">
                <a:solidFill>
                  <a:srgbClr val="4A45C7"/>
                </a:solidFill>
                <a:latin typeface="Inter SemiBold"/>
              </a:rPr>
              <a:t>›</a:t>
            </a:r>
          </a:p>
        </p:txBody>
      </p:sp>
      <p:sp>
        <p:nvSpPr>
          <p:cNvPr id="25" name="TextBox 24"/>
          <p:cNvSpPr txBox="1"/>
          <p:nvPr/>
        </p:nvSpPr>
        <p:spPr>
          <a:xfrm>
            <a:off x="1280160" y="5285232"/>
            <a:ext cx="2503322" cy="548640"/>
          </a:xfrm>
          <a:prstGeom prst="rect">
            <a:avLst/>
          </a:prstGeom>
          <a:noFill/>
        </p:spPr>
        <p:txBody>
          <a:bodyPr wrap="square" anchor="t" lIns="0" rIns="0" tIns="0" bIns="0">
            <a:spAutoFit/>
          </a:bodyPr>
          <a:lstStyle/>
          <a:p>
            <a:pPr algn="l">
              <a:lnSpc>
                <a:spcPct val="120000"/>
              </a:lnSpc>
            </a:pPr>
            <a:r>
              <a:rPr sz="1150" b="0">
                <a:solidFill>
                  <a:srgbClr val="57534B"/>
                </a:solidFill>
                <a:latin typeface="Inter"/>
              </a:rPr>
              <a:t>TaskStatus (enum)</a:t>
            </a:r>
          </a:p>
        </p:txBody>
      </p:sp>
      <p:sp>
        <p:nvSpPr>
          <p:cNvPr id="26" name="Rounded Rectangle 25"/>
          <p:cNvSpPr/>
          <p:nvPr/>
        </p:nvSpPr>
        <p:spPr>
          <a:xfrm>
            <a:off x="4450994" y="2505456"/>
            <a:ext cx="3289706" cy="3291840"/>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4725314" y="2761488"/>
            <a:ext cx="457200" cy="457200"/>
          </a:xfrm>
          <a:prstGeom prst="roundRect">
            <a:avLst>
              <a:gd name="adj" fmla="val 30000"/>
            </a:avLst>
          </a:prstGeom>
          <a:solidFill>
            <a:srgbClr val="F0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puzzle-piece-01__violet.png"/>
          <p:cNvPicPr>
            <a:picLocks noChangeAspect="1"/>
          </p:cNvPicPr>
          <p:nvPr/>
        </p:nvPicPr>
        <p:blipFill>
          <a:blip r:embed="rId3"/>
          <a:stretch>
            <a:fillRect/>
          </a:stretch>
        </p:blipFill>
        <p:spPr>
          <a:xfrm>
            <a:off x="4825898" y="2862072"/>
            <a:ext cx="256032" cy="256032"/>
          </a:xfrm>
          <a:prstGeom prst="rect">
            <a:avLst/>
          </a:prstGeom>
        </p:spPr>
      </p:pic>
      <p:sp>
        <p:nvSpPr>
          <p:cNvPr id="29" name="TextBox 28"/>
          <p:cNvSpPr txBox="1"/>
          <p:nvPr/>
        </p:nvSpPr>
        <p:spPr>
          <a:xfrm>
            <a:off x="5347106" y="2761488"/>
            <a:ext cx="2192426" cy="457200"/>
          </a:xfrm>
          <a:prstGeom prst="rect">
            <a:avLst/>
          </a:prstGeom>
          <a:noFill/>
        </p:spPr>
        <p:txBody>
          <a:bodyPr wrap="square" anchor="ctr" lIns="0" rIns="0" tIns="0" bIns="0">
            <a:spAutoFit/>
          </a:bodyPr>
          <a:lstStyle/>
          <a:p>
            <a:pPr algn="l"/>
            <a:r>
              <a:rPr sz="1100" b="0" spc="140">
                <a:solidFill>
                  <a:srgbClr val="1C1A16"/>
                </a:solidFill>
                <a:latin typeface="Inter SemiBold"/>
              </a:rPr>
              <a:t>PATTERN LAYER</a:t>
            </a:r>
          </a:p>
        </p:txBody>
      </p:sp>
      <p:sp>
        <p:nvSpPr>
          <p:cNvPr id="30" name="TextBox 29"/>
          <p:cNvSpPr txBox="1"/>
          <p:nvPr/>
        </p:nvSpPr>
        <p:spPr>
          <a:xfrm>
            <a:off x="4761890" y="3447288"/>
            <a:ext cx="201168" cy="274320"/>
          </a:xfrm>
          <a:prstGeom prst="rect">
            <a:avLst/>
          </a:prstGeom>
          <a:noFill/>
        </p:spPr>
        <p:txBody>
          <a:bodyPr wrap="square" anchor="t" lIns="0" rIns="0" tIns="0" bIns="0">
            <a:spAutoFit/>
          </a:bodyPr>
          <a:lstStyle/>
          <a:p>
            <a:pPr algn="l"/>
            <a:r>
              <a:rPr sz="1150" b="0">
                <a:solidFill>
                  <a:srgbClr val="7C3AED"/>
                </a:solidFill>
                <a:latin typeface="Inter SemiBold"/>
              </a:rPr>
              <a:t>›</a:t>
            </a:r>
          </a:p>
        </p:txBody>
      </p:sp>
      <p:sp>
        <p:nvSpPr>
          <p:cNvPr id="31" name="TextBox 30"/>
          <p:cNvSpPr txBox="1"/>
          <p:nvPr/>
        </p:nvSpPr>
        <p:spPr>
          <a:xfrm>
            <a:off x="4981346" y="3456432"/>
            <a:ext cx="2503322" cy="548640"/>
          </a:xfrm>
          <a:prstGeom prst="rect">
            <a:avLst/>
          </a:prstGeom>
          <a:noFill/>
        </p:spPr>
        <p:txBody>
          <a:bodyPr wrap="square" anchor="t" lIns="0" rIns="0" tIns="0" bIns="0">
            <a:spAutoFit/>
          </a:bodyPr>
          <a:lstStyle/>
          <a:p>
            <a:pPr algn="l">
              <a:lnSpc>
                <a:spcPct val="120000"/>
              </a:lnSpc>
            </a:pPr>
            <a:r>
              <a:rPr sz="1150" b="0">
                <a:solidFill>
                  <a:srgbClr val="57534B"/>
                </a:solidFill>
                <a:latin typeface="Inter"/>
              </a:rPr>
              <a:t>TaskFactory (abstract)</a:t>
            </a:r>
          </a:p>
        </p:txBody>
      </p:sp>
      <p:sp>
        <p:nvSpPr>
          <p:cNvPr id="32" name="TextBox 31"/>
          <p:cNvSpPr txBox="1"/>
          <p:nvPr/>
        </p:nvSpPr>
        <p:spPr>
          <a:xfrm>
            <a:off x="4761890" y="3904488"/>
            <a:ext cx="201168" cy="274320"/>
          </a:xfrm>
          <a:prstGeom prst="rect">
            <a:avLst/>
          </a:prstGeom>
          <a:noFill/>
        </p:spPr>
        <p:txBody>
          <a:bodyPr wrap="square" anchor="t" lIns="0" rIns="0" tIns="0" bIns="0">
            <a:spAutoFit/>
          </a:bodyPr>
          <a:lstStyle/>
          <a:p>
            <a:pPr algn="l"/>
            <a:r>
              <a:rPr sz="1150" b="0">
                <a:solidFill>
                  <a:srgbClr val="7C3AED"/>
                </a:solidFill>
                <a:latin typeface="Inter SemiBold"/>
              </a:rPr>
              <a:t>›</a:t>
            </a:r>
          </a:p>
        </p:txBody>
      </p:sp>
      <p:sp>
        <p:nvSpPr>
          <p:cNvPr id="33" name="TextBox 32"/>
          <p:cNvSpPr txBox="1"/>
          <p:nvPr/>
        </p:nvSpPr>
        <p:spPr>
          <a:xfrm>
            <a:off x="4981346" y="3913632"/>
            <a:ext cx="2503322" cy="548640"/>
          </a:xfrm>
          <a:prstGeom prst="rect">
            <a:avLst/>
          </a:prstGeom>
          <a:noFill/>
        </p:spPr>
        <p:txBody>
          <a:bodyPr wrap="square" anchor="t" lIns="0" rIns="0" tIns="0" bIns="0">
            <a:spAutoFit/>
          </a:bodyPr>
          <a:lstStyle/>
          <a:p>
            <a:pPr algn="l">
              <a:lnSpc>
                <a:spcPct val="120000"/>
              </a:lnSpc>
            </a:pPr>
            <a:r>
              <a:rPr sz="1150" b="0">
                <a:solidFill>
                  <a:srgbClr val="57534B"/>
                </a:solidFill>
                <a:latin typeface="Inter"/>
              </a:rPr>
              <a:t>Bug / Feature / Doc factories</a:t>
            </a:r>
          </a:p>
        </p:txBody>
      </p:sp>
      <p:sp>
        <p:nvSpPr>
          <p:cNvPr id="34" name="TextBox 33"/>
          <p:cNvSpPr txBox="1"/>
          <p:nvPr/>
        </p:nvSpPr>
        <p:spPr>
          <a:xfrm>
            <a:off x="4761890" y="4361688"/>
            <a:ext cx="201168" cy="274320"/>
          </a:xfrm>
          <a:prstGeom prst="rect">
            <a:avLst/>
          </a:prstGeom>
          <a:noFill/>
        </p:spPr>
        <p:txBody>
          <a:bodyPr wrap="square" anchor="t" lIns="0" rIns="0" tIns="0" bIns="0">
            <a:spAutoFit/>
          </a:bodyPr>
          <a:lstStyle/>
          <a:p>
            <a:pPr algn="l"/>
            <a:r>
              <a:rPr sz="1150" b="0">
                <a:solidFill>
                  <a:srgbClr val="7C3AED"/>
                </a:solidFill>
                <a:latin typeface="Inter SemiBold"/>
              </a:rPr>
              <a:t>›</a:t>
            </a:r>
          </a:p>
        </p:txBody>
      </p:sp>
      <p:sp>
        <p:nvSpPr>
          <p:cNvPr id="35" name="TextBox 34"/>
          <p:cNvSpPr txBox="1"/>
          <p:nvPr/>
        </p:nvSpPr>
        <p:spPr>
          <a:xfrm>
            <a:off x="4981346" y="4370832"/>
            <a:ext cx="2503322" cy="548640"/>
          </a:xfrm>
          <a:prstGeom prst="rect">
            <a:avLst/>
          </a:prstGeom>
          <a:noFill/>
        </p:spPr>
        <p:txBody>
          <a:bodyPr wrap="square" anchor="t" lIns="0" rIns="0" tIns="0" bIns="0">
            <a:spAutoFit/>
          </a:bodyPr>
          <a:lstStyle/>
          <a:p>
            <a:pPr algn="l">
              <a:lnSpc>
                <a:spcPct val="120000"/>
              </a:lnSpc>
            </a:pPr>
            <a:r>
              <a:rPr sz="1150" b="0">
                <a:solidFill>
                  <a:srgbClr val="57534B"/>
                </a:solidFill>
                <a:latin typeface="Inter"/>
              </a:rPr>
              <a:t>PriorityStrategy (interface)</a:t>
            </a:r>
          </a:p>
        </p:txBody>
      </p:sp>
      <p:sp>
        <p:nvSpPr>
          <p:cNvPr id="36" name="TextBox 35"/>
          <p:cNvSpPr txBox="1"/>
          <p:nvPr/>
        </p:nvSpPr>
        <p:spPr>
          <a:xfrm>
            <a:off x="4761890" y="4818888"/>
            <a:ext cx="201168" cy="274320"/>
          </a:xfrm>
          <a:prstGeom prst="rect">
            <a:avLst/>
          </a:prstGeom>
          <a:noFill/>
        </p:spPr>
        <p:txBody>
          <a:bodyPr wrap="square" anchor="t" lIns="0" rIns="0" tIns="0" bIns="0">
            <a:spAutoFit/>
          </a:bodyPr>
          <a:lstStyle/>
          <a:p>
            <a:pPr algn="l"/>
            <a:r>
              <a:rPr sz="1150" b="0">
                <a:solidFill>
                  <a:srgbClr val="7C3AED"/>
                </a:solidFill>
                <a:latin typeface="Inter SemiBold"/>
              </a:rPr>
              <a:t>›</a:t>
            </a:r>
          </a:p>
        </p:txBody>
      </p:sp>
      <p:sp>
        <p:nvSpPr>
          <p:cNvPr id="37" name="TextBox 36"/>
          <p:cNvSpPr txBox="1"/>
          <p:nvPr/>
        </p:nvSpPr>
        <p:spPr>
          <a:xfrm>
            <a:off x="4981346" y="4828032"/>
            <a:ext cx="2503322" cy="548640"/>
          </a:xfrm>
          <a:prstGeom prst="rect">
            <a:avLst/>
          </a:prstGeom>
          <a:noFill/>
        </p:spPr>
        <p:txBody>
          <a:bodyPr wrap="square" anchor="t" lIns="0" rIns="0" tIns="0" bIns="0">
            <a:spAutoFit/>
          </a:bodyPr>
          <a:lstStyle/>
          <a:p>
            <a:pPr algn="l">
              <a:lnSpc>
                <a:spcPct val="120000"/>
              </a:lnSpc>
            </a:pPr>
            <a:r>
              <a:rPr sz="1150" b="0">
                <a:solidFill>
                  <a:srgbClr val="57534B"/>
                </a:solidFill>
                <a:latin typeface="Inter"/>
              </a:rPr>
              <a:t>UrgentFirst, DeadlineFirst</a:t>
            </a:r>
          </a:p>
        </p:txBody>
      </p:sp>
      <p:sp>
        <p:nvSpPr>
          <p:cNvPr id="38" name="TextBox 37"/>
          <p:cNvSpPr txBox="1"/>
          <p:nvPr/>
        </p:nvSpPr>
        <p:spPr>
          <a:xfrm>
            <a:off x="4761890" y="5276088"/>
            <a:ext cx="201168" cy="274320"/>
          </a:xfrm>
          <a:prstGeom prst="rect">
            <a:avLst/>
          </a:prstGeom>
          <a:noFill/>
        </p:spPr>
        <p:txBody>
          <a:bodyPr wrap="square" anchor="t" lIns="0" rIns="0" tIns="0" bIns="0">
            <a:spAutoFit/>
          </a:bodyPr>
          <a:lstStyle/>
          <a:p>
            <a:pPr algn="l"/>
            <a:r>
              <a:rPr sz="1150" b="0">
                <a:solidFill>
                  <a:srgbClr val="7C3AED"/>
                </a:solidFill>
                <a:latin typeface="Inter SemiBold"/>
              </a:rPr>
              <a:t>›</a:t>
            </a:r>
          </a:p>
        </p:txBody>
      </p:sp>
      <p:sp>
        <p:nvSpPr>
          <p:cNvPr id="39" name="TextBox 38"/>
          <p:cNvSpPr txBox="1"/>
          <p:nvPr/>
        </p:nvSpPr>
        <p:spPr>
          <a:xfrm>
            <a:off x="4981346" y="5285232"/>
            <a:ext cx="2503322" cy="548640"/>
          </a:xfrm>
          <a:prstGeom prst="rect">
            <a:avLst/>
          </a:prstGeom>
          <a:noFill/>
        </p:spPr>
        <p:txBody>
          <a:bodyPr wrap="square" anchor="t" lIns="0" rIns="0" tIns="0" bIns="0">
            <a:spAutoFit/>
          </a:bodyPr>
          <a:lstStyle/>
          <a:p>
            <a:pPr algn="l">
              <a:lnSpc>
                <a:spcPct val="120000"/>
              </a:lnSpc>
            </a:pPr>
            <a:r>
              <a:rPr sz="1150" b="0">
                <a:solidFill>
                  <a:srgbClr val="57534B"/>
                </a:solidFill>
                <a:latin typeface="Inter"/>
              </a:rPr>
              <a:t>SeverityFirst</a:t>
            </a:r>
          </a:p>
        </p:txBody>
      </p:sp>
      <p:sp>
        <p:nvSpPr>
          <p:cNvPr id="40" name="Rounded Rectangle 39"/>
          <p:cNvSpPr/>
          <p:nvPr/>
        </p:nvSpPr>
        <p:spPr>
          <a:xfrm>
            <a:off x="8152180" y="2505456"/>
            <a:ext cx="3289706" cy="3291840"/>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8426500" y="2761488"/>
            <a:ext cx="457200" cy="457200"/>
          </a:xfrm>
          <a:prstGeom prst="roundRect">
            <a:avLst>
              <a:gd name="adj" fmla="val 30000"/>
            </a:avLst>
          </a:prstGeom>
          <a:solidFill>
            <a:srgbClr val="E2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settings-01__indigo.png"/>
          <p:cNvPicPr>
            <a:picLocks noChangeAspect="1"/>
          </p:cNvPicPr>
          <p:nvPr/>
        </p:nvPicPr>
        <p:blipFill>
          <a:blip r:embed="rId4"/>
          <a:stretch>
            <a:fillRect/>
          </a:stretch>
        </p:blipFill>
        <p:spPr>
          <a:xfrm>
            <a:off x="8527084" y="2862072"/>
            <a:ext cx="256032" cy="256032"/>
          </a:xfrm>
          <a:prstGeom prst="rect">
            <a:avLst/>
          </a:prstGeom>
        </p:spPr>
      </p:pic>
      <p:sp>
        <p:nvSpPr>
          <p:cNvPr id="43" name="TextBox 42"/>
          <p:cNvSpPr txBox="1"/>
          <p:nvPr/>
        </p:nvSpPr>
        <p:spPr>
          <a:xfrm>
            <a:off x="9048292" y="2761488"/>
            <a:ext cx="2192426" cy="457200"/>
          </a:xfrm>
          <a:prstGeom prst="rect">
            <a:avLst/>
          </a:prstGeom>
          <a:noFill/>
        </p:spPr>
        <p:txBody>
          <a:bodyPr wrap="square" anchor="ctr" lIns="0" rIns="0" tIns="0" bIns="0">
            <a:spAutoFit/>
          </a:bodyPr>
          <a:lstStyle/>
          <a:p>
            <a:pPr algn="l"/>
            <a:r>
              <a:rPr sz="1100" b="0" spc="140">
                <a:solidFill>
                  <a:srgbClr val="1C1A16"/>
                </a:solidFill>
                <a:latin typeface="Inter SemiBold"/>
              </a:rPr>
              <a:t>COORDINATION</a:t>
            </a:r>
          </a:p>
        </p:txBody>
      </p:sp>
      <p:sp>
        <p:nvSpPr>
          <p:cNvPr id="44" name="TextBox 43"/>
          <p:cNvSpPr txBox="1"/>
          <p:nvPr/>
        </p:nvSpPr>
        <p:spPr>
          <a:xfrm>
            <a:off x="8463076" y="3447288"/>
            <a:ext cx="201168" cy="274320"/>
          </a:xfrm>
          <a:prstGeom prst="rect">
            <a:avLst/>
          </a:prstGeom>
          <a:noFill/>
        </p:spPr>
        <p:txBody>
          <a:bodyPr wrap="square" anchor="t" lIns="0" rIns="0" tIns="0" bIns="0">
            <a:spAutoFit/>
          </a:bodyPr>
          <a:lstStyle/>
          <a:p>
            <a:pPr algn="l"/>
            <a:r>
              <a:rPr sz="1150" b="0">
                <a:solidFill>
                  <a:srgbClr val="0E7C72"/>
                </a:solidFill>
                <a:latin typeface="Inter SemiBold"/>
              </a:rPr>
              <a:t>›</a:t>
            </a:r>
          </a:p>
        </p:txBody>
      </p:sp>
      <p:sp>
        <p:nvSpPr>
          <p:cNvPr id="45" name="TextBox 44"/>
          <p:cNvSpPr txBox="1"/>
          <p:nvPr/>
        </p:nvSpPr>
        <p:spPr>
          <a:xfrm>
            <a:off x="8682532" y="3456432"/>
            <a:ext cx="2503322" cy="548640"/>
          </a:xfrm>
          <a:prstGeom prst="rect">
            <a:avLst/>
          </a:prstGeom>
          <a:noFill/>
        </p:spPr>
        <p:txBody>
          <a:bodyPr wrap="square" anchor="t" lIns="0" rIns="0" tIns="0" bIns="0">
            <a:spAutoFit/>
          </a:bodyPr>
          <a:lstStyle/>
          <a:p>
            <a:pPr algn="l">
              <a:lnSpc>
                <a:spcPct val="120000"/>
              </a:lnSpc>
            </a:pPr>
            <a:r>
              <a:rPr sz="1150" b="0">
                <a:solidFill>
                  <a:srgbClr val="57534B"/>
                </a:solidFill>
                <a:latin typeface="Inter"/>
              </a:rPr>
              <a:t>TaskManager (coordinator)</a:t>
            </a:r>
          </a:p>
        </p:txBody>
      </p:sp>
      <p:sp>
        <p:nvSpPr>
          <p:cNvPr id="46" name="TextBox 45"/>
          <p:cNvSpPr txBox="1"/>
          <p:nvPr/>
        </p:nvSpPr>
        <p:spPr>
          <a:xfrm>
            <a:off x="8463076" y="3904488"/>
            <a:ext cx="201168" cy="274320"/>
          </a:xfrm>
          <a:prstGeom prst="rect">
            <a:avLst/>
          </a:prstGeom>
          <a:noFill/>
        </p:spPr>
        <p:txBody>
          <a:bodyPr wrap="square" anchor="t" lIns="0" rIns="0" tIns="0" bIns="0">
            <a:spAutoFit/>
          </a:bodyPr>
          <a:lstStyle/>
          <a:p>
            <a:pPr algn="l"/>
            <a:r>
              <a:rPr sz="1150" b="0">
                <a:solidFill>
                  <a:srgbClr val="0E7C72"/>
                </a:solidFill>
                <a:latin typeface="Inter SemiBold"/>
              </a:rPr>
              <a:t>›</a:t>
            </a:r>
          </a:p>
        </p:txBody>
      </p:sp>
      <p:sp>
        <p:nvSpPr>
          <p:cNvPr id="47" name="TextBox 46"/>
          <p:cNvSpPr txBox="1"/>
          <p:nvPr/>
        </p:nvSpPr>
        <p:spPr>
          <a:xfrm>
            <a:off x="8682532" y="3913632"/>
            <a:ext cx="2503322" cy="548640"/>
          </a:xfrm>
          <a:prstGeom prst="rect">
            <a:avLst/>
          </a:prstGeom>
          <a:noFill/>
        </p:spPr>
        <p:txBody>
          <a:bodyPr wrap="square" anchor="t" lIns="0" rIns="0" tIns="0" bIns="0">
            <a:spAutoFit/>
          </a:bodyPr>
          <a:lstStyle/>
          <a:p>
            <a:pPr algn="l">
              <a:lnSpc>
                <a:spcPct val="120000"/>
              </a:lnSpc>
            </a:pPr>
            <a:r>
              <a:rPr sz="1150" b="0">
                <a:solidFill>
                  <a:srgbClr val="57534B"/>
                </a:solidFill>
                <a:latin typeface="Inter"/>
              </a:rPr>
              <a:t>Main (automated tests)</a:t>
            </a:r>
          </a:p>
        </p:txBody>
      </p:sp>
      <p:sp>
        <p:nvSpPr>
          <p:cNvPr id="48" name="TextBox 47"/>
          <p:cNvSpPr txBox="1"/>
          <p:nvPr/>
        </p:nvSpPr>
        <p:spPr>
          <a:xfrm>
            <a:off x="8463076" y="4361688"/>
            <a:ext cx="201168" cy="274320"/>
          </a:xfrm>
          <a:prstGeom prst="rect">
            <a:avLst/>
          </a:prstGeom>
          <a:noFill/>
        </p:spPr>
        <p:txBody>
          <a:bodyPr wrap="square" anchor="t" lIns="0" rIns="0" tIns="0" bIns="0">
            <a:spAutoFit/>
          </a:bodyPr>
          <a:lstStyle/>
          <a:p>
            <a:pPr algn="l"/>
            <a:r>
              <a:rPr sz="1150" b="0">
                <a:solidFill>
                  <a:srgbClr val="0E7C72"/>
                </a:solidFill>
                <a:latin typeface="Inter SemiBold"/>
              </a:rPr>
              <a:t>›</a:t>
            </a:r>
          </a:p>
        </p:txBody>
      </p:sp>
      <p:sp>
        <p:nvSpPr>
          <p:cNvPr id="49" name="TextBox 48"/>
          <p:cNvSpPr txBox="1"/>
          <p:nvPr/>
        </p:nvSpPr>
        <p:spPr>
          <a:xfrm>
            <a:off x="8682532" y="4370832"/>
            <a:ext cx="2503322" cy="548640"/>
          </a:xfrm>
          <a:prstGeom prst="rect">
            <a:avLst/>
          </a:prstGeom>
          <a:noFill/>
        </p:spPr>
        <p:txBody>
          <a:bodyPr wrap="square" anchor="t" lIns="0" rIns="0" tIns="0" bIns="0">
            <a:spAutoFit/>
          </a:bodyPr>
          <a:lstStyle/>
          <a:p>
            <a:pPr algn="l">
              <a:lnSpc>
                <a:spcPct val="120000"/>
              </a:lnSpc>
            </a:pPr>
            <a:r>
              <a:rPr sz="1150" b="0">
                <a:solidFill>
                  <a:srgbClr val="57534B"/>
                </a:solidFill>
                <a:latin typeface="Inter"/>
              </a:rPr>
              <a:t>TaskManagementApp (console)</a:t>
            </a:r>
          </a:p>
        </p:txBody>
      </p:sp>
      <p:sp>
        <p:nvSpPr>
          <p:cNvPr id="50" name="TextBox 49"/>
          <p:cNvSpPr txBox="1"/>
          <p:nvPr/>
        </p:nvSpPr>
        <p:spPr>
          <a:xfrm>
            <a:off x="8463076" y="4818888"/>
            <a:ext cx="201168" cy="274320"/>
          </a:xfrm>
          <a:prstGeom prst="rect">
            <a:avLst/>
          </a:prstGeom>
          <a:noFill/>
        </p:spPr>
        <p:txBody>
          <a:bodyPr wrap="square" anchor="t" lIns="0" rIns="0" tIns="0" bIns="0">
            <a:spAutoFit/>
          </a:bodyPr>
          <a:lstStyle/>
          <a:p>
            <a:pPr algn="l"/>
            <a:r>
              <a:rPr sz="1150" b="0">
                <a:solidFill>
                  <a:srgbClr val="0E7C72"/>
                </a:solidFill>
                <a:latin typeface="Inter SemiBold"/>
              </a:rPr>
              <a:t>›</a:t>
            </a:r>
          </a:p>
        </p:txBody>
      </p:sp>
      <p:sp>
        <p:nvSpPr>
          <p:cNvPr id="51" name="TextBox 50"/>
          <p:cNvSpPr txBox="1"/>
          <p:nvPr/>
        </p:nvSpPr>
        <p:spPr>
          <a:xfrm>
            <a:off x="8682532" y="4828032"/>
            <a:ext cx="2503322" cy="548640"/>
          </a:xfrm>
          <a:prstGeom prst="rect">
            <a:avLst/>
          </a:prstGeom>
          <a:noFill/>
        </p:spPr>
        <p:txBody>
          <a:bodyPr wrap="square" anchor="t" lIns="0" rIns="0" tIns="0" bIns="0">
            <a:spAutoFit/>
          </a:bodyPr>
          <a:lstStyle/>
          <a:p>
            <a:pPr algn="l">
              <a:lnSpc>
                <a:spcPct val="120000"/>
              </a:lnSpc>
            </a:pPr>
            <a:r>
              <a:rPr sz="1150" b="0">
                <a:solidFill>
                  <a:srgbClr val="57534B"/>
                </a:solidFill>
                <a:latin typeface="Inter"/>
              </a:rPr>
              <a:t>gui.TaskManagerGUI (Swing)</a:t>
            </a:r>
          </a:p>
        </p:txBody>
      </p:sp>
      <p:sp>
        <p:nvSpPr>
          <p:cNvPr id="52" name="Rounded Rectangle 51"/>
          <p:cNvSpPr/>
          <p:nvPr/>
        </p:nvSpPr>
        <p:spPr>
          <a:xfrm>
            <a:off x="749808" y="5943600"/>
            <a:ext cx="10692079" cy="420624"/>
          </a:xfrm>
          <a:prstGeom prst="roundRect">
            <a:avLst>
              <a:gd name="adj" fmla="val 6000"/>
            </a:avLst>
          </a:prstGeom>
          <a:solidFill>
            <a:srgbClr val="F4F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24127" y="5943600"/>
            <a:ext cx="10143439" cy="420624"/>
          </a:xfrm>
          <a:prstGeom prst="rect">
            <a:avLst/>
          </a:prstGeom>
          <a:noFill/>
        </p:spPr>
        <p:txBody>
          <a:bodyPr wrap="square" anchor="ctr" lIns="0" rIns="0" tIns="0" bIns="0">
            <a:spAutoFit/>
          </a:bodyPr>
          <a:lstStyle/>
          <a:p>
            <a:pPr algn="l">
              <a:lnSpc>
                <a:spcPct val="120000"/>
              </a:lnSpc>
            </a:pPr>
            <a:r>
              <a:rPr sz="1100" b="0">
                <a:solidFill>
                  <a:srgbClr val="57534B"/>
                </a:solidFill>
                <a:latin typeface="Inter"/>
              </a:rPr>
              <a:t>All three entry points drive the same engine through its public API.   2 interfaces · 1 enum · 1 abstract · 12 concrete classes.</a:t>
            </a:r>
          </a:p>
        </p:txBody>
      </p:sp>
      <p:sp>
        <p:nvSpPr>
          <p:cNvPr id="54" name="TextBox 53"/>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55" name="TextBox 54"/>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21 / 32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0E7C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0E7C72"/>
                </a:solidFill>
                <a:latin typeface="Inter SemiBold"/>
              </a:rPr>
              <a:t>IMPLEMENTATION  ·  PRINCIPLES</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0E7C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0E7C72"/>
                </a:solidFill>
                <a:latin typeface="Inter SemiBold"/>
              </a:rPr>
              <a:t>SECTION 3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900" b="0">
                <a:solidFill>
                  <a:srgbClr val="1C1A16"/>
                </a:solidFill>
                <a:latin typeface="Spectral SemiBold"/>
              </a:rPr>
              <a:t>How the design meets SOLID.</a:t>
            </a:r>
          </a:p>
        </p:txBody>
      </p:sp>
      <p:sp>
        <p:nvSpPr>
          <p:cNvPr id="11" name="Rounded Rectangle 10"/>
          <p:cNvSpPr/>
          <p:nvPr/>
        </p:nvSpPr>
        <p:spPr>
          <a:xfrm>
            <a:off x="749808" y="2286000"/>
            <a:ext cx="3289706" cy="1627632"/>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05840" y="2542032"/>
            <a:ext cx="420624" cy="420624"/>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target-01__indigo.png"/>
          <p:cNvPicPr>
            <a:picLocks noChangeAspect="1"/>
          </p:cNvPicPr>
          <p:nvPr/>
        </p:nvPicPr>
        <p:blipFill>
          <a:blip r:embed="rId2"/>
          <a:stretch>
            <a:fillRect/>
          </a:stretch>
        </p:blipFill>
        <p:spPr>
          <a:xfrm>
            <a:off x="1098377" y="2634569"/>
            <a:ext cx="235549" cy="235549"/>
          </a:xfrm>
          <a:prstGeom prst="rect">
            <a:avLst/>
          </a:prstGeom>
        </p:spPr>
      </p:pic>
      <p:sp>
        <p:nvSpPr>
          <p:cNvPr id="14" name="TextBox 13"/>
          <p:cNvSpPr txBox="1"/>
          <p:nvPr/>
        </p:nvSpPr>
        <p:spPr>
          <a:xfrm>
            <a:off x="1591056" y="2542032"/>
            <a:ext cx="2229002" cy="420624"/>
          </a:xfrm>
          <a:prstGeom prst="rect">
            <a:avLst/>
          </a:prstGeom>
          <a:noFill/>
        </p:spPr>
        <p:txBody>
          <a:bodyPr wrap="square" anchor="ctr" lIns="0" rIns="0" tIns="0" bIns="0">
            <a:spAutoFit/>
          </a:bodyPr>
          <a:lstStyle/>
          <a:p>
            <a:pPr algn="l">
              <a:lnSpc>
                <a:spcPct val="104000"/>
              </a:lnSpc>
            </a:pPr>
            <a:r>
              <a:rPr sz="1250" b="0">
                <a:solidFill>
                  <a:srgbClr val="1C1A16"/>
                </a:solidFill>
                <a:latin typeface="Inter SemiBold"/>
              </a:rPr>
              <a:t>S · Single responsibility</a:t>
            </a:r>
          </a:p>
        </p:txBody>
      </p:sp>
      <p:sp>
        <p:nvSpPr>
          <p:cNvPr id="15" name="TextBox 14"/>
          <p:cNvSpPr txBox="1"/>
          <p:nvPr/>
        </p:nvSpPr>
        <p:spPr>
          <a:xfrm>
            <a:off x="1024127" y="3090672"/>
            <a:ext cx="2759354" cy="676656"/>
          </a:xfrm>
          <a:prstGeom prst="rect">
            <a:avLst/>
          </a:prstGeom>
          <a:noFill/>
        </p:spPr>
        <p:txBody>
          <a:bodyPr wrap="square" anchor="t" lIns="0" rIns="0" tIns="0" bIns="0">
            <a:spAutoFit/>
          </a:bodyPr>
          <a:lstStyle/>
          <a:p>
            <a:pPr algn="l">
              <a:lnSpc>
                <a:spcPct val="132000"/>
              </a:lnSpc>
            </a:pPr>
            <a:r>
              <a:rPr sz="1080" b="0">
                <a:solidFill>
                  <a:srgbClr val="57534B"/>
                </a:solidFill>
                <a:latin typeface="Inter"/>
              </a:rPr>
              <a:t>Factories build, strategies sort, the manager coordinates. One reason to change each.</a:t>
            </a:r>
          </a:p>
        </p:txBody>
      </p:sp>
      <p:sp>
        <p:nvSpPr>
          <p:cNvPr id="16" name="Rounded Rectangle 15"/>
          <p:cNvSpPr/>
          <p:nvPr/>
        </p:nvSpPr>
        <p:spPr>
          <a:xfrm>
            <a:off x="4450994" y="2286000"/>
            <a:ext cx="3289706" cy="1627632"/>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707026" y="2542032"/>
            <a:ext cx="420624" cy="420624"/>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lock-unlocked-01__indigo.png"/>
          <p:cNvPicPr>
            <a:picLocks noChangeAspect="1"/>
          </p:cNvPicPr>
          <p:nvPr/>
        </p:nvPicPr>
        <p:blipFill>
          <a:blip r:embed="rId3"/>
          <a:stretch>
            <a:fillRect/>
          </a:stretch>
        </p:blipFill>
        <p:spPr>
          <a:xfrm>
            <a:off x="4799563" y="2634569"/>
            <a:ext cx="235549" cy="235549"/>
          </a:xfrm>
          <a:prstGeom prst="rect">
            <a:avLst/>
          </a:prstGeom>
        </p:spPr>
      </p:pic>
      <p:sp>
        <p:nvSpPr>
          <p:cNvPr id="19" name="TextBox 18"/>
          <p:cNvSpPr txBox="1"/>
          <p:nvPr/>
        </p:nvSpPr>
        <p:spPr>
          <a:xfrm>
            <a:off x="5292242" y="2542032"/>
            <a:ext cx="2229002" cy="420624"/>
          </a:xfrm>
          <a:prstGeom prst="rect">
            <a:avLst/>
          </a:prstGeom>
          <a:noFill/>
        </p:spPr>
        <p:txBody>
          <a:bodyPr wrap="square" anchor="ctr" lIns="0" rIns="0" tIns="0" bIns="0">
            <a:spAutoFit/>
          </a:bodyPr>
          <a:lstStyle/>
          <a:p>
            <a:pPr algn="l">
              <a:lnSpc>
                <a:spcPct val="104000"/>
              </a:lnSpc>
            </a:pPr>
            <a:r>
              <a:rPr sz="1250" b="0">
                <a:solidFill>
                  <a:srgbClr val="1C1A16"/>
                </a:solidFill>
                <a:latin typeface="Inter SemiBold"/>
              </a:rPr>
              <a:t>O · Open / Closed</a:t>
            </a:r>
          </a:p>
        </p:txBody>
      </p:sp>
      <p:sp>
        <p:nvSpPr>
          <p:cNvPr id="20" name="TextBox 19"/>
          <p:cNvSpPr txBox="1"/>
          <p:nvPr/>
        </p:nvSpPr>
        <p:spPr>
          <a:xfrm>
            <a:off x="4725314" y="3090672"/>
            <a:ext cx="2759354" cy="676656"/>
          </a:xfrm>
          <a:prstGeom prst="rect">
            <a:avLst/>
          </a:prstGeom>
          <a:noFill/>
        </p:spPr>
        <p:txBody>
          <a:bodyPr wrap="square" anchor="t" lIns="0" rIns="0" tIns="0" bIns="0">
            <a:spAutoFit/>
          </a:bodyPr>
          <a:lstStyle/>
          <a:p>
            <a:pPr algn="l">
              <a:lnSpc>
                <a:spcPct val="132000"/>
              </a:lnSpc>
            </a:pPr>
            <a:r>
              <a:rPr sz="1080" b="0">
                <a:solidFill>
                  <a:srgbClr val="57534B"/>
                </a:solidFill>
                <a:latin typeface="Inter"/>
              </a:rPr>
              <a:t>A new task type or sort is a new file plus one line. Zero edits to existing classes.</a:t>
            </a:r>
          </a:p>
        </p:txBody>
      </p:sp>
      <p:sp>
        <p:nvSpPr>
          <p:cNvPr id="21" name="Rounded Rectangle 20"/>
          <p:cNvSpPr/>
          <p:nvPr/>
        </p:nvSpPr>
        <p:spPr>
          <a:xfrm>
            <a:off x="8152180" y="2286000"/>
            <a:ext cx="3289706" cy="1627632"/>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408212" y="2542032"/>
            <a:ext cx="420624" cy="420624"/>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switch-vertical-01__indigo.png"/>
          <p:cNvPicPr>
            <a:picLocks noChangeAspect="1"/>
          </p:cNvPicPr>
          <p:nvPr/>
        </p:nvPicPr>
        <p:blipFill>
          <a:blip r:embed="rId4"/>
          <a:stretch>
            <a:fillRect/>
          </a:stretch>
        </p:blipFill>
        <p:spPr>
          <a:xfrm>
            <a:off x="8500750" y="2634569"/>
            <a:ext cx="235549" cy="235549"/>
          </a:xfrm>
          <a:prstGeom prst="rect">
            <a:avLst/>
          </a:prstGeom>
        </p:spPr>
      </p:pic>
      <p:sp>
        <p:nvSpPr>
          <p:cNvPr id="24" name="TextBox 23"/>
          <p:cNvSpPr txBox="1"/>
          <p:nvPr/>
        </p:nvSpPr>
        <p:spPr>
          <a:xfrm>
            <a:off x="8993428" y="2542032"/>
            <a:ext cx="2229002" cy="420624"/>
          </a:xfrm>
          <a:prstGeom prst="rect">
            <a:avLst/>
          </a:prstGeom>
          <a:noFill/>
        </p:spPr>
        <p:txBody>
          <a:bodyPr wrap="square" anchor="ctr" lIns="0" rIns="0" tIns="0" bIns="0">
            <a:spAutoFit/>
          </a:bodyPr>
          <a:lstStyle/>
          <a:p>
            <a:pPr algn="l">
              <a:lnSpc>
                <a:spcPct val="104000"/>
              </a:lnSpc>
            </a:pPr>
            <a:r>
              <a:rPr sz="1250" b="0">
                <a:solidFill>
                  <a:srgbClr val="1C1A16"/>
                </a:solidFill>
                <a:latin typeface="Inter SemiBold"/>
              </a:rPr>
              <a:t>L · Liskov substitution</a:t>
            </a:r>
          </a:p>
        </p:txBody>
      </p:sp>
      <p:sp>
        <p:nvSpPr>
          <p:cNvPr id="25" name="TextBox 24"/>
          <p:cNvSpPr txBox="1"/>
          <p:nvPr/>
        </p:nvSpPr>
        <p:spPr>
          <a:xfrm>
            <a:off x="8426500" y="3090672"/>
            <a:ext cx="2759354" cy="676656"/>
          </a:xfrm>
          <a:prstGeom prst="rect">
            <a:avLst/>
          </a:prstGeom>
          <a:noFill/>
        </p:spPr>
        <p:txBody>
          <a:bodyPr wrap="square" anchor="t" lIns="0" rIns="0" tIns="0" bIns="0">
            <a:spAutoFit/>
          </a:bodyPr>
          <a:lstStyle/>
          <a:p>
            <a:pPr algn="l">
              <a:lnSpc>
                <a:spcPct val="132000"/>
              </a:lnSpc>
            </a:pPr>
            <a:r>
              <a:rPr sz="1080" b="0">
                <a:solidFill>
                  <a:srgbClr val="57534B"/>
                </a:solidFill>
                <a:latin typeface="Inter"/>
              </a:rPr>
              <a:t>Every factory works through the abstract reference; every strategy through the interface.</a:t>
            </a:r>
          </a:p>
        </p:txBody>
      </p:sp>
      <p:sp>
        <p:nvSpPr>
          <p:cNvPr id="26" name="Rounded Rectangle 25"/>
          <p:cNvSpPr/>
          <p:nvPr/>
        </p:nvSpPr>
        <p:spPr>
          <a:xfrm>
            <a:off x="749808" y="4133087"/>
            <a:ext cx="3289706" cy="1627632"/>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005840" y="4389120"/>
            <a:ext cx="420624" cy="420624"/>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columns-02__indigo.png"/>
          <p:cNvPicPr>
            <a:picLocks noChangeAspect="1"/>
          </p:cNvPicPr>
          <p:nvPr/>
        </p:nvPicPr>
        <p:blipFill>
          <a:blip r:embed="rId5"/>
          <a:stretch>
            <a:fillRect/>
          </a:stretch>
        </p:blipFill>
        <p:spPr>
          <a:xfrm>
            <a:off x="1098377" y="4481657"/>
            <a:ext cx="235549" cy="235549"/>
          </a:xfrm>
          <a:prstGeom prst="rect">
            <a:avLst/>
          </a:prstGeom>
        </p:spPr>
      </p:pic>
      <p:sp>
        <p:nvSpPr>
          <p:cNvPr id="29" name="TextBox 28"/>
          <p:cNvSpPr txBox="1"/>
          <p:nvPr/>
        </p:nvSpPr>
        <p:spPr>
          <a:xfrm>
            <a:off x="1591056" y="4389120"/>
            <a:ext cx="2229002" cy="420624"/>
          </a:xfrm>
          <a:prstGeom prst="rect">
            <a:avLst/>
          </a:prstGeom>
          <a:noFill/>
        </p:spPr>
        <p:txBody>
          <a:bodyPr wrap="square" anchor="ctr" lIns="0" rIns="0" tIns="0" bIns="0">
            <a:spAutoFit/>
          </a:bodyPr>
          <a:lstStyle/>
          <a:p>
            <a:pPr algn="l">
              <a:lnSpc>
                <a:spcPct val="104000"/>
              </a:lnSpc>
            </a:pPr>
            <a:r>
              <a:rPr sz="1250" b="0">
                <a:solidFill>
                  <a:srgbClr val="1C1A16"/>
                </a:solidFill>
                <a:latin typeface="Inter SemiBold"/>
              </a:rPr>
              <a:t>I · Interface segregation</a:t>
            </a:r>
          </a:p>
        </p:txBody>
      </p:sp>
      <p:sp>
        <p:nvSpPr>
          <p:cNvPr id="30" name="TextBox 29"/>
          <p:cNvSpPr txBox="1"/>
          <p:nvPr/>
        </p:nvSpPr>
        <p:spPr>
          <a:xfrm>
            <a:off x="1024127" y="4937759"/>
            <a:ext cx="2759354" cy="676656"/>
          </a:xfrm>
          <a:prstGeom prst="rect">
            <a:avLst/>
          </a:prstGeom>
          <a:noFill/>
        </p:spPr>
        <p:txBody>
          <a:bodyPr wrap="square" anchor="t" lIns="0" rIns="0" tIns="0" bIns="0">
            <a:spAutoFit/>
          </a:bodyPr>
          <a:lstStyle/>
          <a:p>
            <a:pPr algn="l">
              <a:lnSpc>
                <a:spcPct val="132000"/>
              </a:lnSpc>
            </a:pPr>
            <a:r>
              <a:rPr sz="1080" b="0">
                <a:solidFill>
                  <a:srgbClr val="57534B"/>
                </a:solidFill>
                <a:latin typeface="Inter"/>
              </a:rPr>
              <a:t>PriorityStrategy declares one method; the Task interface stays minimal.</a:t>
            </a:r>
          </a:p>
        </p:txBody>
      </p:sp>
      <p:sp>
        <p:nvSpPr>
          <p:cNvPr id="31" name="Rounded Rectangle 30"/>
          <p:cNvSpPr/>
          <p:nvPr/>
        </p:nvSpPr>
        <p:spPr>
          <a:xfrm>
            <a:off x="4450994" y="4133087"/>
            <a:ext cx="3289706" cy="1627632"/>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4707026" y="4389120"/>
            <a:ext cx="420624" cy="420624"/>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anchor__indigo.png"/>
          <p:cNvPicPr>
            <a:picLocks noChangeAspect="1"/>
          </p:cNvPicPr>
          <p:nvPr/>
        </p:nvPicPr>
        <p:blipFill>
          <a:blip r:embed="rId6"/>
          <a:stretch>
            <a:fillRect/>
          </a:stretch>
        </p:blipFill>
        <p:spPr>
          <a:xfrm>
            <a:off x="4799563" y="4481657"/>
            <a:ext cx="235549" cy="235549"/>
          </a:xfrm>
          <a:prstGeom prst="rect">
            <a:avLst/>
          </a:prstGeom>
        </p:spPr>
      </p:pic>
      <p:sp>
        <p:nvSpPr>
          <p:cNvPr id="34" name="TextBox 33"/>
          <p:cNvSpPr txBox="1"/>
          <p:nvPr/>
        </p:nvSpPr>
        <p:spPr>
          <a:xfrm>
            <a:off x="5292242" y="4389120"/>
            <a:ext cx="2229002" cy="420624"/>
          </a:xfrm>
          <a:prstGeom prst="rect">
            <a:avLst/>
          </a:prstGeom>
          <a:noFill/>
        </p:spPr>
        <p:txBody>
          <a:bodyPr wrap="square" anchor="ctr" lIns="0" rIns="0" tIns="0" bIns="0">
            <a:spAutoFit/>
          </a:bodyPr>
          <a:lstStyle/>
          <a:p>
            <a:pPr algn="l">
              <a:lnSpc>
                <a:spcPct val="104000"/>
              </a:lnSpc>
            </a:pPr>
            <a:r>
              <a:rPr sz="1250" b="0">
                <a:solidFill>
                  <a:srgbClr val="1C1A16"/>
                </a:solidFill>
                <a:latin typeface="Inter SemiBold"/>
              </a:rPr>
              <a:t>D · Dependency inversion</a:t>
            </a:r>
          </a:p>
        </p:txBody>
      </p:sp>
      <p:sp>
        <p:nvSpPr>
          <p:cNvPr id="35" name="TextBox 34"/>
          <p:cNvSpPr txBox="1"/>
          <p:nvPr/>
        </p:nvSpPr>
        <p:spPr>
          <a:xfrm>
            <a:off x="4725314" y="4937759"/>
            <a:ext cx="2759354" cy="676656"/>
          </a:xfrm>
          <a:prstGeom prst="rect">
            <a:avLst/>
          </a:prstGeom>
          <a:noFill/>
        </p:spPr>
        <p:txBody>
          <a:bodyPr wrap="square" anchor="t" lIns="0" rIns="0" tIns="0" bIns="0">
            <a:spAutoFit/>
          </a:bodyPr>
          <a:lstStyle/>
          <a:p>
            <a:pPr algn="l">
              <a:lnSpc>
                <a:spcPct val="132000"/>
              </a:lnSpc>
            </a:pPr>
            <a:r>
              <a:rPr sz="1080" b="0">
                <a:solidFill>
                  <a:srgbClr val="57534B"/>
                </a:solidFill>
                <a:latin typeface="Inter"/>
              </a:rPr>
              <a:t>The manager's fields are all interfaces and abstract types, never concretes.</a:t>
            </a:r>
          </a:p>
        </p:txBody>
      </p:sp>
      <p:sp>
        <p:nvSpPr>
          <p:cNvPr id="36" name="Rounded Rectangle 35"/>
          <p:cNvSpPr/>
          <p:nvPr/>
        </p:nvSpPr>
        <p:spPr>
          <a:xfrm>
            <a:off x="8152180" y="4133087"/>
            <a:ext cx="3289706" cy="1627632"/>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8408212" y="4389120"/>
            <a:ext cx="420624" cy="420624"/>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layers-three-01__indigo.png"/>
          <p:cNvPicPr>
            <a:picLocks noChangeAspect="1"/>
          </p:cNvPicPr>
          <p:nvPr/>
        </p:nvPicPr>
        <p:blipFill>
          <a:blip r:embed="rId7"/>
          <a:stretch>
            <a:fillRect/>
          </a:stretch>
        </p:blipFill>
        <p:spPr>
          <a:xfrm>
            <a:off x="8500750" y="4481657"/>
            <a:ext cx="235549" cy="235549"/>
          </a:xfrm>
          <a:prstGeom prst="rect">
            <a:avLst/>
          </a:prstGeom>
        </p:spPr>
      </p:pic>
      <p:sp>
        <p:nvSpPr>
          <p:cNvPr id="39" name="TextBox 38"/>
          <p:cNvSpPr txBox="1"/>
          <p:nvPr/>
        </p:nvSpPr>
        <p:spPr>
          <a:xfrm>
            <a:off x="8993428" y="4389120"/>
            <a:ext cx="2229002" cy="420624"/>
          </a:xfrm>
          <a:prstGeom prst="rect">
            <a:avLst/>
          </a:prstGeom>
          <a:noFill/>
        </p:spPr>
        <p:txBody>
          <a:bodyPr wrap="square" anchor="ctr" lIns="0" rIns="0" tIns="0" bIns="0">
            <a:spAutoFit/>
          </a:bodyPr>
          <a:lstStyle/>
          <a:p>
            <a:pPr algn="l">
              <a:lnSpc>
                <a:spcPct val="104000"/>
              </a:lnSpc>
            </a:pPr>
            <a:r>
              <a:rPr sz="1250" b="0">
                <a:solidFill>
                  <a:srgbClr val="1C1A16"/>
                </a:solidFill>
                <a:latin typeface="Inter SemiBold"/>
              </a:rPr>
              <a:t>The throughline</a:t>
            </a:r>
          </a:p>
        </p:txBody>
      </p:sp>
      <p:sp>
        <p:nvSpPr>
          <p:cNvPr id="40" name="TextBox 39"/>
          <p:cNvSpPr txBox="1"/>
          <p:nvPr/>
        </p:nvSpPr>
        <p:spPr>
          <a:xfrm>
            <a:off x="8426500" y="4937759"/>
            <a:ext cx="2759354" cy="676656"/>
          </a:xfrm>
          <a:prstGeom prst="rect">
            <a:avLst/>
          </a:prstGeom>
          <a:noFill/>
        </p:spPr>
        <p:txBody>
          <a:bodyPr wrap="square" anchor="t" lIns="0" rIns="0" tIns="0" bIns="0">
            <a:spAutoFit/>
          </a:bodyPr>
          <a:lstStyle/>
          <a:p>
            <a:pPr algn="l">
              <a:lnSpc>
                <a:spcPct val="132000"/>
              </a:lnSpc>
            </a:pPr>
            <a:r>
              <a:rPr sz="1080" b="0">
                <a:solidFill>
                  <a:srgbClr val="57534B"/>
                </a:solidFill>
                <a:latin typeface="Inter"/>
              </a:rPr>
              <a:t>Abstractions sit in the middle of the system; concrete classes live at the edges.</a:t>
            </a:r>
          </a:p>
        </p:txBody>
      </p:sp>
      <p:sp>
        <p:nvSpPr>
          <p:cNvPr id="41" name="TextBox 40"/>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42" name="TextBox 41"/>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22 / 32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E7A45"/>
        </a:solidFill>
        <a:effectLst/>
      </p:bgPr>
    </p:bg>
    <p:spTree>
      <p:nvGrpSpPr>
        <p:cNvPr id="1" name=""/>
        <p:cNvGrpSpPr/>
        <p:nvPr/>
      </p:nvGrpSpPr>
      <p:grpSpPr/>
      <p:sp>
        <p:nvSpPr>
          <p:cNvPr id="2" name="TextBox 1"/>
          <p:cNvSpPr txBox="1"/>
          <p:nvPr/>
        </p:nvSpPr>
        <p:spPr>
          <a:xfrm>
            <a:off x="749808" y="603504"/>
            <a:ext cx="8229600" cy="274320"/>
          </a:xfrm>
          <a:prstGeom prst="rect">
            <a:avLst/>
          </a:prstGeom>
          <a:noFill/>
        </p:spPr>
        <p:txBody>
          <a:bodyPr wrap="square" anchor="t" lIns="0" rIns="0" tIns="0" bIns="0">
            <a:spAutoFit/>
          </a:bodyPr>
          <a:lstStyle/>
          <a:p>
            <a:pPr algn="l"/>
            <a:r>
              <a:rPr sz="1100" b="1" spc="280">
                <a:solidFill>
                  <a:srgbClr val="FFFFFF"/>
                </a:solidFill>
                <a:latin typeface="Inter SemiBold"/>
              </a:rPr>
              <a:t>SECTION 04</a:t>
            </a:r>
          </a:p>
        </p:txBody>
      </p:sp>
      <p:sp>
        <p:nvSpPr>
          <p:cNvPr id="3" name="Rounded Rectangle 2"/>
          <p:cNvSpPr/>
          <p:nvPr/>
        </p:nvSpPr>
        <p:spPr>
          <a:xfrm>
            <a:off x="9613087" y="640080"/>
            <a:ext cx="292608" cy="64008"/>
          </a:xfrm>
          <a:prstGeom prst="roundRect">
            <a:avLst>
              <a:gd name="adj" fmla="val 50000"/>
            </a:avLst>
          </a:prstGeom>
          <a:solidFill>
            <a:srgbClr val="62A2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997135" y="640080"/>
            <a:ext cx="292608" cy="64008"/>
          </a:xfrm>
          <a:prstGeom prst="roundRect">
            <a:avLst>
              <a:gd name="adj" fmla="val 50000"/>
            </a:avLst>
          </a:prstGeom>
          <a:solidFill>
            <a:srgbClr val="62A2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381183" y="640080"/>
            <a:ext cx="292608" cy="64008"/>
          </a:xfrm>
          <a:prstGeom prst="roundRect">
            <a:avLst>
              <a:gd name="adj" fmla="val 50000"/>
            </a:avLst>
          </a:prstGeom>
          <a:solidFill>
            <a:srgbClr val="62A2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765231" y="640080"/>
            <a:ext cx="292608" cy="640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1149279" y="640080"/>
            <a:ext cx="292608" cy="64008"/>
          </a:xfrm>
          <a:prstGeom prst="roundRect">
            <a:avLst>
              <a:gd name="adj" fmla="val 50000"/>
            </a:avLst>
          </a:prstGeom>
          <a:solidFill>
            <a:srgbClr val="62A2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D6E7DE"/>
                </a:solidFill>
                <a:latin typeface="Inter SemiBold"/>
              </a:rPr>
              <a:t>SECTION 4 / 5</a:t>
            </a:r>
          </a:p>
        </p:txBody>
      </p:sp>
      <p:pic>
        <p:nvPicPr>
          <p:cNvPr id="9" name="Picture 8" descr="terminal__white.png"/>
          <p:cNvPicPr>
            <a:picLocks noChangeAspect="1"/>
          </p:cNvPicPr>
          <p:nvPr/>
        </p:nvPicPr>
        <p:blipFill>
          <a:blip r:embed="rId2"/>
          <a:stretch>
            <a:fillRect/>
          </a:stretch>
        </p:blipFill>
        <p:spPr>
          <a:xfrm>
            <a:off x="9590227" y="1165860"/>
            <a:ext cx="1417320" cy="1417320"/>
          </a:xfrm>
          <a:prstGeom prst="rect">
            <a:avLst/>
          </a:prstGeom>
        </p:spPr>
      </p:pic>
      <p:cxnSp>
        <p:nvCxnSpPr>
          <p:cNvPr id="10" name="Connector 9"/>
          <p:cNvCxnSpPr/>
          <p:nvPr/>
        </p:nvCxnSpPr>
        <p:spPr>
          <a:xfrm>
            <a:off x="749808" y="3017520"/>
            <a:ext cx="10692079" cy="0"/>
          </a:xfrm>
          <a:prstGeom prst="line">
            <a:avLst/>
          </a:prstGeom>
          <a:ln w="20320">
            <a:solidFill>
              <a:srgbClr val="8ABA9E"/>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49808" y="3291840"/>
            <a:ext cx="9411919" cy="1280160"/>
          </a:xfrm>
          <a:prstGeom prst="rect">
            <a:avLst/>
          </a:prstGeom>
          <a:noFill/>
        </p:spPr>
        <p:txBody>
          <a:bodyPr wrap="square" anchor="t" lIns="0" rIns="0" tIns="0" bIns="0">
            <a:spAutoFit/>
          </a:bodyPr>
          <a:lstStyle/>
          <a:p>
            <a:pPr algn="l">
              <a:lnSpc>
                <a:spcPct val="105000"/>
              </a:lnSpc>
            </a:pPr>
            <a:r>
              <a:rPr sz="3700" b="0">
                <a:solidFill>
                  <a:srgbClr val="FFFFFF"/>
                </a:solidFill>
                <a:latin typeface="Spectral SemiBold"/>
              </a:rPr>
              <a:t>Live demonstration.</a:t>
            </a:r>
          </a:p>
        </p:txBody>
      </p:sp>
      <p:sp>
        <p:nvSpPr>
          <p:cNvPr id="12" name="TextBox 11"/>
          <p:cNvSpPr txBox="1"/>
          <p:nvPr/>
        </p:nvSpPr>
        <p:spPr>
          <a:xfrm>
            <a:off x="749808" y="4370832"/>
            <a:ext cx="8680399" cy="914400"/>
          </a:xfrm>
          <a:prstGeom prst="rect">
            <a:avLst/>
          </a:prstGeom>
          <a:noFill/>
        </p:spPr>
        <p:txBody>
          <a:bodyPr wrap="square" anchor="t" lIns="0" rIns="0" tIns="0" bIns="0">
            <a:spAutoFit/>
          </a:bodyPr>
          <a:lstStyle/>
          <a:p>
            <a:pPr algn="l">
              <a:lnSpc>
                <a:spcPct val="142000"/>
              </a:lnSpc>
            </a:pPr>
            <a:r>
              <a:rPr sz="1400" b="0">
                <a:solidFill>
                  <a:srgbClr val="D6E7DE"/>
                </a:solidFill>
                <a:latin typeface="Inter"/>
              </a:rPr>
              <a:t>The compiled system, run three ways: the automated test suite, the interactive console, and the Swing GUI.</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1E7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1E7A45"/>
                </a:solidFill>
                <a:latin typeface="Inter SemiBold"/>
              </a:rPr>
              <a:t>LIVE DEMONSTRATION  ·  DEMO 1  ·  THE TERMINAL</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1E7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1E7A45"/>
                </a:solidFill>
                <a:latin typeface="Inter SemiBold"/>
              </a:rPr>
              <a:t>SECTION 4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700" b="0">
                <a:solidFill>
                  <a:srgbClr val="1C1A16"/>
                </a:solidFill>
                <a:latin typeface="Spectral SemiBold"/>
              </a:rPr>
              <a:t>Demo 1 — the terminal.</a:t>
            </a:r>
          </a:p>
        </p:txBody>
      </p:sp>
      <p:sp>
        <p:nvSpPr>
          <p:cNvPr id="11" name="TextBox 10"/>
          <p:cNvSpPr txBox="1"/>
          <p:nvPr/>
        </p:nvSpPr>
        <p:spPr>
          <a:xfrm>
            <a:off x="749808" y="1865376"/>
            <a:ext cx="10692079" cy="365760"/>
          </a:xfrm>
          <a:prstGeom prst="rect">
            <a:avLst/>
          </a:prstGeom>
          <a:noFill/>
        </p:spPr>
        <p:txBody>
          <a:bodyPr wrap="square" anchor="t" lIns="0" rIns="0" tIns="0" bIns="0">
            <a:spAutoFit/>
          </a:bodyPr>
          <a:lstStyle/>
          <a:p>
            <a:pPr algn="l">
              <a:lnSpc>
                <a:spcPct val="130000"/>
              </a:lnSpc>
            </a:pPr>
            <a:r>
              <a:rPr sz="1200" b="0">
                <a:solidFill>
                  <a:srgbClr val="57534B"/>
                </a:solidFill>
                <a:latin typeface="Inter"/>
              </a:rPr>
              <a:t>Open a terminal in the project root folder, then paste the command for each step.</a:t>
            </a:r>
          </a:p>
        </p:txBody>
      </p:sp>
      <p:sp>
        <p:nvSpPr>
          <p:cNvPr id="12" name="Rounded Rectangle 11"/>
          <p:cNvSpPr/>
          <p:nvPr/>
        </p:nvSpPr>
        <p:spPr>
          <a:xfrm>
            <a:off x="749808" y="2395728"/>
            <a:ext cx="4800600" cy="3712463"/>
          </a:xfrm>
          <a:prstGeom prst="roundRect">
            <a:avLst>
              <a:gd name="adj" fmla="val 5000"/>
            </a:avLst>
          </a:prstGeom>
          <a:solidFill>
            <a:srgbClr val="1514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50976" y="2519172"/>
            <a:ext cx="77724" cy="77724"/>
          </a:xfrm>
          <a:prstGeom prst="roundRect">
            <a:avLst>
              <a:gd name="adj" fmla="val 50000"/>
            </a:avLst>
          </a:prstGeom>
          <a:solidFill>
            <a:srgbClr val="E66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133856" y="2519172"/>
            <a:ext cx="77724" cy="77724"/>
          </a:xfrm>
          <a:prstGeom prst="roundRect">
            <a:avLst>
              <a:gd name="adj" fmla="val 50000"/>
            </a:avLst>
          </a:prstGeom>
          <a:solidFill>
            <a:srgbClr val="E7B7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316736" y="2519172"/>
            <a:ext cx="77724" cy="77724"/>
          </a:xfrm>
          <a:prstGeom prst="roundRect">
            <a:avLst>
              <a:gd name="adj" fmla="val 50000"/>
            </a:avLst>
          </a:prstGeom>
          <a:solidFill>
            <a:srgbClr val="5BD0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2441448"/>
            <a:ext cx="4800600" cy="237744"/>
          </a:xfrm>
          <a:prstGeom prst="rect">
            <a:avLst/>
          </a:prstGeom>
          <a:noFill/>
        </p:spPr>
        <p:txBody>
          <a:bodyPr wrap="square" anchor="t" lIns="0" rIns="0" tIns="0" bIns="0">
            <a:spAutoFit/>
          </a:bodyPr>
          <a:lstStyle/>
          <a:p>
            <a:pPr algn="ctr"/>
            <a:r>
              <a:rPr sz="850" b="0">
                <a:solidFill>
                  <a:srgbClr val="6E6A60"/>
                </a:solidFill>
                <a:latin typeface="Consolas"/>
              </a:rPr>
              <a:t>java -cp bin Main</a:t>
            </a:r>
          </a:p>
        </p:txBody>
      </p:sp>
      <p:cxnSp>
        <p:nvCxnSpPr>
          <p:cNvPr id="17" name="Connector 16"/>
          <p:cNvCxnSpPr/>
          <p:nvPr/>
        </p:nvCxnSpPr>
        <p:spPr>
          <a:xfrm>
            <a:off x="749808" y="2724912"/>
            <a:ext cx="4800600" cy="0"/>
          </a:xfrm>
          <a:prstGeom prst="line">
            <a:avLst/>
          </a:prstGeom>
          <a:ln w="12700">
            <a:solidFill>
              <a:srgbClr val="2C291F"/>
            </a:solidFill>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969264" y="2816352"/>
            <a:ext cx="4416552" cy="3200399"/>
          </a:xfrm>
          <a:prstGeom prst="rect">
            <a:avLst/>
          </a:prstGeom>
          <a:noFill/>
        </p:spPr>
        <p:txBody>
          <a:bodyPr wrap="none" anchor="t" lIns="0" rIns="0" tIns="0" bIns="0">
            <a:spAutoFit/>
          </a:bodyPr>
          <a:lstStyle/>
          <a:p>
            <a:pPr algn="l">
              <a:lnSpc>
                <a:spcPct val="124000"/>
              </a:lnSpc>
            </a:pPr>
            <a:r>
              <a:rPr sz="900">
                <a:solidFill>
                  <a:srgbClr val="5BD08F"/>
                </a:solidFill>
                <a:latin typeface="Consolas"/>
              </a:rPr>
              <a:t>$ java -cp bin Main</a:t>
            </a:r>
          </a:p>
          <a:p>
            <a:pPr algn="l">
              <a:lnSpc>
                <a:spcPct val="124000"/>
              </a:lnSpc>
            </a:pPr>
            <a:r>
              <a:rPr sz="900">
                <a:solidFill>
                  <a:srgbClr val="D8D4CA"/>
                </a:solidFill>
                <a:latin typeface="Consolas"/>
              </a:rPr>
              <a:t> </a:t>
            </a:r>
          </a:p>
          <a:p>
            <a:pPr algn="l">
              <a:lnSpc>
                <a:spcPct val="124000"/>
              </a:lnSpc>
            </a:pPr>
            <a:r>
              <a:rPr sz="900">
                <a:solidFill>
                  <a:srgbClr val="857F73"/>
                </a:solidFill>
                <a:latin typeface="Consolas"/>
              </a:rPr>
              <a:t>########  Task Management System  ########</a:t>
            </a:r>
          </a:p>
          <a:p>
            <a:pPr algn="l">
              <a:lnSpc>
                <a:spcPct val="124000"/>
              </a:lnSpc>
            </a:pPr>
            <a:r>
              <a:rPr sz="900">
                <a:solidFill>
                  <a:srgbClr val="D8D4CA"/>
                </a:solidFill>
                <a:latin typeface="Consolas"/>
              </a:rPr>
              <a:t> </a:t>
            </a:r>
          </a:p>
          <a:p>
            <a:pPr algn="l">
              <a:lnSpc>
                <a:spcPct val="124000"/>
              </a:lnSpc>
            </a:pPr>
            <a:r>
              <a:rPr sz="900">
                <a:solidFill>
                  <a:srgbClr val="D8D4CA"/>
                </a:solidFill>
                <a:latin typeface="Consolas"/>
              </a:rPr>
              <a:t>  TEST 1   Factory Method Pattern</a:t>
            </a:r>
          </a:p>
          <a:p>
            <a:pPr algn="l">
              <a:lnSpc>
                <a:spcPct val="124000"/>
              </a:lnSpc>
            </a:pPr>
            <a:r>
              <a:rPr sz="900">
                <a:solidFill>
                  <a:srgbClr val="5BD08F"/>
                </a:solidFill>
                <a:latin typeface="Consolas"/>
              </a:rPr>
              <a:t>     [PASS] correct types, no concretes</a:t>
            </a:r>
          </a:p>
          <a:p>
            <a:pPr algn="l">
              <a:lnSpc>
                <a:spcPct val="124000"/>
              </a:lnSpc>
            </a:pPr>
            <a:r>
              <a:rPr sz="900">
                <a:solidFill>
                  <a:srgbClr val="D8D4CA"/>
                </a:solidFill>
                <a:latin typeface="Consolas"/>
              </a:rPr>
              <a:t>  TEST 2   Strategy Pattern</a:t>
            </a:r>
          </a:p>
          <a:p>
            <a:pPr algn="l">
              <a:lnSpc>
                <a:spcPct val="124000"/>
              </a:lnSpc>
            </a:pPr>
            <a:r>
              <a:rPr sz="900">
                <a:solidFill>
                  <a:srgbClr val="5BD08F"/>
                </a:solidFill>
                <a:latin typeface="Consolas"/>
              </a:rPr>
              <a:t>     [PASS] one list, three orderings</a:t>
            </a:r>
          </a:p>
          <a:p>
            <a:pPr algn="l">
              <a:lnSpc>
                <a:spcPct val="124000"/>
              </a:lnSpc>
            </a:pPr>
            <a:r>
              <a:rPr sz="900">
                <a:solidFill>
                  <a:srgbClr val="D8D4CA"/>
                </a:solidFill>
                <a:latin typeface="Consolas"/>
              </a:rPr>
              <a:t>  TEST 3   Lifecycle / State machine</a:t>
            </a:r>
          </a:p>
          <a:p>
            <a:pPr algn="l">
              <a:lnSpc>
                <a:spcPct val="124000"/>
              </a:lnSpc>
            </a:pPr>
            <a:r>
              <a:rPr sz="900">
                <a:solidFill>
                  <a:srgbClr val="5BD08F"/>
                </a:solidFill>
                <a:latin typeface="Consolas"/>
              </a:rPr>
              <a:t>     [PASS] illegal moves are blocked</a:t>
            </a:r>
          </a:p>
          <a:p>
            <a:pPr algn="l">
              <a:lnSpc>
                <a:spcPct val="124000"/>
              </a:lnSpc>
            </a:pPr>
            <a:r>
              <a:rPr sz="900">
                <a:solidFill>
                  <a:srgbClr val="857F73"/>
                </a:solidFill>
                <a:latin typeface="Consolas"/>
              </a:rPr>
              <a:t>  TEST 4-6 edge cases ........  6 / 6</a:t>
            </a:r>
          </a:p>
          <a:p>
            <a:pPr algn="l">
              <a:lnSpc>
                <a:spcPct val="124000"/>
              </a:lnSpc>
            </a:pPr>
            <a:r>
              <a:rPr sz="900">
                <a:solidFill>
                  <a:srgbClr val="D8D4CA"/>
                </a:solidFill>
                <a:latin typeface="Consolas"/>
              </a:rPr>
              <a:t> </a:t>
            </a:r>
          </a:p>
          <a:p>
            <a:pPr algn="l">
              <a:lnSpc>
                <a:spcPct val="124000"/>
              </a:lnSpc>
            </a:pPr>
            <a:r>
              <a:rPr sz="900">
                <a:solidFill>
                  <a:srgbClr val="5BD08F"/>
                </a:solidFill>
                <a:latin typeface="Consolas"/>
              </a:rPr>
              <a:t>########     ALL TESTS PASSED     ########</a:t>
            </a:r>
          </a:p>
        </p:txBody>
      </p:sp>
      <p:sp>
        <p:nvSpPr>
          <p:cNvPr id="19" name="Rounded Rectangle 18"/>
          <p:cNvSpPr/>
          <p:nvPr/>
        </p:nvSpPr>
        <p:spPr>
          <a:xfrm>
            <a:off x="5888736" y="2395728"/>
            <a:ext cx="5553151" cy="841248"/>
          </a:xfrm>
          <a:prstGeom prst="roundRect">
            <a:avLst>
              <a:gd name="adj" fmla="val 6000"/>
            </a:avLst>
          </a:prstGeom>
          <a:solidFill>
            <a:srgbClr val="F7F4ED"/>
          </a:solidFill>
          <a:ln w="12700">
            <a:solidFill>
              <a:srgbClr val="E7E1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5888736" y="2395728"/>
            <a:ext cx="5553151" cy="0"/>
          </a:xfrm>
          <a:prstGeom prst="line">
            <a:avLst/>
          </a:prstGeom>
          <a:ln w="30480">
            <a:solidFill>
              <a:srgbClr val="1E7A4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126480" y="2542032"/>
            <a:ext cx="5095951" cy="274320"/>
          </a:xfrm>
          <a:prstGeom prst="rect">
            <a:avLst/>
          </a:prstGeom>
          <a:noFill/>
        </p:spPr>
        <p:txBody>
          <a:bodyPr wrap="square" anchor="t" lIns="0" rIns="0" tIns="0" bIns="0">
            <a:spAutoFit/>
          </a:bodyPr>
          <a:lstStyle/>
          <a:p>
            <a:pPr algn="l"/>
            <a:r>
              <a:rPr sz="1000" b="1" spc="150">
                <a:solidFill>
                  <a:srgbClr val="1E7A45"/>
                </a:solidFill>
                <a:latin typeface="Inter SemiBold"/>
              </a:rPr>
              <a:t>STEP 1 · BUILD ONCE</a:t>
            </a:r>
          </a:p>
        </p:txBody>
      </p:sp>
      <p:sp>
        <p:nvSpPr>
          <p:cNvPr id="22" name="TextBox 21"/>
          <p:cNvSpPr txBox="1"/>
          <p:nvPr/>
        </p:nvSpPr>
        <p:spPr>
          <a:xfrm>
            <a:off x="6126480" y="2834640"/>
            <a:ext cx="5095951" cy="329184"/>
          </a:xfrm>
          <a:prstGeom prst="rect">
            <a:avLst/>
          </a:prstGeom>
          <a:noFill/>
        </p:spPr>
        <p:txBody>
          <a:bodyPr wrap="square" anchor="t" lIns="0" rIns="0" tIns="0" bIns="0">
            <a:spAutoFit/>
          </a:bodyPr>
          <a:lstStyle/>
          <a:p>
            <a:pPr algn="l"/>
            <a:r>
              <a:rPr sz="1050" b="0">
                <a:solidFill>
                  <a:srgbClr val="1C1A16"/>
                </a:solidFill>
                <a:latin typeface="Consolas"/>
              </a:rPr>
              <a:t>javac -d bin src/main/java/*.java src/main/java/gui/*.java</a:t>
            </a:r>
          </a:p>
        </p:txBody>
      </p:sp>
      <p:sp>
        <p:nvSpPr>
          <p:cNvPr id="23" name="Rounded Rectangle 22"/>
          <p:cNvSpPr/>
          <p:nvPr/>
        </p:nvSpPr>
        <p:spPr>
          <a:xfrm>
            <a:off x="5888736" y="3346704"/>
            <a:ext cx="5553151" cy="841248"/>
          </a:xfrm>
          <a:prstGeom prst="roundRect">
            <a:avLst>
              <a:gd name="adj" fmla="val 6000"/>
            </a:avLst>
          </a:prstGeom>
          <a:solidFill>
            <a:srgbClr val="F7F4ED"/>
          </a:solidFill>
          <a:ln w="12700">
            <a:solidFill>
              <a:srgbClr val="E7E1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5888736" y="3346704"/>
            <a:ext cx="5553151" cy="0"/>
          </a:xfrm>
          <a:prstGeom prst="line">
            <a:avLst/>
          </a:prstGeom>
          <a:ln w="30480">
            <a:solidFill>
              <a:srgbClr val="1E7A45"/>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126480" y="3493008"/>
            <a:ext cx="5095951" cy="274320"/>
          </a:xfrm>
          <a:prstGeom prst="rect">
            <a:avLst/>
          </a:prstGeom>
          <a:noFill/>
        </p:spPr>
        <p:txBody>
          <a:bodyPr wrap="square" anchor="t" lIns="0" rIns="0" tIns="0" bIns="0">
            <a:spAutoFit/>
          </a:bodyPr>
          <a:lstStyle/>
          <a:p>
            <a:pPr algn="l"/>
            <a:r>
              <a:rPr sz="1000" b="1" spc="150">
                <a:solidFill>
                  <a:srgbClr val="1E7A45"/>
                </a:solidFill>
                <a:latin typeface="Inter SemiBold"/>
              </a:rPr>
              <a:t>STEP 2 · RUN THE AUTOMATED TESTS</a:t>
            </a:r>
          </a:p>
        </p:txBody>
      </p:sp>
      <p:sp>
        <p:nvSpPr>
          <p:cNvPr id="26" name="TextBox 25"/>
          <p:cNvSpPr txBox="1"/>
          <p:nvPr/>
        </p:nvSpPr>
        <p:spPr>
          <a:xfrm>
            <a:off x="6126480" y="3785615"/>
            <a:ext cx="5095951" cy="329184"/>
          </a:xfrm>
          <a:prstGeom prst="rect">
            <a:avLst/>
          </a:prstGeom>
          <a:noFill/>
        </p:spPr>
        <p:txBody>
          <a:bodyPr wrap="square" anchor="t" lIns="0" rIns="0" tIns="0" bIns="0">
            <a:spAutoFit/>
          </a:bodyPr>
          <a:lstStyle/>
          <a:p>
            <a:pPr algn="l"/>
            <a:r>
              <a:rPr sz="1300" b="0">
                <a:solidFill>
                  <a:srgbClr val="1C1A16"/>
                </a:solidFill>
                <a:latin typeface="Consolas"/>
              </a:rPr>
              <a:t>java -cp bin Main</a:t>
            </a:r>
          </a:p>
        </p:txBody>
      </p:sp>
      <p:sp>
        <p:nvSpPr>
          <p:cNvPr id="27" name="Rounded Rectangle 26"/>
          <p:cNvSpPr/>
          <p:nvPr/>
        </p:nvSpPr>
        <p:spPr>
          <a:xfrm>
            <a:off x="5888736" y="4297680"/>
            <a:ext cx="5553151" cy="841248"/>
          </a:xfrm>
          <a:prstGeom prst="roundRect">
            <a:avLst>
              <a:gd name="adj" fmla="val 6000"/>
            </a:avLst>
          </a:prstGeom>
          <a:solidFill>
            <a:srgbClr val="F7F4ED"/>
          </a:solidFill>
          <a:ln w="12700">
            <a:solidFill>
              <a:srgbClr val="E7E1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Connector 27"/>
          <p:cNvCxnSpPr/>
          <p:nvPr/>
        </p:nvCxnSpPr>
        <p:spPr>
          <a:xfrm>
            <a:off x="5888736" y="4297680"/>
            <a:ext cx="5553151" cy="0"/>
          </a:xfrm>
          <a:prstGeom prst="line">
            <a:avLst/>
          </a:prstGeom>
          <a:ln w="30480">
            <a:solidFill>
              <a:srgbClr val="1E7A4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126480" y="4443984"/>
            <a:ext cx="5095951" cy="274320"/>
          </a:xfrm>
          <a:prstGeom prst="rect">
            <a:avLst/>
          </a:prstGeom>
          <a:noFill/>
        </p:spPr>
        <p:txBody>
          <a:bodyPr wrap="square" anchor="t" lIns="0" rIns="0" tIns="0" bIns="0">
            <a:spAutoFit/>
          </a:bodyPr>
          <a:lstStyle/>
          <a:p>
            <a:pPr algn="l"/>
            <a:r>
              <a:rPr sz="1000" b="1" spc="150">
                <a:solidFill>
                  <a:srgbClr val="1E7A45"/>
                </a:solidFill>
                <a:latin typeface="Inter SemiBold"/>
              </a:rPr>
              <a:t>STEP 3 · OPEN THE INTERACTIVE CONSOLE</a:t>
            </a:r>
          </a:p>
        </p:txBody>
      </p:sp>
      <p:sp>
        <p:nvSpPr>
          <p:cNvPr id="30" name="TextBox 29"/>
          <p:cNvSpPr txBox="1"/>
          <p:nvPr/>
        </p:nvSpPr>
        <p:spPr>
          <a:xfrm>
            <a:off x="6126480" y="4736592"/>
            <a:ext cx="5095951" cy="329184"/>
          </a:xfrm>
          <a:prstGeom prst="rect">
            <a:avLst/>
          </a:prstGeom>
          <a:noFill/>
        </p:spPr>
        <p:txBody>
          <a:bodyPr wrap="square" anchor="t" lIns="0" rIns="0" tIns="0" bIns="0">
            <a:spAutoFit/>
          </a:bodyPr>
          <a:lstStyle/>
          <a:p>
            <a:pPr algn="l"/>
            <a:r>
              <a:rPr sz="1300" b="0">
                <a:solidFill>
                  <a:srgbClr val="1C1A16"/>
                </a:solidFill>
                <a:latin typeface="Consolas"/>
              </a:rPr>
              <a:t>java -cp bin TaskManagementApp</a:t>
            </a:r>
          </a:p>
        </p:txBody>
      </p:sp>
      <p:sp>
        <p:nvSpPr>
          <p:cNvPr id="31" name="Rounded Rectangle 30"/>
          <p:cNvSpPr/>
          <p:nvPr/>
        </p:nvSpPr>
        <p:spPr>
          <a:xfrm>
            <a:off x="5888736" y="5358384"/>
            <a:ext cx="5553151" cy="749808"/>
          </a:xfrm>
          <a:prstGeom prst="roundRect">
            <a:avLst>
              <a:gd name="adj" fmla="val 6000"/>
            </a:avLst>
          </a:prstGeom>
          <a:solidFill>
            <a:srgbClr val="F4F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26480" y="5358384"/>
            <a:ext cx="5095951" cy="749808"/>
          </a:xfrm>
          <a:prstGeom prst="rect">
            <a:avLst/>
          </a:prstGeom>
          <a:noFill/>
        </p:spPr>
        <p:txBody>
          <a:bodyPr wrap="square" anchor="ctr" lIns="0" rIns="0" tIns="0" bIns="0">
            <a:spAutoFit/>
          </a:bodyPr>
          <a:lstStyle/>
          <a:p>
            <a:pPr algn="l"/>
            <a:r>
              <a:rPr sz="1050" b="0">
                <a:solidFill>
                  <a:srgbClr val="1C1A16"/>
                </a:solidFill>
                <a:latin typeface="Inter SemiBold"/>
              </a:rPr>
              <a:t>Inside the console menu:</a:t>
            </a:r>
          </a:p>
          <a:p>
            <a:pPr algn="l">
              <a:lnSpc>
                <a:spcPct val="125000"/>
              </a:lnSpc>
              <a:spcBef>
                <a:spcPts val="300"/>
              </a:spcBef>
            </a:pPr>
            <a:r>
              <a:rPr sz="950" b="0">
                <a:solidFill>
                  <a:srgbClr val="57534B"/>
                </a:solidFill>
                <a:latin typeface="Inter"/>
              </a:rPr>
              <a:t>1 create a task (Factory)   ·   4 change the sort (Strategy)   ·   3 view sorted   ·   5 change status (State)</a:t>
            </a:r>
          </a:p>
        </p:txBody>
      </p:sp>
      <p:sp>
        <p:nvSpPr>
          <p:cNvPr id="33" name="TextBox 32"/>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34" name="TextBox 33"/>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24 / 32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1E7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1E7A45"/>
                </a:solidFill>
                <a:latin typeface="Inter SemiBold"/>
              </a:rPr>
              <a:t>LIVE DEMONSTRATION  ·  DEMO 2  ·  GRAPHICAL USER INTERFACE</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1E7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1E7A45"/>
                </a:solidFill>
                <a:latin typeface="Inter SemiBold"/>
              </a:rPr>
              <a:t>SECTION 4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500" b="0">
                <a:solidFill>
                  <a:srgbClr val="1C1A16"/>
                </a:solidFill>
                <a:latin typeface="Spectral SemiBold"/>
              </a:rPr>
              <a:t>Demo 2 — the graphical interface.</a:t>
            </a:r>
          </a:p>
        </p:txBody>
      </p:sp>
      <p:sp>
        <p:nvSpPr>
          <p:cNvPr id="11" name="TextBox 10"/>
          <p:cNvSpPr txBox="1"/>
          <p:nvPr/>
        </p:nvSpPr>
        <p:spPr>
          <a:xfrm>
            <a:off x="749808" y="1865376"/>
            <a:ext cx="10692079" cy="365760"/>
          </a:xfrm>
          <a:prstGeom prst="rect">
            <a:avLst/>
          </a:prstGeom>
          <a:noFill/>
        </p:spPr>
        <p:txBody>
          <a:bodyPr wrap="square" anchor="t" lIns="0" rIns="0" tIns="0" bIns="0">
            <a:spAutoFit/>
          </a:bodyPr>
          <a:lstStyle/>
          <a:p>
            <a:pPr algn="l">
              <a:lnSpc>
                <a:spcPct val="130000"/>
              </a:lnSpc>
            </a:pPr>
            <a:r>
              <a:rPr sz="1200" b="0">
                <a:solidFill>
                  <a:srgbClr val="57534B"/>
                </a:solidFill>
                <a:latin typeface="Inter"/>
              </a:rPr>
              <a:t>From the same project root, one command launches the whole interface — the rest is clicks.</a:t>
            </a:r>
          </a:p>
        </p:txBody>
      </p:sp>
      <p:sp>
        <p:nvSpPr>
          <p:cNvPr id="12" name="Rounded Rectangle 11"/>
          <p:cNvSpPr/>
          <p:nvPr/>
        </p:nvSpPr>
        <p:spPr>
          <a:xfrm>
            <a:off x="749808" y="2395728"/>
            <a:ext cx="4800600" cy="3712463"/>
          </a:xfrm>
          <a:prstGeom prst="roundRect">
            <a:avLst>
              <a:gd name="adj" fmla="val 3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749808" y="2395728"/>
            <a:ext cx="4800600" cy="0"/>
          </a:xfrm>
          <a:prstGeom prst="line">
            <a:avLst/>
          </a:prstGeom>
          <a:ln w="30480">
            <a:solidFill>
              <a:srgbClr val="1E7A45"/>
            </a:solidFill>
          </a:ln>
          <a:effectLst/>
        </p:spPr>
        <p:style>
          <a:lnRef idx="2">
            <a:schemeClr val="accent1"/>
          </a:lnRef>
          <a:fillRef idx="0">
            <a:schemeClr val="accent1"/>
          </a:fillRef>
          <a:effectRef idx="1">
            <a:schemeClr val="accent1"/>
          </a:effectRef>
          <a:fontRef idx="minor">
            <a:schemeClr val="tx1"/>
          </a:fontRef>
        </p:style>
      </p:cxnSp>
      <p:pic>
        <p:nvPicPr>
          <p:cNvPr id="14" name="Picture 13" descr="gui-strategy.png"/>
          <p:cNvPicPr>
            <a:picLocks noChangeAspect="1"/>
          </p:cNvPicPr>
          <p:nvPr/>
        </p:nvPicPr>
        <p:blipFill>
          <a:blip r:embed="rId2"/>
          <a:stretch>
            <a:fillRect/>
          </a:stretch>
        </p:blipFill>
        <p:spPr>
          <a:xfrm>
            <a:off x="914400" y="2622884"/>
            <a:ext cx="4471416" cy="3294727"/>
          </a:xfrm>
          <a:prstGeom prst="rect">
            <a:avLst/>
          </a:prstGeom>
        </p:spPr>
      </p:pic>
      <p:sp>
        <p:nvSpPr>
          <p:cNvPr id="15" name="Rounded Rectangle 14"/>
          <p:cNvSpPr/>
          <p:nvPr/>
        </p:nvSpPr>
        <p:spPr>
          <a:xfrm>
            <a:off x="5888736" y="2395728"/>
            <a:ext cx="5553151" cy="987552"/>
          </a:xfrm>
          <a:prstGeom prst="roundRect">
            <a:avLst>
              <a:gd name="adj" fmla="val 6000"/>
            </a:avLst>
          </a:prstGeom>
          <a:solidFill>
            <a:srgbClr val="F7F4ED"/>
          </a:solidFill>
          <a:ln w="12700">
            <a:solidFill>
              <a:srgbClr val="E7E1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5888736" y="2395728"/>
            <a:ext cx="5553151" cy="0"/>
          </a:xfrm>
          <a:prstGeom prst="line">
            <a:avLst/>
          </a:prstGeom>
          <a:ln w="30480">
            <a:solidFill>
              <a:srgbClr val="1E7A45"/>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126480" y="2542032"/>
            <a:ext cx="5095951" cy="274320"/>
          </a:xfrm>
          <a:prstGeom prst="rect">
            <a:avLst/>
          </a:prstGeom>
          <a:noFill/>
        </p:spPr>
        <p:txBody>
          <a:bodyPr wrap="square" anchor="t" lIns="0" rIns="0" tIns="0" bIns="0">
            <a:spAutoFit/>
          </a:bodyPr>
          <a:lstStyle/>
          <a:p>
            <a:pPr algn="l"/>
            <a:r>
              <a:rPr sz="1000" b="1" spc="150">
                <a:solidFill>
                  <a:srgbClr val="1E7A45"/>
                </a:solidFill>
                <a:latin typeface="Inter SemiBold"/>
              </a:rPr>
              <a:t>PASTE THIS TO LAUNCH THE GUI</a:t>
            </a:r>
          </a:p>
        </p:txBody>
      </p:sp>
      <p:sp>
        <p:nvSpPr>
          <p:cNvPr id="18" name="TextBox 17"/>
          <p:cNvSpPr txBox="1"/>
          <p:nvPr/>
        </p:nvSpPr>
        <p:spPr>
          <a:xfrm>
            <a:off x="6126480" y="2980944"/>
            <a:ext cx="5095951" cy="329184"/>
          </a:xfrm>
          <a:prstGeom prst="rect">
            <a:avLst/>
          </a:prstGeom>
          <a:noFill/>
        </p:spPr>
        <p:txBody>
          <a:bodyPr wrap="square" anchor="t" lIns="0" rIns="0" tIns="0" bIns="0">
            <a:spAutoFit/>
          </a:bodyPr>
          <a:lstStyle/>
          <a:p>
            <a:pPr algn="l"/>
            <a:r>
              <a:rPr sz="1500" b="0">
                <a:solidFill>
                  <a:srgbClr val="1C1A16"/>
                </a:solidFill>
                <a:latin typeface="Consolas"/>
              </a:rPr>
              <a:t>java -jar TaskManagerGUI.jar</a:t>
            </a:r>
          </a:p>
        </p:txBody>
      </p:sp>
      <p:sp>
        <p:nvSpPr>
          <p:cNvPr id="19" name="Rounded Rectangle 18"/>
          <p:cNvSpPr/>
          <p:nvPr/>
        </p:nvSpPr>
        <p:spPr>
          <a:xfrm>
            <a:off x="5888736" y="3712463"/>
            <a:ext cx="402336" cy="402336"/>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browser__indigo.png"/>
          <p:cNvPicPr>
            <a:picLocks noChangeAspect="1"/>
          </p:cNvPicPr>
          <p:nvPr/>
        </p:nvPicPr>
        <p:blipFill>
          <a:blip r:embed="rId3"/>
          <a:stretch>
            <a:fillRect/>
          </a:stretch>
        </p:blipFill>
        <p:spPr>
          <a:xfrm>
            <a:off x="5973226" y="3796954"/>
            <a:ext cx="233354" cy="233354"/>
          </a:xfrm>
          <a:prstGeom prst="rect">
            <a:avLst/>
          </a:prstGeom>
        </p:spPr>
      </p:pic>
      <p:sp>
        <p:nvSpPr>
          <p:cNvPr id="21" name="TextBox 20"/>
          <p:cNvSpPr txBox="1"/>
          <p:nvPr/>
        </p:nvSpPr>
        <p:spPr>
          <a:xfrm>
            <a:off x="6437376" y="3675887"/>
            <a:ext cx="5004511" cy="274320"/>
          </a:xfrm>
          <a:prstGeom prst="rect">
            <a:avLst/>
          </a:prstGeom>
          <a:noFill/>
        </p:spPr>
        <p:txBody>
          <a:bodyPr wrap="square" anchor="t" lIns="0" rIns="0" tIns="0" bIns="0">
            <a:spAutoFit/>
          </a:bodyPr>
          <a:lstStyle/>
          <a:p>
            <a:pPr algn="l"/>
            <a:r>
              <a:rPr sz="1200" b="0">
                <a:solidFill>
                  <a:srgbClr val="1C1A16"/>
                </a:solidFill>
                <a:latin typeface="Inter SemiBold"/>
              </a:rPr>
              <a:t>Load the demo data</a:t>
            </a:r>
          </a:p>
        </p:txBody>
      </p:sp>
      <p:sp>
        <p:nvSpPr>
          <p:cNvPr id="22" name="TextBox 21"/>
          <p:cNvSpPr txBox="1"/>
          <p:nvPr/>
        </p:nvSpPr>
        <p:spPr>
          <a:xfrm>
            <a:off x="6437376" y="3922776"/>
            <a:ext cx="5004511" cy="384048"/>
          </a:xfrm>
          <a:prstGeom prst="rect">
            <a:avLst/>
          </a:prstGeom>
          <a:noFill/>
        </p:spPr>
        <p:txBody>
          <a:bodyPr wrap="square" anchor="t" lIns="0" rIns="0" tIns="0" bIns="0">
            <a:spAutoFit/>
          </a:bodyPr>
          <a:lstStyle/>
          <a:p>
            <a:pPr algn="l">
              <a:lnSpc>
                <a:spcPct val="118000"/>
              </a:lnSpc>
            </a:pPr>
            <a:r>
              <a:rPr sz="1019" b="0">
                <a:solidFill>
                  <a:srgbClr val="57534B"/>
                </a:solidFill>
                <a:latin typeface="Inter"/>
              </a:rPr>
              <a:t>Demo ▸ Load Strategy Demo seeds the table with tasks.</a:t>
            </a:r>
          </a:p>
        </p:txBody>
      </p:sp>
      <p:sp>
        <p:nvSpPr>
          <p:cNvPr id="23" name="Rounded Rectangle 22"/>
          <p:cNvSpPr/>
          <p:nvPr/>
        </p:nvSpPr>
        <p:spPr>
          <a:xfrm>
            <a:off x="5888736" y="4370831"/>
            <a:ext cx="402336" cy="402336"/>
          </a:xfrm>
          <a:prstGeom prst="roundRect">
            <a:avLst>
              <a:gd name="adj" fmla="val 30000"/>
            </a:avLst>
          </a:prstGeom>
          <a:solidFill>
            <a:srgbClr val="E2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switch-horizontal-01__teal.png"/>
          <p:cNvPicPr>
            <a:picLocks noChangeAspect="1"/>
          </p:cNvPicPr>
          <p:nvPr/>
        </p:nvPicPr>
        <p:blipFill>
          <a:blip r:embed="rId4"/>
          <a:stretch>
            <a:fillRect/>
          </a:stretch>
        </p:blipFill>
        <p:spPr>
          <a:xfrm>
            <a:off x="5973226" y="4455322"/>
            <a:ext cx="233354" cy="233354"/>
          </a:xfrm>
          <a:prstGeom prst="rect">
            <a:avLst/>
          </a:prstGeom>
        </p:spPr>
      </p:pic>
      <p:sp>
        <p:nvSpPr>
          <p:cNvPr id="25" name="TextBox 24"/>
          <p:cNvSpPr txBox="1"/>
          <p:nvPr/>
        </p:nvSpPr>
        <p:spPr>
          <a:xfrm>
            <a:off x="6437376" y="4334255"/>
            <a:ext cx="5004511" cy="274320"/>
          </a:xfrm>
          <a:prstGeom prst="rect">
            <a:avLst/>
          </a:prstGeom>
          <a:noFill/>
        </p:spPr>
        <p:txBody>
          <a:bodyPr wrap="square" anchor="t" lIns="0" rIns="0" tIns="0" bIns="0">
            <a:spAutoFit/>
          </a:bodyPr>
          <a:lstStyle/>
          <a:p>
            <a:pPr algn="l"/>
            <a:r>
              <a:rPr sz="1200" b="0">
                <a:solidFill>
                  <a:srgbClr val="1C1A16"/>
                </a:solidFill>
                <a:latin typeface="Inter SemiBold"/>
              </a:rPr>
              <a:t>Strategy, live</a:t>
            </a:r>
          </a:p>
        </p:txBody>
      </p:sp>
      <p:sp>
        <p:nvSpPr>
          <p:cNvPr id="26" name="TextBox 25"/>
          <p:cNvSpPr txBox="1"/>
          <p:nvPr/>
        </p:nvSpPr>
        <p:spPr>
          <a:xfrm>
            <a:off x="6437376" y="4581144"/>
            <a:ext cx="5004511" cy="384048"/>
          </a:xfrm>
          <a:prstGeom prst="rect">
            <a:avLst/>
          </a:prstGeom>
          <a:noFill/>
        </p:spPr>
        <p:txBody>
          <a:bodyPr wrap="square" anchor="t" lIns="0" rIns="0" tIns="0" bIns="0">
            <a:spAutoFit/>
          </a:bodyPr>
          <a:lstStyle/>
          <a:p>
            <a:pPr algn="l">
              <a:lnSpc>
                <a:spcPct val="118000"/>
              </a:lnSpc>
            </a:pPr>
            <a:r>
              <a:rPr sz="1019" b="0">
                <a:solidFill>
                  <a:srgbClr val="57534B"/>
                </a:solidFill>
                <a:latin typeface="Inter"/>
              </a:rPr>
              <a:t>Sort by: Urgent, Deadline, Severity — the table reorders, no recompile.</a:t>
            </a:r>
          </a:p>
        </p:txBody>
      </p:sp>
      <p:sp>
        <p:nvSpPr>
          <p:cNvPr id="27" name="Rounded Rectangle 26"/>
          <p:cNvSpPr/>
          <p:nvPr/>
        </p:nvSpPr>
        <p:spPr>
          <a:xfrm>
            <a:off x="5888736" y="5029200"/>
            <a:ext cx="402336" cy="402336"/>
          </a:xfrm>
          <a:prstGeom prst="roundRect">
            <a:avLst>
              <a:gd name="adj" fmla="val 30000"/>
            </a:avLst>
          </a:prstGeom>
          <a:solidFill>
            <a:srgbClr val="F6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package-plus__clay.png"/>
          <p:cNvPicPr>
            <a:picLocks noChangeAspect="1"/>
          </p:cNvPicPr>
          <p:nvPr/>
        </p:nvPicPr>
        <p:blipFill>
          <a:blip r:embed="rId5"/>
          <a:stretch>
            <a:fillRect/>
          </a:stretch>
        </p:blipFill>
        <p:spPr>
          <a:xfrm>
            <a:off x="5973226" y="5113690"/>
            <a:ext cx="233354" cy="233354"/>
          </a:xfrm>
          <a:prstGeom prst="rect">
            <a:avLst/>
          </a:prstGeom>
        </p:spPr>
      </p:pic>
      <p:sp>
        <p:nvSpPr>
          <p:cNvPr id="29" name="TextBox 28"/>
          <p:cNvSpPr txBox="1"/>
          <p:nvPr/>
        </p:nvSpPr>
        <p:spPr>
          <a:xfrm>
            <a:off x="6437376" y="4992624"/>
            <a:ext cx="5004511" cy="274320"/>
          </a:xfrm>
          <a:prstGeom prst="rect">
            <a:avLst/>
          </a:prstGeom>
          <a:noFill/>
        </p:spPr>
        <p:txBody>
          <a:bodyPr wrap="square" anchor="t" lIns="0" rIns="0" tIns="0" bIns="0">
            <a:spAutoFit/>
          </a:bodyPr>
          <a:lstStyle/>
          <a:p>
            <a:pPr algn="l"/>
            <a:r>
              <a:rPr sz="1200" b="0">
                <a:solidFill>
                  <a:srgbClr val="1C1A16"/>
                </a:solidFill>
                <a:latin typeface="Inter SemiBold"/>
              </a:rPr>
              <a:t>Factory, live</a:t>
            </a:r>
          </a:p>
        </p:txBody>
      </p:sp>
      <p:sp>
        <p:nvSpPr>
          <p:cNvPr id="30" name="TextBox 29"/>
          <p:cNvSpPr txBox="1"/>
          <p:nvPr/>
        </p:nvSpPr>
        <p:spPr>
          <a:xfrm>
            <a:off x="6437376" y="5239512"/>
            <a:ext cx="5004511" cy="384048"/>
          </a:xfrm>
          <a:prstGeom prst="rect">
            <a:avLst/>
          </a:prstGeom>
          <a:noFill/>
        </p:spPr>
        <p:txBody>
          <a:bodyPr wrap="square" anchor="t" lIns="0" rIns="0" tIns="0" bIns="0">
            <a:spAutoFit/>
          </a:bodyPr>
          <a:lstStyle/>
          <a:p>
            <a:pPr algn="l">
              <a:lnSpc>
                <a:spcPct val="118000"/>
              </a:lnSpc>
            </a:pPr>
            <a:r>
              <a:rPr sz="1019" b="0">
                <a:solidFill>
                  <a:srgbClr val="57534B"/>
                </a:solidFill>
                <a:latin typeface="Inter"/>
              </a:rPr>
              <a:t>Add a task; the Type field picks which factory builds it.</a:t>
            </a:r>
          </a:p>
        </p:txBody>
      </p:sp>
      <p:sp>
        <p:nvSpPr>
          <p:cNvPr id="31" name="Rounded Rectangle 30"/>
          <p:cNvSpPr/>
          <p:nvPr/>
        </p:nvSpPr>
        <p:spPr>
          <a:xfrm>
            <a:off x="5888736" y="5687568"/>
            <a:ext cx="402336" cy="402336"/>
          </a:xfrm>
          <a:prstGeom prst="roundRect">
            <a:avLst>
              <a:gd name="adj" fmla="val 30000"/>
            </a:avLst>
          </a:prstGeom>
          <a:solidFill>
            <a:srgbClr val="F0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refresh-cw-01__violet.png"/>
          <p:cNvPicPr>
            <a:picLocks noChangeAspect="1"/>
          </p:cNvPicPr>
          <p:nvPr/>
        </p:nvPicPr>
        <p:blipFill>
          <a:blip r:embed="rId6"/>
          <a:stretch>
            <a:fillRect/>
          </a:stretch>
        </p:blipFill>
        <p:spPr>
          <a:xfrm>
            <a:off x="5973226" y="5772058"/>
            <a:ext cx="233354" cy="233354"/>
          </a:xfrm>
          <a:prstGeom prst="rect">
            <a:avLst/>
          </a:prstGeom>
        </p:spPr>
      </p:pic>
      <p:sp>
        <p:nvSpPr>
          <p:cNvPr id="33" name="TextBox 32"/>
          <p:cNvSpPr txBox="1"/>
          <p:nvPr/>
        </p:nvSpPr>
        <p:spPr>
          <a:xfrm>
            <a:off x="6437376" y="5650992"/>
            <a:ext cx="5004511" cy="274320"/>
          </a:xfrm>
          <a:prstGeom prst="rect">
            <a:avLst/>
          </a:prstGeom>
          <a:noFill/>
        </p:spPr>
        <p:txBody>
          <a:bodyPr wrap="square" anchor="t" lIns="0" rIns="0" tIns="0" bIns="0">
            <a:spAutoFit/>
          </a:bodyPr>
          <a:lstStyle/>
          <a:p>
            <a:pPr algn="l"/>
            <a:r>
              <a:rPr sz="1200" b="0">
                <a:solidFill>
                  <a:srgbClr val="1C1A16"/>
                </a:solidFill>
                <a:latin typeface="Inter SemiBold"/>
              </a:rPr>
              <a:t>State machine</a:t>
            </a:r>
          </a:p>
        </p:txBody>
      </p:sp>
      <p:sp>
        <p:nvSpPr>
          <p:cNvPr id="34" name="TextBox 33"/>
          <p:cNvSpPr txBox="1"/>
          <p:nvPr/>
        </p:nvSpPr>
        <p:spPr>
          <a:xfrm>
            <a:off x="6437376" y="5897880"/>
            <a:ext cx="5004511" cy="384048"/>
          </a:xfrm>
          <a:prstGeom prst="rect">
            <a:avLst/>
          </a:prstGeom>
          <a:noFill/>
        </p:spPr>
        <p:txBody>
          <a:bodyPr wrap="square" anchor="t" lIns="0" rIns="0" tIns="0" bIns="0">
            <a:spAutoFit/>
          </a:bodyPr>
          <a:lstStyle/>
          <a:p>
            <a:pPr algn="l">
              <a:lnSpc>
                <a:spcPct val="118000"/>
              </a:lnSpc>
            </a:pPr>
            <a:r>
              <a:rPr sz="1019" b="0">
                <a:solidFill>
                  <a:srgbClr val="57534B"/>
                </a:solidFill>
                <a:latin typeface="Inter"/>
              </a:rPr>
              <a:t>Mark OPEN ▸ DONE: refused. OPEN ▸ IN_PROGRESS: allowed.</a:t>
            </a:r>
          </a:p>
        </p:txBody>
      </p:sp>
      <p:sp>
        <p:nvSpPr>
          <p:cNvPr id="35" name="TextBox 34"/>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36" name="TextBox 35"/>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25 / 32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9A6304"/>
        </a:solidFill>
        <a:effectLst/>
      </p:bgPr>
    </p:bg>
    <p:spTree>
      <p:nvGrpSpPr>
        <p:cNvPr id="1" name=""/>
        <p:cNvGrpSpPr/>
        <p:nvPr/>
      </p:nvGrpSpPr>
      <p:grpSpPr/>
      <p:sp>
        <p:nvSpPr>
          <p:cNvPr id="2" name="TextBox 1"/>
          <p:cNvSpPr txBox="1"/>
          <p:nvPr/>
        </p:nvSpPr>
        <p:spPr>
          <a:xfrm>
            <a:off x="749808" y="603504"/>
            <a:ext cx="8229600" cy="274320"/>
          </a:xfrm>
          <a:prstGeom prst="rect">
            <a:avLst/>
          </a:prstGeom>
          <a:noFill/>
        </p:spPr>
        <p:txBody>
          <a:bodyPr wrap="square" anchor="t" lIns="0" rIns="0" tIns="0" bIns="0">
            <a:spAutoFit/>
          </a:bodyPr>
          <a:lstStyle/>
          <a:p>
            <a:pPr algn="l"/>
            <a:r>
              <a:rPr sz="1100" b="1" spc="280">
                <a:solidFill>
                  <a:srgbClr val="FFFFFF"/>
                </a:solidFill>
                <a:latin typeface="Inter SemiBold"/>
              </a:rPr>
              <a:t>SECTION 05</a:t>
            </a:r>
          </a:p>
        </p:txBody>
      </p:sp>
      <p:sp>
        <p:nvSpPr>
          <p:cNvPr id="3" name="Rounded Rectangle 2"/>
          <p:cNvSpPr/>
          <p:nvPr/>
        </p:nvSpPr>
        <p:spPr>
          <a:xfrm>
            <a:off x="9613087" y="640080"/>
            <a:ext cx="292608" cy="64008"/>
          </a:xfrm>
          <a:prstGeom prst="roundRect">
            <a:avLst>
              <a:gd name="adj" fmla="val 50000"/>
            </a:avLst>
          </a:prstGeom>
          <a:solidFill>
            <a:srgbClr val="B892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997135" y="640080"/>
            <a:ext cx="292608" cy="64008"/>
          </a:xfrm>
          <a:prstGeom prst="roundRect">
            <a:avLst>
              <a:gd name="adj" fmla="val 50000"/>
            </a:avLst>
          </a:prstGeom>
          <a:solidFill>
            <a:srgbClr val="B892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381183" y="640080"/>
            <a:ext cx="292608" cy="64008"/>
          </a:xfrm>
          <a:prstGeom prst="roundRect">
            <a:avLst>
              <a:gd name="adj" fmla="val 50000"/>
            </a:avLst>
          </a:prstGeom>
          <a:solidFill>
            <a:srgbClr val="B892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765231" y="640080"/>
            <a:ext cx="292608" cy="64008"/>
          </a:xfrm>
          <a:prstGeom prst="roundRect">
            <a:avLst>
              <a:gd name="adj" fmla="val 50000"/>
            </a:avLst>
          </a:prstGeom>
          <a:solidFill>
            <a:srgbClr val="B892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1149279" y="640080"/>
            <a:ext cx="292608" cy="640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EDE3D2"/>
                </a:solidFill>
                <a:latin typeface="Inter SemiBold"/>
              </a:rPr>
              <a:t>SECTION 5 / 5</a:t>
            </a:r>
          </a:p>
        </p:txBody>
      </p:sp>
      <p:pic>
        <p:nvPicPr>
          <p:cNvPr id="9" name="Picture 8" descr="trophy-01__white.png"/>
          <p:cNvPicPr>
            <a:picLocks noChangeAspect="1"/>
          </p:cNvPicPr>
          <p:nvPr/>
        </p:nvPicPr>
        <p:blipFill>
          <a:blip r:embed="rId2"/>
          <a:stretch>
            <a:fillRect/>
          </a:stretch>
        </p:blipFill>
        <p:spPr>
          <a:xfrm>
            <a:off x="9590227" y="1165860"/>
            <a:ext cx="1417320" cy="1417320"/>
          </a:xfrm>
          <a:prstGeom prst="rect">
            <a:avLst/>
          </a:prstGeom>
        </p:spPr>
      </p:pic>
      <p:cxnSp>
        <p:nvCxnSpPr>
          <p:cNvPr id="10" name="Connector 9"/>
          <p:cNvCxnSpPr/>
          <p:nvPr/>
        </p:nvCxnSpPr>
        <p:spPr>
          <a:xfrm>
            <a:off x="749808" y="3017520"/>
            <a:ext cx="10692079" cy="0"/>
          </a:xfrm>
          <a:prstGeom prst="line">
            <a:avLst/>
          </a:prstGeom>
          <a:ln w="20320">
            <a:solidFill>
              <a:srgbClr val="CAAE7C"/>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49808" y="3291840"/>
            <a:ext cx="9411919" cy="1280160"/>
          </a:xfrm>
          <a:prstGeom prst="rect">
            <a:avLst/>
          </a:prstGeom>
          <a:noFill/>
        </p:spPr>
        <p:txBody>
          <a:bodyPr wrap="square" anchor="t" lIns="0" rIns="0" tIns="0" bIns="0">
            <a:spAutoFit/>
          </a:bodyPr>
          <a:lstStyle/>
          <a:p>
            <a:pPr algn="l">
              <a:lnSpc>
                <a:spcPct val="105000"/>
              </a:lnSpc>
            </a:pPr>
            <a:r>
              <a:rPr sz="3700" b="0">
                <a:solidFill>
                  <a:srgbClr val="FFFFFF"/>
                </a:solidFill>
                <a:latin typeface="Spectral SemiBold"/>
              </a:rPr>
              <a:t>Results, evaluation and conclusion.</a:t>
            </a:r>
          </a:p>
        </p:txBody>
      </p:sp>
      <p:sp>
        <p:nvSpPr>
          <p:cNvPr id="12" name="TextBox 11"/>
          <p:cNvSpPr txBox="1"/>
          <p:nvPr/>
        </p:nvSpPr>
        <p:spPr>
          <a:xfrm>
            <a:off x="749808" y="4370832"/>
            <a:ext cx="8680399" cy="914400"/>
          </a:xfrm>
          <a:prstGeom prst="rect">
            <a:avLst/>
          </a:prstGeom>
          <a:noFill/>
        </p:spPr>
        <p:txBody>
          <a:bodyPr wrap="square" anchor="t" lIns="0" rIns="0" tIns="0" bIns="0">
            <a:spAutoFit/>
          </a:bodyPr>
          <a:lstStyle/>
          <a:p>
            <a:pPr algn="l">
              <a:lnSpc>
                <a:spcPct val="142000"/>
              </a:lnSpc>
            </a:pPr>
            <a:r>
              <a:rPr sz="1400" b="0">
                <a:solidFill>
                  <a:srgbClr val="EDE3D2"/>
                </a:solidFill>
                <a:latin typeface="Inter"/>
              </a:rPr>
              <a:t>What the patterns delivered in practice, the honest limits of this build, and the main lesson.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B576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B5760C"/>
                </a:solidFill>
                <a:latin typeface="Inter SemiBold"/>
              </a:rPr>
              <a:t>RESULTS  ·  WHAT THE PATTERNS DELIVERED</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B576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B5760C"/>
                </a:solidFill>
                <a:latin typeface="Inter SemiBold"/>
              </a:rPr>
              <a:t>SECTION 5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700" b="0">
                <a:solidFill>
                  <a:srgbClr val="1C1A16"/>
                </a:solidFill>
                <a:latin typeface="Spectral SemiBold"/>
              </a:rPr>
              <a:t>New types and orderings, without editing existing code.</a:t>
            </a:r>
          </a:p>
        </p:txBody>
      </p:sp>
      <p:sp>
        <p:nvSpPr>
          <p:cNvPr id="11" name="Rounded Rectangle 10"/>
          <p:cNvSpPr/>
          <p:nvPr/>
        </p:nvSpPr>
        <p:spPr>
          <a:xfrm>
            <a:off x="749808" y="2331720"/>
            <a:ext cx="5117439" cy="3383280"/>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24127" y="2587752"/>
            <a:ext cx="457200" cy="457200"/>
          </a:xfrm>
          <a:prstGeom prst="roundRect">
            <a:avLst>
              <a:gd name="adj" fmla="val 30000"/>
            </a:avLst>
          </a:prstGeom>
          <a:solidFill>
            <a:srgbClr val="E6F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trend-up-01__green.png"/>
          <p:cNvPicPr>
            <a:picLocks noChangeAspect="1"/>
          </p:cNvPicPr>
          <p:nvPr/>
        </p:nvPicPr>
        <p:blipFill>
          <a:blip r:embed="rId2"/>
          <a:stretch>
            <a:fillRect/>
          </a:stretch>
        </p:blipFill>
        <p:spPr>
          <a:xfrm>
            <a:off x="1124712" y="2688336"/>
            <a:ext cx="256032" cy="256032"/>
          </a:xfrm>
          <a:prstGeom prst="rect">
            <a:avLst/>
          </a:prstGeom>
        </p:spPr>
      </p:pic>
      <p:sp>
        <p:nvSpPr>
          <p:cNvPr id="14" name="TextBox 13"/>
          <p:cNvSpPr txBox="1"/>
          <p:nvPr/>
        </p:nvSpPr>
        <p:spPr>
          <a:xfrm>
            <a:off x="1645919" y="2587752"/>
            <a:ext cx="4020159" cy="457200"/>
          </a:xfrm>
          <a:prstGeom prst="rect">
            <a:avLst/>
          </a:prstGeom>
          <a:noFill/>
        </p:spPr>
        <p:txBody>
          <a:bodyPr wrap="square" anchor="ctr" lIns="0" rIns="0" tIns="0" bIns="0">
            <a:spAutoFit/>
          </a:bodyPr>
          <a:lstStyle/>
          <a:p>
            <a:pPr algn="l"/>
            <a:r>
              <a:rPr sz="1100" b="0" spc="140">
                <a:solidFill>
                  <a:srgbClr val="1C1A16"/>
                </a:solidFill>
                <a:latin typeface="Inter SemiBold"/>
              </a:rPr>
              <a:t>EXTENSION, IN NUMBERS</a:t>
            </a:r>
          </a:p>
        </p:txBody>
      </p:sp>
      <p:sp>
        <p:nvSpPr>
          <p:cNvPr id="15" name="TextBox 14"/>
          <p:cNvSpPr txBox="1"/>
          <p:nvPr/>
        </p:nvSpPr>
        <p:spPr>
          <a:xfrm>
            <a:off x="1060704" y="3273552"/>
            <a:ext cx="201168" cy="274320"/>
          </a:xfrm>
          <a:prstGeom prst="rect">
            <a:avLst/>
          </a:prstGeom>
          <a:noFill/>
        </p:spPr>
        <p:txBody>
          <a:bodyPr wrap="square" anchor="t" lIns="0" rIns="0" tIns="0" bIns="0">
            <a:spAutoFit/>
          </a:bodyPr>
          <a:lstStyle/>
          <a:p>
            <a:pPr algn="l"/>
            <a:r>
              <a:rPr sz="1150" b="0">
                <a:solidFill>
                  <a:srgbClr val="1E7A45"/>
                </a:solidFill>
                <a:latin typeface="Inter SemiBold"/>
              </a:rPr>
              <a:t>›</a:t>
            </a:r>
          </a:p>
        </p:txBody>
      </p:sp>
      <p:sp>
        <p:nvSpPr>
          <p:cNvPr id="16" name="TextBox 15"/>
          <p:cNvSpPr txBox="1"/>
          <p:nvPr/>
        </p:nvSpPr>
        <p:spPr>
          <a:xfrm>
            <a:off x="1280160" y="3282696"/>
            <a:ext cx="4331055" cy="694944"/>
          </a:xfrm>
          <a:prstGeom prst="rect">
            <a:avLst/>
          </a:prstGeom>
          <a:noFill/>
        </p:spPr>
        <p:txBody>
          <a:bodyPr wrap="square" anchor="t" lIns="0" rIns="0" tIns="0" bIns="0">
            <a:spAutoFit/>
          </a:bodyPr>
          <a:lstStyle/>
          <a:p>
            <a:pPr algn="l">
              <a:lnSpc>
                <a:spcPct val="120000"/>
              </a:lnSpc>
            </a:pPr>
            <a:r>
              <a:rPr sz="1200" b="0">
                <a:solidFill>
                  <a:srgbClr val="57534B"/>
                </a:solidFill>
                <a:latin typeface="Inter"/>
              </a:rPr>
              <a:t>New task type: 2 new files, 1 line of registration, 0 edits.</a:t>
            </a:r>
          </a:p>
        </p:txBody>
      </p:sp>
      <p:sp>
        <p:nvSpPr>
          <p:cNvPr id="17" name="TextBox 16"/>
          <p:cNvSpPr txBox="1"/>
          <p:nvPr/>
        </p:nvSpPr>
        <p:spPr>
          <a:xfrm>
            <a:off x="1060704" y="3877056"/>
            <a:ext cx="201168" cy="274320"/>
          </a:xfrm>
          <a:prstGeom prst="rect">
            <a:avLst/>
          </a:prstGeom>
          <a:noFill/>
        </p:spPr>
        <p:txBody>
          <a:bodyPr wrap="square" anchor="t" lIns="0" rIns="0" tIns="0" bIns="0">
            <a:spAutoFit/>
          </a:bodyPr>
          <a:lstStyle/>
          <a:p>
            <a:pPr algn="l"/>
            <a:r>
              <a:rPr sz="1150" b="0">
                <a:solidFill>
                  <a:srgbClr val="1E7A45"/>
                </a:solidFill>
                <a:latin typeface="Inter SemiBold"/>
              </a:rPr>
              <a:t>›</a:t>
            </a:r>
          </a:p>
        </p:txBody>
      </p:sp>
      <p:sp>
        <p:nvSpPr>
          <p:cNvPr id="18" name="TextBox 17"/>
          <p:cNvSpPr txBox="1"/>
          <p:nvPr/>
        </p:nvSpPr>
        <p:spPr>
          <a:xfrm>
            <a:off x="1280160" y="3886200"/>
            <a:ext cx="4331055" cy="694944"/>
          </a:xfrm>
          <a:prstGeom prst="rect">
            <a:avLst/>
          </a:prstGeom>
          <a:noFill/>
        </p:spPr>
        <p:txBody>
          <a:bodyPr wrap="square" anchor="t" lIns="0" rIns="0" tIns="0" bIns="0">
            <a:spAutoFit/>
          </a:bodyPr>
          <a:lstStyle/>
          <a:p>
            <a:pPr algn="l">
              <a:lnSpc>
                <a:spcPct val="120000"/>
              </a:lnSpc>
            </a:pPr>
            <a:r>
              <a:rPr sz="1200" b="0">
                <a:solidFill>
                  <a:srgbClr val="57534B"/>
                </a:solidFill>
                <a:latin typeface="Inter"/>
              </a:rPr>
              <a:t>New ordering: 1 new file, 1 setter call, 0 edits.</a:t>
            </a:r>
          </a:p>
        </p:txBody>
      </p:sp>
      <p:sp>
        <p:nvSpPr>
          <p:cNvPr id="19" name="TextBox 18"/>
          <p:cNvSpPr txBox="1"/>
          <p:nvPr/>
        </p:nvSpPr>
        <p:spPr>
          <a:xfrm>
            <a:off x="1060704" y="4480560"/>
            <a:ext cx="201168" cy="274320"/>
          </a:xfrm>
          <a:prstGeom prst="rect">
            <a:avLst/>
          </a:prstGeom>
          <a:noFill/>
        </p:spPr>
        <p:txBody>
          <a:bodyPr wrap="square" anchor="t" lIns="0" rIns="0" tIns="0" bIns="0">
            <a:spAutoFit/>
          </a:bodyPr>
          <a:lstStyle/>
          <a:p>
            <a:pPr algn="l"/>
            <a:r>
              <a:rPr sz="1150" b="0">
                <a:solidFill>
                  <a:srgbClr val="1E7A45"/>
                </a:solidFill>
                <a:latin typeface="Inter SemiBold"/>
              </a:rPr>
              <a:t>›</a:t>
            </a:r>
          </a:p>
        </p:txBody>
      </p:sp>
      <p:sp>
        <p:nvSpPr>
          <p:cNvPr id="20" name="TextBox 19"/>
          <p:cNvSpPr txBox="1"/>
          <p:nvPr/>
        </p:nvSpPr>
        <p:spPr>
          <a:xfrm>
            <a:off x="1280160" y="4489704"/>
            <a:ext cx="4331055" cy="694944"/>
          </a:xfrm>
          <a:prstGeom prst="rect">
            <a:avLst/>
          </a:prstGeom>
          <a:noFill/>
        </p:spPr>
        <p:txBody>
          <a:bodyPr wrap="square" anchor="t" lIns="0" rIns="0" tIns="0" bIns="0">
            <a:spAutoFit/>
          </a:bodyPr>
          <a:lstStyle/>
          <a:p>
            <a:pPr algn="l">
              <a:lnSpc>
                <a:spcPct val="120000"/>
              </a:lnSpc>
            </a:pPr>
            <a:r>
              <a:rPr sz="1200" b="0">
                <a:solidFill>
                  <a:srgbClr val="57534B"/>
                </a:solidFill>
                <a:latin typeface="Inter"/>
              </a:rPr>
              <a:t>Test 5 in Main asserts this Open/Closed property at runtime.</a:t>
            </a:r>
          </a:p>
        </p:txBody>
      </p:sp>
      <p:sp>
        <p:nvSpPr>
          <p:cNvPr id="21" name="Rounded Rectangle 20"/>
          <p:cNvSpPr/>
          <p:nvPr/>
        </p:nvSpPr>
        <p:spPr>
          <a:xfrm>
            <a:off x="6324447" y="2331720"/>
            <a:ext cx="5117439" cy="3383280"/>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598767" y="2587752"/>
            <a:ext cx="457200" cy="457200"/>
          </a:xfrm>
          <a:prstGeom prst="roundRect">
            <a:avLst>
              <a:gd name="adj" fmla="val 30000"/>
            </a:avLst>
          </a:prstGeom>
          <a:solidFill>
            <a:srgbClr val="E6F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check-circle__green.png"/>
          <p:cNvPicPr>
            <a:picLocks noChangeAspect="1"/>
          </p:cNvPicPr>
          <p:nvPr/>
        </p:nvPicPr>
        <p:blipFill>
          <a:blip r:embed="rId3"/>
          <a:stretch>
            <a:fillRect/>
          </a:stretch>
        </p:blipFill>
        <p:spPr>
          <a:xfrm>
            <a:off x="6699351" y="2688336"/>
            <a:ext cx="256032" cy="256032"/>
          </a:xfrm>
          <a:prstGeom prst="rect">
            <a:avLst/>
          </a:prstGeom>
        </p:spPr>
      </p:pic>
      <p:sp>
        <p:nvSpPr>
          <p:cNvPr id="24" name="TextBox 23"/>
          <p:cNvSpPr txBox="1"/>
          <p:nvPr/>
        </p:nvSpPr>
        <p:spPr>
          <a:xfrm>
            <a:off x="7220559" y="2587752"/>
            <a:ext cx="4020159" cy="457200"/>
          </a:xfrm>
          <a:prstGeom prst="rect">
            <a:avLst/>
          </a:prstGeom>
          <a:noFill/>
        </p:spPr>
        <p:txBody>
          <a:bodyPr wrap="square" anchor="ctr" lIns="0" rIns="0" tIns="0" bIns="0">
            <a:spAutoFit/>
          </a:bodyPr>
          <a:lstStyle/>
          <a:p>
            <a:pPr algn="l"/>
            <a:r>
              <a:rPr sz="1100" b="0" spc="140">
                <a:solidFill>
                  <a:srgbClr val="1C1A16"/>
                </a:solidFill>
                <a:latin typeface="Inter SemiBold"/>
              </a:rPr>
              <a:t>WHAT WORKED IN PRACTICE</a:t>
            </a:r>
          </a:p>
        </p:txBody>
      </p:sp>
      <p:sp>
        <p:nvSpPr>
          <p:cNvPr id="25" name="TextBox 24"/>
          <p:cNvSpPr txBox="1"/>
          <p:nvPr/>
        </p:nvSpPr>
        <p:spPr>
          <a:xfrm>
            <a:off x="6635343" y="3273552"/>
            <a:ext cx="201168" cy="274320"/>
          </a:xfrm>
          <a:prstGeom prst="rect">
            <a:avLst/>
          </a:prstGeom>
          <a:noFill/>
        </p:spPr>
        <p:txBody>
          <a:bodyPr wrap="square" anchor="t" lIns="0" rIns="0" tIns="0" bIns="0">
            <a:spAutoFit/>
          </a:bodyPr>
          <a:lstStyle/>
          <a:p>
            <a:pPr algn="l"/>
            <a:r>
              <a:rPr sz="1150" b="0">
                <a:solidFill>
                  <a:srgbClr val="1E7A45"/>
                </a:solidFill>
                <a:latin typeface="Inter SemiBold"/>
              </a:rPr>
              <a:t>›</a:t>
            </a:r>
          </a:p>
        </p:txBody>
      </p:sp>
      <p:sp>
        <p:nvSpPr>
          <p:cNvPr id="26" name="TextBox 25"/>
          <p:cNvSpPr txBox="1"/>
          <p:nvPr/>
        </p:nvSpPr>
        <p:spPr>
          <a:xfrm>
            <a:off x="6854799" y="3282696"/>
            <a:ext cx="4331055" cy="694944"/>
          </a:xfrm>
          <a:prstGeom prst="rect">
            <a:avLst/>
          </a:prstGeom>
          <a:noFill/>
        </p:spPr>
        <p:txBody>
          <a:bodyPr wrap="square" anchor="t" lIns="0" rIns="0" tIns="0" bIns="0">
            <a:spAutoFit/>
          </a:bodyPr>
          <a:lstStyle/>
          <a:p>
            <a:pPr algn="l">
              <a:lnSpc>
                <a:spcPct val="120000"/>
              </a:lnSpc>
            </a:pPr>
            <a:r>
              <a:rPr sz="1200" b="0">
                <a:solidFill>
                  <a:srgbClr val="57534B"/>
                </a:solidFill>
                <a:latin typeface="Inter"/>
              </a:rPr>
              <a:t>Documentation type was added late, with zero edits to existing code.</a:t>
            </a:r>
          </a:p>
        </p:txBody>
      </p:sp>
      <p:sp>
        <p:nvSpPr>
          <p:cNvPr id="27" name="TextBox 26"/>
          <p:cNvSpPr txBox="1"/>
          <p:nvPr/>
        </p:nvSpPr>
        <p:spPr>
          <a:xfrm>
            <a:off x="6635343" y="3877056"/>
            <a:ext cx="201168" cy="274320"/>
          </a:xfrm>
          <a:prstGeom prst="rect">
            <a:avLst/>
          </a:prstGeom>
          <a:noFill/>
        </p:spPr>
        <p:txBody>
          <a:bodyPr wrap="square" anchor="t" lIns="0" rIns="0" tIns="0" bIns="0">
            <a:spAutoFit/>
          </a:bodyPr>
          <a:lstStyle/>
          <a:p>
            <a:pPr algn="l"/>
            <a:r>
              <a:rPr sz="1150" b="0">
                <a:solidFill>
                  <a:srgbClr val="1E7A45"/>
                </a:solidFill>
                <a:latin typeface="Inter SemiBold"/>
              </a:rPr>
              <a:t>›</a:t>
            </a:r>
          </a:p>
        </p:txBody>
      </p:sp>
      <p:sp>
        <p:nvSpPr>
          <p:cNvPr id="28" name="TextBox 27"/>
          <p:cNvSpPr txBox="1"/>
          <p:nvPr/>
        </p:nvSpPr>
        <p:spPr>
          <a:xfrm>
            <a:off x="6854799" y="3886200"/>
            <a:ext cx="4331055" cy="694944"/>
          </a:xfrm>
          <a:prstGeom prst="rect">
            <a:avLst/>
          </a:prstGeom>
          <a:noFill/>
        </p:spPr>
        <p:txBody>
          <a:bodyPr wrap="square" anchor="t" lIns="0" rIns="0" tIns="0" bIns="0">
            <a:spAutoFit/>
          </a:bodyPr>
          <a:lstStyle/>
          <a:p>
            <a:pPr algn="l">
              <a:lnSpc>
                <a:spcPct val="120000"/>
              </a:lnSpc>
            </a:pPr>
            <a:r>
              <a:rPr sz="1200" b="0">
                <a:solidFill>
                  <a:srgbClr val="57534B"/>
                </a:solidFill>
                <a:latin typeface="Inter"/>
              </a:rPr>
              <a:t>The GUI dropdown proves the Strategy swap, live.</a:t>
            </a:r>
          </a:p>
        </p:txBody>
      </p:sp>
      <p:sp>
        <p:nvSpPr>
          <p:cNvPr id="29" name="TextBox 28"/>
          <p:cNvSpPr txBox="1"/>
          <p:nvPr/>
        </p:nvSpPr>
        <p:spPr>
          <a:xfrm>
            <a:off x="6635343" y="4480560"/>
            <a:ext cx="201168" cy="274320"/>
          </a:xfrm>
          <a:prstGeom prst="rect">
            <a:avLst/>
          </a:prstGeom>
          <a:noFill/>
        </p:spPr>
        <p:txBody>
          <a:bodyPr wrap="square" anchor="t" lIns="0" rIns="0" tIns="0" bIns="0">
            <a:spAutoFit/>
          </a:bodyPr>
          <a:lstStyle/>
          <a:p>
            <a:pPr algn="l"/>
            <a:r>
              <a:rPr sz="1150" b="0">
                <a:solidFill>
                  <a:srgbClr val="1E7A45"/>
                </a:solidFill>
                <a:latin typeface="Inter SemiBold"/>
              </a:rPr>
              <a:t>›</a:t>
            </a:r>
          </a:p>
        </p:txBody>
      </p:sp>
      <p:sp>
        <p:nvSpPr>
          <p:cNvPr id="30" name="TextBox 29"/>
          <p:cNvSpPr txBox="1"/>
          <p:nvPr/>
        </p:nvSpPr>
        <p:spPr>
          <a:xfrm>
            <a:off x="6854799" y="4489704"/>
            <a:ext cx="4331055" cy="694944"/>
          </a:xfrm>
          <a:prstGeom prst="rect">
            <a:avLst/>
          </a:prstGeom>
          <a:noFill/>
        </p:spPr>
        <p:txBody>
          <a:bodyPr wrap="square" anchor="t" lIns="0" rIns="0" tIns="0" bIns="0">
            <a:spAutoFit/>
          </a:bodyPr>
          <a:lstStyle/>
          <a:p>
            <a:pPr algn="l">
              <a:lnSpc>
                <a:spcPct val="120000"/>
              </a:lnSpc>
            </a:pPr>
            <a:r>
              <a:rPr sz="1200" b="0">
                <a:solidFill>
                  <a:srgbClr val="57534B"/>
                </a:solidFill>
                <a:latin typeface="Inter"/>
              </a:rPr>
              <a:t>The lifecycle enum makes every illegal transition unreachable.</a:t>
            </a:r>
          </a:p>
        </p:txBody>
      </p:sp>
      <p:sp>
        <p:nvSpPr>
          <p:cNvPr id="31" name="TextBox 30"/>
          <p:cNvSpPr txBox="1"/>
          <p:nvPr/>
        </p:nvSpPr>
        <p:spPr>
          <a:xfrm>
            <a:off x="6635343" y="5084064"/>
            <a:ext cx="201168" cy="274320"/>
          </a:xfrm>
          <a:prstGeom prst="rect">
            <a:avLst/>
          </a:prstGeom>
          <a:noFill/>
        </p:spPr>
        <p:txBody>
          <a:bodyPr wrap="square" anchor="t" lIns="0" rIns="0" tIns="0" bIns="0">
            <a:spAutoFit/>
          </a:bodyPr>
          <a:lstStyle/>
          <a:p>
            <a:pPr algn="l"/>
            <a:r>
              <a:rPr sz="1150" b="0">
                <a:solidFill>
                  <a:srgbClr val="1E7A45"/>
                </a:solidFill>
                <a:latin typeface="Inter SemiBold"/>
              </a:rPr>
              <a:t>›</a:t>
            </a:r>
          </a:p>
        </p:txBody>
      </p:sp>
      <p:sp>
        <p:nvSpPr>
          <p:cNvPr id="32" name="TextBox 31"/>
          <p:cNvSpPr txBox="1"/>
          <p:nvPr/>
        </p:nvSpPr>
        <p:spPr>
          <a:xfrm>
            <a:off x="6854799" y="5093208"/>
            <a:ext cx="4331055" cy="694944"/>
          </a:xfrm>
          <a:prstGeom prst="rect">
            <a:avLst/>
          </a:prstGeom>
          <a:noFill/>
        </p:spPr>
        <p:txBody>
          <a:bodyPr wrap="square" anchor="t" lIns="0" rIns="0" tIns="0" bIns="0">
            <a:spAutoFit/>
          </a:bodyPr>
          <a:lstStyle/>
          <a:p>
            <a:pPr algn="l">
              <a:lnSpc>
                <a:spcPct val="120000"/>
              </a:lnSpc>
            </a:pPr>
            <a:r>
              <a:rPr sz="1200" b="0">
                <a:solidFill>
                  <a:srgbClr val="57534B"/>
                </a:solidFill>
                <a:latin typeface="Inter"/>
              </a:rPr>
              <a:t>Main doubles as the test harness, with no JUnit needed.</a:t>
            </a:r>
          </a:p>
        </p:txBody>
      </p:sp>
      <p:sp>
        <p:nvSpPr>
          <p:cNvPr id="33" name="TextBox 32"/>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34" name="TextBox 33"/>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27 / 32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B576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B5760C"/>
                </a:solidFill>
                <a:latin typeface="Inter SemiBold"/>
              </a:rPr>
              <a:t>EVALUATION  ·  LIMITATIONS AND ALTERNATIVES</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B576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B5760C"/>
                </a:solidFill>
                <a:latin typeface="Inter SemiBold"/>
              </a:rPr>
              <a:t>SECTION 5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900" b="0">
                <a:solidFill>
                  <a:srgbClr val="1C1A16"/>
                </a:solidFill>
                <a:latin typeface="Spectral SemiBold"/>
              </a:rPr>
              <a:t>An honest look at the design.</a:t>
            </a:r>
          </a:p>
        </p:txBody>
      </p:sp>
      <p:sp>
        <p:nvSpPr>
          <p:cNvPr id="11" name="Rounded Rectangle 10"/>
          <p:cNvSpPr/>
          <p:nvPr/>
        </p:nvSpPr>
        <p:spPr>
          <a:xfrm>
            <a:off x="749808" y="2377440"/>
            <a:ext cx="457200" cy="457200"/>
          </a:xfrm>
          <a:prstGeom prst="roundRect">
            <a:avLst>
              <a:gd name="adj" fmla="val 30000"/>
            </a:avLst>
          </a:prstGeom>
          <a:solidFill>
            <a:srgbClr val="F5EE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lert-circle__amber.png"/>
          <p:cNvPicPr>
            <a:picLocks noChangeAspect="1"/>
          </p:cNvPicPr>
          <p:nvPr/>
        </p:nvPicPr>
        <p:blipFill>
          <a:blip r:embed="rId2"/>
          <a:stretch>
            <a:fillRect/>
          </a:stretch>
        </p:blipFill>
        <p:spPr>
          <a:xfrm>
            <a:off x="850391" y="2478024"/>
            <a:ext cx="256032" cy="256032"/>
          </a:xfrm>
          <a:prstGeom prst="rect">
            <a:avLst/>
          </a:prstGeom>
        </p:spPr>
      </p:pic>
      <p:sp>
        <p:nvSpPr>
          <p:cNvPr id="13" name="TextBox 12"/>
          <p:cNvSpPr txBox="1"/>
          <p:nvPr/>
        </p:nvSpPr>
        <p:spPr>
          <a:xfrm>
            <a:off x="749808" y="2962656"/>
            <a:ext cx="3259226" cy="365760"/>
          </a:xfrm>
          <a:prstGeom prst="rect">
            <a:avLst/>
          </a:prstGeom>
          <a:noFill/>
        </p:spPr>
        <p:txBody>
          <a:bodyPr wrap="square" anchor="t" lIns="0" rIns="0" tIns="0" bIns="0">
            <a:spAutoFit/>
          </a:bodyPr>
          <a:lstStyle/>
          <a:p>
            <a:pPr algn="l"/>
            <a:r>
              <a:rPr sz="1300" b="0">
                <a:solidFill>
                  <a:srgbClr val="1C1A16"/>
                </a:solidFill>
                <a:latin typeface="Inter SemiBold"/>
              </a:rPr>
              <a:t>Limitations</a:t>
            </a:r>
          </a:p>
        </p:txBody>
      </p:sp>
      <p:cxnSp>
        <p:nvCxnSpPr>
          <p:cNvPr id="14" name="Connector 13"/>
          <p:cNvCxnSpPr/>
          <p:nvPr/>
        </p:nvCxnSpPr>
        <p:spPr>
          <a:xfrm>
            <a:off x="749808" y="3264408"/>
            <a:ext cx="1368875" cy="0"/>
          </a:xfrm>
          <a:prstGeom prst="line">
            <a:avLst/>
          </a:prstGeom>
          <a:ln w="27940">
            <a:solidFill>
              <a:srgbClr val="B5760C"/>
            </a:solidFill>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49808" y="3383280"/>
            <a:ext cx="3259226" cy="1280160"/>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All data is in memory; nothing persists. Single user, no concurrency. Validation throws on the first error rather than collecting them all.</a:t>
            </a:r>
          </a:p>
        </p:txBody>
      </p:sp>
      <p:sp>
        <p:nvSpPr>
          <p:cNvPr id="16" name="Rounded Rectangle 15"/>
          <p:cNvSpPr/>
          <p:nvPr/>
        </p:nvSpPr>
        <p:spPr>
          <a:xfrm>
            <a:off x="4466234" y="2377440"/>
            <a:ext cx="457200" cy="457200"/>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intersect-circle__indigo.png"/>
          <p:cNvPicPr>
            <a:picLocks noChangeAspect="1"/>
          </p:cNvPicPr>
          <p:nvPr/>
        </p:nvPicPr>
        <p:blipFill>
          <a:blip r:embed="rId3"/>
          <a:stretch>
            <a:fillRect/>
          </a:stretch>
        </p:blipFill>
        <p:spPr>
          <a:xfrm>
            <a:off x="4566818" y="2478024"/>
            <a:ext cx="256032" cy="256032"/>
          </a:xfrm>
          <a:prstGeom prst="rect">
            <a:avLst/>
          </a:prstGeom>
        </p:spPr>
      </p:pic>
      <p:sp>
        <p:nvSpPr>
          <p:cNvPr id="18" name="TextBox 17"/>
          <p:cNvSpPr txBox="1"/>
          <p:nvPr/>
        </p:nvSpPr>
        <p:spPr>
          <a:xfrm>
            <a:off x="4466234" y="2962656"/>
            <a:ext cx="3259226" cy="365760"/>
          </a:xfrm>
          <a:prstGeom prst="rect">
            <a:avLst/>
          </a:prstGeom>
          <a:noFill/>
        </p:spPr>
        <p:txBody>
          <a:bodyPr wrap="square" anchor="t" lIns="0" rIns="0" tIns="0" bIns="0">
            <a:spAutoFit/>
          </a:bodyPr>
          <a:lstStyle/>
          <a:p>
            <a:pPr algn="l"/>
            <a:r>
              <a:rPr sz="1300" b="0">
                <a:solidFill>
                  <a:srgbClr val="1C1A16"/>
                </a:solidFill>
                <a:latin typeface="Inter SemiBold"/>
              </a:rPr>
              <a:t>Alternatives we weighed</a:t>
            </a:r>
          </a:p>
        </p:txBody>
      </p:sp>
      <p:cxnSp>
        <p:nvCxnSpPr>
          <p:cNvPr id="19" name="Connector 18"/>
          <p:cNvCxnSpPr/>
          <p:nvPr/>
        </p:nvCxnSpPr>
        <p:spPr>
          <a:xfrm>
            <a:off x="4466234" y="3264408"/>
            <a:ext cx="1368875" cy="0"/>
          </a:xfrm>
          <a:prstGeom prst="line">
            <a:avLst/>
          </a:prstGeom>
          <a:ln w="27940">
            <a:solidFill>
              <a:srgbClr val="4A45C7"/>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466234" y="3383280"/>
            <a:ext cx="3259226" cy="1280160"/>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Abstract Factory: rejected, there is only one product family. A raw Comparator: loses the named role and the stateful sort.</a:t>
            </a:r>
          </a:p>
        </p:txBody>
      </p:sp>
      <p:sp>
        <p:nvSpPr>
          <p:cNvPr id="21" name="Rounded Rectangle 20"/>
          <p:cNvSpPr/>
          <p:nvPr/>
        </p:nvSpPr>
        <p:spPr>
          <a:xfrm>
            <a:off x="8182660" y="2377440"/>
            <a:ext cx="457200" cy="457200"/>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ock-fast-forward__indigo.png"/>
          <p:cNvPicPr>
            <a:picLocks noChangeAspect="1"/>
          </p:cNvPicPr>
          <p:nvPr/>
        </p:nvPicPr>
        <p:blipFill>
          <a:blip r:embed="rId4"/>
          <a:stretch>
            <a:fillRect/>
          </a:stretch>
        </p:blipFill>
        <p:spPr>
          <a:xfrm>
            <a:off x="8283244" y="2478024"/>
            <a:ext cx="256032" cy="256032"/>
          </a:xfrm>
          <a:prstGeom prst="rect">
            <a:avLst/>
          </a:prstGeom>
        </p:spPr>
      </p:pic>
      <p:sp>
        <p:nvSpPr>
          <p:cNvPr id="23" name="TextBox 22"/>
          <p:cNvSpPr txBox="1"/>
          <p:nvPr/>
        </p:nvSpPr>
        <p:spPr>
          <a:xfrm>
            <a:off x="8182660" y="2962656"/>
            <a:ext cx="3259226" cy="365760"/>
          </a:xfrm>
          <a:prstGeom prst="rect">
            <a:avLst/>
          </a:prstGeom>
          <a:noFill/>
        </p:spPr>
        <p:txBody>
          <a:bodyPr wrap="square" anchor="t" lIns="0" rIns="0" tIns="0" bIns="0">
            <a:spAutoFit/>
          </a:bodyPr>
          <a:lstStyle/>
          <a:p>
            <a:pPr algn="l"/>
            <a:r>
              <a:rPr sz="1300" b="0">
                <a:solidFill>
                  <a:srgbClr val="1C1A16"/>
                </a:solidFill>
                <a:latin typeface="Inter SemiBold"/>
              </a:rPr>
              <a:t>Future work</a:t>
            </a:r>
          </a:p>
        </p:txBody>
      </p:sp>
      <p:cxnSp>
        <p:nvCxnSpPr>
          <p:cNvPr id="24" name="Connector 23"/>
          <p:cNvCxnSpPr/>
          <p:nvPr/>
        </p:nvCxnSpPr>
        <p:spPr>
          <a:xfrm>
            <a:off x="8182660" y="3264408"/>
            <a:ext cx="1368875" cy="0"/>
          </a:xfrm>
          <a:prstGeom prst="line">
            <a:avLst/>
          </a:prstGeom>
          <a:ln w="27940">
            <a:solidFill>
              <a:srgbClr val="4A45C7"/>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182660" y="3383280"/>
            <a:ext cx="3259226" cy="1280160"/>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Persistence via Repository, tags via Specification, async dispatch, and a small REST layer over the same engine.</a:t>
            </a:r>
          </a:p>
        </p:txBody>
      </p:sp>
      <p:sp>
        <p:nvSpPr>
          <p:cNvPr id="26" name="Rounded Rectangle 25"/>
          <p:cNvSpPr/>
          <p:nvPr/>
        </p:nvSpPr>
        <p:spPr>
          <a:xfrm>
            <a:off x="749808" y="5029200"/>
            <a:ext cx="10692079" cy="841248"/>
          </a:xfrm>
          <a:prstGeom prst="roundRect">
            <a:avLst>
              <a:gd name="adj" fmla="val 6000"/>
            </a:avLst>
          </a:prstGeom>
          <a:solidFill>
            <a:srgbClr val="F4F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7" y="5029200"/>
            <a:ext cx="10143439" cy="841248"/>
          </a:xfrm>
          <a:prstGeom prst="rect">
            <a:avLst/>
          </a:prstGeom>
          <a:noFill/>
        </p:spPr>
        <p:txBody>
          <a:bodyPr wrap="square" anchor="ctr" lIns="0" rIns="0" tIns="0" bIns="0">
            <a:spAutoFit/>
          </a:bodyPr>
          <a:lstStyle/>
          <a:p>
            <a:pPr algn="l">
              <a:lnSpc>
                <a:spcPct val="135000"/>
              </a:lnSpc>
            </a:pPr>
            <a:r>
              <a:rPr sz="1200" b="0">
                <a:solidFill>
                  <a:srgbClr val="1C1A16"/>
                </a:solidFill>
                <a:latin typeface="Inter Medium"/>
              </a:rPr>
              <a:t>Every limitation above is a scoping choice, not a structural one. The engine is decoupled enough that each item is an addition, not a rewrite.</a:t>
            </a:r>
          </a:p>
        </p:txBody>
      </p:sp>
      <p:sp>
        <p:nvSpPr>
          <p:cNvPr id="28" name="TextBox 27"/>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29" name="TextBox 28"/>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28 / 32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B576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B5760C"/>
                </a:solidFill>
                <a:latin typeface="Inter SemiBold"/>
              </a:rPr>
              <a:t>CONCLUSION</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B576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B5760C"/>
                </a:solidFill>
                <a:latin typeface="Inter SemiBold"/>
              </a:rPr>
              <a:t>SECTION 5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900" b="0">
                <a:solidFill>
                  <a:srgbClr val="1C1A16"/>
                </a:solidFill>
                <a:latin typeface="Spectral SemiBold"/>
              </a:rPr>
              <a:t>What we set out to do, and what we learned.</a:t>
            </a:r>
          </a:p>
        </p:txBody>
      </p:sp>
      <p:sp>
        <p:nvSpPr>
          <p:cNvPr id="11" name="Rounded Rectangle 10"/>
          <p:cNvSpPr/>
          <p:nvPr/>
        </p:nvSpPr>
        <p:spPr>
          <a:xfrm>
            <a:off x="749808" y="2331720"/>
            <a:ext cx="5117439" cy="1591056"/>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05840" y="2587752"/>
            <a:ext cx="457200" cy="457200"/>
          </a:xfrm>
          <a:prstGeom prst="roundRect">
            <a:avLst>
              <a:gd name="adj" fmla="val 30000"/>
            </a:avLst>
          </a:prstGeom>
          <a:solidFill>
            <a:srgbClr val="E6F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verified-01__green.png"/>
          <p:cNvPicPr>
            <a:picLocks noChangeAspect="1"/>
          </p:cNvPicPr>
          <p:nvPr/>
        </p:nvPicPr>
        <p:blipFill>
          <a:blip r:embed="rId2"/>
          <a:stretch>
            <a:fillRect/>
          </a:stretch>
        </p:blipFill>
        <p:spPr>
          <a:xfrm>
            <a:off x="1106424" y="2688336"/>
            <a:ext cx="256032" cy="256032"/>
          </a:xfrm>
          <a:prstGeom prst="rect">
            <a:avLst/>
          </a:prstGeom>
        </p:spPr>
      </p:pic>
      <p:sp>
        <p:nvSpPr>
          <p:cNvPr id="14" name="TextBox 13"/>
          <p:cNvSpPr txBox="1"/>
          <p:nvPr/>
        </p:nvSpPr>
        <p:spPr>
          <a:xfrm>
            <a:off x="1627632" y="2587752"/>
            <a:ext cx="4020159" cy="457200"/>
          </a:xfrm>
          <a:prstGeom prst="rect">
            <a:avLst/>
          </a:prstGeom>
          <a:noFill/>
        </p:spPr>
        <p:txBody>
          <a:bodyPr wrap="square" anchor="ctr" lIns="0" rIns="0" tIns="0" bIns="0">
            <a:spAutoFit/>
          </a:bodyPr>
          <a:lstStyle/>
          <a:p>
            <a:pPr algn="l">
              <a:lnSpc>
                <a:spcPct val="104000"/>
              </a:lnSpc>
            </a:pPr>
            <a:r>
              <a:rPr sz="1350" b="0">
                <a:solidFill>
                  <a:srgbClr val="1C1A16"/>
                </a:solidFill>
                <a:latin typeface="Inter SemiBold"/>
              </a:rPr>
              <a:t>What we achieved</a:t>
            </a:r>
          </a:p>
        </p:txBody>
      </p:sp>
      <p:sp>
        <p:nvSpPr>
          <p:cNvPr id="15" name="TextBox 14"/>
          <p:cNvSpPr txBox="1"/>
          <p:nvPr/>
        </p:nvSpPr>
        <p:spPr>
          <a:xfrm>
            <a:off x="1024127" y="3172968"/>
            <a:ext cx="4587087" cy="603503"/>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A working task system where new types and new orderings cost no edits to existing, tested code.</a:t>
            </a:r>
          </a:p>
        </p:txBody>
      </p:sp>
      <p:sp>
        <p:nvSpPr>
          <p:cNvPr id="16" name="Rounded Rectangle 15"/>
          <p:cNvSpPr/>
          <p:nvPr/>
        </p:nvSpPr>
        <p:spPr>
          <a:xfrm>
            <a:off x="6324447" y="2331720"/>
            <a:ext cx="5117439" cy="1591056"/>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580479" y="2587752"/>
            <a:ext cx="457200" cy="457200"/>
          </a:xfrm>
          <a:prstGeom prst="roundRect">
            <a:avLst>
              <a:gd name="adj" fmla="val 30000"/>
            </a:avLst>
          </a:prstGeom>
          <a:solidFill>
            <a:srgbClr val="F0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puzzle-piece-01__violet.png"/>
          <p:cNvPicPr>
            <a:picLocks noChangeAspect="1"/>
          </p:cNvPicPr>
          <p:nvPr/>
        </p:nvPicPr>
        <p:blipFill>
          <a:blip r:embed="rId3"/>
          <a:stretch>
            <a:fillRect/>
          </a:stretch>
        </p:blipFill>
        <p:spPr>
          <a:xfrm>
            <a:off x="6681063" y="2688336"/>
            <a:ext cx="256032" cy="256032"/>
          </a:xfrm>
          <a:prstGeom prst="rect">
            <a:avLst/>
          </a:prstGeom>
        </p:spPr>
      </p:pic>
      <p:sp>
        <p:nvSpPr>
          <p:cNvPr id="19" name="TextBox 18"/>
          <p:cNvSpPr txBox="1"/>
          <p:nvPr/>
        </p:nvSpPr>
        <p:spPr>
          <a:xfrm>
            <a:off x="7202271" y="2587752"/>
            <a:ext cx="4020159" cy="457200"/>
          </a:xfrm>
          <a:prstGeom prst="rect">
            <a:avLst/>
          </a:prstGeom>
          <a:noFill/>
        </p:spPr>
        <p:txBody>
          <a:bodyPr wrap="square" anchor="ctr" lIns="0" rIns="0" tIns="0" bIns="0">
            <a:spAutoFit/>
          </a:bodyPr>
          <a:lstStyle/>
          <a:p>
            <a:pPr algn="l">
              <a:lnSpc>
                <a:spcPct val="104000"/>
              </a:lnSpc>
            </a:pPr>
            <a:r>
              <a:rPr sz="1350" b="0">
                <a:solidFill>
                  <a:srgbClr val="1C1A16"/>
                </a:solidFill>
                <a:latin typeface="Inter SemiBold"/>
              </a:rPr>
              <a:t>The patterns earned their place</a:t>
            </a:r>
          </a:p>
        </p:txBody>
      </p:sp>
      <p:sp>
        <p:nvSpPr>
          <p:cNvPr id="20" name="TextBox 19"/>
          <p:cNvSpPr txBox="1"/>
          <p:nvPr/>
        </p:nvSpPr>
        <p:spPr>
          <a:xfrm>
            <a:off x="6598767" y="3172968"/>
            <a:ext cx="4587087" cy="603503"/>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Each was chosen to solve a concrete problem from section one, not to satisfy a checklist.</a:t>
            </a:r>
          </a:p>
        </p:txBody>
      </p:sp>
      <p:sp>
        <p:nvSpPr>
          <p:cNvPr id="21" name="Rounded Rectangle 20"/>
          <p:cNvSpPr/>
          <p:nvPr/>
        </p:nvSpPr>
        <p:spPr>
          <a:xfrm>
            <a:off x="749808" y="4160520"/>
            <a:ext cx="5117439" cy="1591056"/>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05840" y="4416552"/>
            <a:ext cx="457200" cy="457200"/>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book-open-01__indigo.png"/>
          <p:cNvPicPr>
            <a:picLocks noChangeAspect="1"/>
          </p:cNvPicPr>
          <p:nvPr/>
        </p:nvPicPr>
        <p:blipFill>
          <a:blip r:embed="rId4"/>
          <a:stretch>
            <a:fillRect/>
          </a:stretch>
        </p:blipFill>
        <p:spPr>
          <a:xfrm>
            <a:off x="1106424" y="4517136"/>
            <a:ext cx="256032" cy="256032"/>
          </a:xfrm>
          <a:prstGeom prst="rect">
            <a:avLst/>
          </a:prstGeom>
        </p:spPr>
      </p:pic>
      <p:sp>
        <p:nvSpPr>
          <p:cNvPr id="24" name="TextBox 23"/>
          <p:cNvSpPr txBox="1"/>
          <p:nvPr/>
        </p:nvSpPr>
        <p:spPr>
          <a:xfrm>
            <a:off x="1627632" y="4416552"/>
            <a:ext cx="4020159" cy="457200"/>
          </a:xfrm>
          <a:prstGeom prst="rect">
            <a:avLst/>
          </a:prstGeom>
          <a:noFill/>
        </p:spPr>
        <p:txBody>
          <a:bodyPr wrap="square" anchor="ctr" lIns="0" rIns="0" tIns="0" bIns="0">
            <a:spAutoFit/>
          </a:bodyPr>
          <a:lstStyle/>
          <a:p>
            <a:pPr algn="l">
              <a:lnSpc>
                <a:spcPct val="104000"/>
              </a:lnSpc>
            </a:pPr>
            <a:r>
              <a:rPr sz="1350" b="0">
                <a:solidFill>
                  <a:srgbClr val="1C1A16"/>
                </a:solidFill>
                <a:latin typeface="Inter SemiBold"/>
              </a:rPr>
              <a:t>The lesson</a:t>
            </a:r>
          </a:p>
        </p:txBody>
      </p:sp>
      <p:sp>
        <p:nvSpPr>
          <p:cNvPr id="25" name="TextBox 24"/>
          <p:cNvSpPr txBox="1"/>
          <p:nvPr/>
        </p:nvSpPr>
        <p:spPr>
          <a:xfrm>
            <a:off x="1024127" y="5001768"/>
            <a:ext cx="4587087" cy="603503"/>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Naming a role, a factory or a strategy, makes the codebase explain itself to the next reader.</a:t>
            </a:r>
          </a:p>
        </p:txBody>
      </p:sp>
      <p:sp>
        <p:nvSpPr>
          <p:cNvPr id="26" name="Rounded Rectangle 25"/>
          <p:cNvSpPr/>
          <p:nvPr/>
        </p:nvSpPr>
        <p:spPr>
          <a:xfrm>
            <a:off x="6324447" y="4160520"/>
            <a:ext cx="5117439" cy="1591056"/>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580479" y="4416552"/>
            <a:ext cx="457200" cy="457200"/>
          </a:xfrm>
          <a:prstGeom prst="roundRect">
            <a:avLst>
              <a:gd name="adj" fmla="val 30000"/>
            </a:avLst>
          </a:prstGeom>
          <a:solidFill>
            <a:srgbClr val="F5EE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trophy-01__amber.png"/>
          <p:cNvPicPr>
            <a:picLocks noChangeAspect="1"/>
          </p:cNvPicPr>
          <p:nvPr/>
        </p:nvPicPr>
        <p:blipFill>
          <a:blip r:embed="rId5"/>
          <a:stretch>
            <a:fillRect/>
          </a:stretch>
        </p:blipFill>
        <p:spPr>
          <a:xfrm>
            <a:off x="6681063" y="4517136"/>
            <a:ext cx="256032" cy="256032"/>
          </a:xfrm>
          <a:prstGeom prst="rect">
            <a:avLst/>
          </a:prstGeom>
        </p:spPr>
      </p:pic>
      <p:sp>
        <p:nvSpPr>
          <p:cNvPr id="29" name="TextBox 28"/>
          <p:cNvSpPr txBox="1"/>
          <p:nvPr/>
        </p:nvSpPr>
        <p:spPr>
          <a:xfrm>
            <a:off x="7202271" y="4416552"/>
            <a:ext cx="4020159" cy="457200"/>
          </a:xfrm>
          <a:prstGeom prst="rect">
            <a:avLst/>
          </a:prstGeom>
          <a:noFill/>
        </p:spPr>
        <p:txBody>
          <a:bodyPr wrap="square" anchor="ctr" lIns="0" rIns="0" tIns="0" bIns="0">
            <a:spAutoFit/>
          </a:bodyPr>
          <a:lstStyle/>
          <a:p>
            <a:pPr algn="l">
              <a:lnSpc>
                <a:spcPct val="104000"/>
              </a:lnSpc>
            </a:pPr>
            <a:r>
              <a:rPr sz="1350" b="0">
                <a:solidFill>
                  <a:srgbClr val="1C1A16"/>
                </a:solidFill>
                <a:latin typeface="Inter SemiBold"/>
              </a:rPr>
              <a:t>The bigger point</a:t>
            </a:r>
          </a:p>
        </p:txBody>
      </p:sp>
      <p:sp>
        <p:nvSpPr>
          <p:cNvPr id="30" name="TextBox 29"/>
          <p:cNvSpPr txBox="1"/>
          <p:nvPr/>
        </p:nvSpPr>
        <p:spPr>
          <a:xfrm>
            <a:off x="6598767" y="5001768"/>
            <a:ext cx="4587087" cy="603503"/>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Design patterns are a shared vocabulary that lets a team extend software without breaking what already works.</a:t>
            </a:r>
          </a:p>
        </p:txBody>
      </p:sp>
      <p:sp>
        <p:nvSpPr>
          <p:cNvPr id="31" name="TextBox 30"/>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32" name="TextBox 31"/>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29 / 32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C1A16"/>
        </a:solidFill>
        <a:effectLst/>
      </p:bgPr>
    </p:bg>
    <p:spTree>
      <p:nvGrpSpPr>
        <p:cNvPr id="1" name=""/>
        <p:cNvGrpSpPr/>
        <p:nvPr/>
      </p:nvGrpSpPr>
      <p:grpSpPr/>
      <p:sp>
        <p:nvSpPr>
          <p:cNvPr id="2" name="TextBox 1"/>
          <p:cNvSpPr txBox="1"/>
          <p:nvPr/>
        </p:nvSpPr>
        <p:spPr>
          <a:xfrm>
            <a:off x="749808" y="2286000"/>
            <a:ext cx="10881360" cy="1645920"/>
          </a:xfrm>
          <a:prstGeom prst="rect">
            <a:avLst/>
          </a:prstGeom>
          <a:noFill/>
        </p:spPr>
        <p:txBody>
          <a:bodyPr wrap="square" anchor="t" lIns="0" rIns="0" tIns="0" bIns="0">
            <a:spAutoFit/>
          </a:bodyPr>
          <a:lstStyle/>
          <a:p>
            <a:pPr algn="l">
              <a:lnSpc>
                <a:spcPct val="104000"/>
              </a:lnSpc>
            </a:pPr>
            <a:r>
              <a:rPr sz="4800" b="0">
                <a:solidFill>
                  <a:srgbClr val="FFFFFF"/>
                </a:solidFill>
                <a:latin typeface="Spectral SemiBold"/>
              </a:rPr>
              <a:t>Thank you.</a:t>
            </a:r>
          </a:p>
          <a:p>
            <a:pPr algn="l">
              <a:lnSpc>
                <a:spcPct val="104000"/>
              </a:lnSpc>
              <a:spcBef>
                <a:spcPts val="400"/>
              </a:spcBef>
            </a:pPr>
            <a:r>
              <a:rPr sz="4800" b="0">
                <a:solidFill>
                  <a:srgbClr val="8E8BF5"/>
                </a:solidFill>
                <a:latin typeface="Spectral SemiBold"/>
              </a:rPr>
              <a:t>Questions welcome.</a:t>
            </a:r>
          </a:p>
        </p:txBody>
      </p:sp>
      <p:cxnSp>
        <p:nvCxnSpPr>
          <p:cNvPr id="3" name="Connector 2"/>
          <p:cNvCxnSpPr/>
          <p:nvPr/>
        </p:nvCxnSpPr>
        <p:spPr>
          <a:xfrm>
            <a:off x="749808" y="4526280"/>
            <a:ext cx="10692079" cy="0"/>
          </a:xfrm>
          <a:prstGeom prst="line">
            <a:avLst/>
          </a:prstGeom>
          <a:ln w="12700">
            <a:solidFill>
              <a:srgbClr val="3A352E"/>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49808" y="4736592"/>
            <a:ext cx="8961120" cy="914400"/>
          </a:xfrm>
          <a:prstGeom prst="rect">
            <a:avLst/>
          </a:prstGeom>
          <a:noFill/>
        </p:spPr>
        <p:txBody>
          <a:bodyPr wrap="square" anchor="t" lIns="0" rIns="0" tIns="0" bIns="0">
            <a:spAutoFit/>
          </a:bodyPr>
          <a:lstStyle/>
          <a:p>
            <a:pPr algn="l">
              <a:lnSpc>
                <a:spcPct val="140000"/>
              </a:lnSpc>
            </a:pPr>
            <a:r>
              <a:rPr sz="1300" b="0">
                <a:solidFill>
                  <a:srgbClr val="A8A299"/>
                </a:solidFill>
                <a:latin typeface="Inter"/>
              </a:rPr>
              <a:t>We can speak to any part: the problem, the patterns, the architecture, the code, or the demo.</a:t>
            </a:r>
          </a:p>
        </p:txBody>
      </p:sp>
      <p:sp>
        <p:nvSpPr>
          <p:cNvPr id="5" name="Rounded Rectangle 4"/>
          <p:cNvSpPr/>
          <p:nvPr/>
        </p:nvSpPr>
        <p:spPr>
          <a:xfrm>
            <a:off x="749808" y="5650992"/>
            <a:ext cx="237744" cy="91440"/>
          </a:xfrm>
          <a:prstGeom prst="roundRect">
            <a:avLst>
              <a:gd name="adj" fmla="val 50000"/>
            </a:avLst>
          </a:prstGeom>
          <a:solidFill>
            <a:srgbClr val="BC5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 y="5541264"/>
            <a:ext cx="2377440" cy="310896"/>
          </a:xfrm>
          <a:prstGeom prst="rect">
            <a:avLst/>
          </a:prstGeom>
          <a:noFill/>
        </p:spPr>
        <p:txBody>
          <a:bodyPr wrap="square" anchor="t" lIns="0" rIns="0" tIns="0" bIns="0">
            <a:spAutoFit/>
          </a:bodyPr>
          <a:lstStyle/>
          <a:p>
            <a:pPr algn="l"/>
            <a:r>
              <a:rPr sz="1100" b="0">
                <a:solidFill>
                  <a:srgbClr val="A8A299"/>
                </a:solidFill>
                <a:latin typeface="Inter SemiBold"/>
              </a:rPr>
              <a:t>Factory Method</a:t>
            </a:r>
          </a:p>
        </p:txBody>
      </p:sp>
      <p:sp>
        <p:nvSpPr>
          <p:cNvPr id="7" name="Rounded Rectangle 6"/>
          <p:cNvSpPr/>
          <p:nvPr/>
        </p:nvSpPr>
        <p:spPr>
          <a:xfrm>
            <a:off x="2907791" y="5650992"/>
            <a:ext cx="237744" cy="91440"/>
          </a:xfrm>
          <a:prstGeom prst="roundRect">
            <a:avLst>
              <a:gd name="adj" fmla="val 50000"/>
            </a:avLst>
          </a:prstGeom>
          <a:solidFill>
            <a:srgbClr val="0E7C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36975" y="5541264"/>
            <a:ext cx="2377440" cy="310896"/>
          </a:xfrm>
          <a:prstGeom prst="rect">
            <a:avLst/>
          </a:prstGeom>
          <a:noFill/>
        </p:spPr>
        <p:txBody>
          <a:bodyPr wrap="square" anchor="t" lIns="0" rIns="0" tIns="0" bIns="0">
            <a:spAutoFit/>
          </a:bodyPr>
          <a:lstStyle/>
          <a:p>
            <a:pPr algn="l"/>
            <a:r>
              <a:rPr sz="1100" b="0">
                <a:solidFill>
                  <a:srgbClr val="A8A299"/>
                </a:solidFill>
                <a:latin typeface="Inter SemiBold"/>
              </a:rPr>
              <a:t>Strategy</a:t>
            </a:r>
          </a:p>
        </p:txBody>
      </p:sp>
      <p:sp>
        <p:nvSpPr>
          <p:cNvPr id="9" name="Rounded Rectangle 8"/>
          <p:cNvSpPr/>
          <p:nvPr/>
        </p:nvSpPr>
        <p:spPr>
          <a:xfrm>
            <a:off x="4608575" y="5650992"/>
            <a:ext cx="237744" cy="91440"/>
          </a:xfrm>
          <a:prstGeom prst="roundRect">
            <a:avLst>
              <a:gd name="adj" fmla="val 50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59" y="5541264"/>
            <a:ext cx="2377440" cy="310896"/>
          </a:xfrm>
          <a:prstGeom prst="rect">
            <a:avLst/>
          </a:prstGeom>
          <a:noFill/>
        </p:spPr>
        <p:txBody>
          <a:bodyPr wrap="square" anchor="t" lIns="0" rIns="0" tIns="0" bIns="0">
            <a:spAutoFit/>
          </a:bodyPr>
          <a:lstStyle/>
          <a:p>
            <a:pPr algn="l"/>
            <a:r>
              <a:rPr sz="1100" b="0">
                <a:solidFill>
                  <a:srgbClr val="A8A299"/>
                </a:solidFill>
                <a:latin typeface="Inter SemiBold"/>
              </a:rPr>
              <a:t>State</a:t>
            </a:r>
          </a:p>
        </p:txBody>
      </p:sp>
      <p:sp>
        <p:nvSpPr>
          <p:cNvPr id="11" name="TextBox 10"/>
          <p:cNvSpPr txBox="1"/>
          <p:nvPr/>
        </p:nvSpPr>
        <p:spPr>
          <a:xfrm>
            <a:off x="8332927" y="5541264"/>
            <a:ext cx="3108960" cy="310896"/>
          </a:xfrm>
          <a:prstGeom prst="rect">
            <a:avLst/>
          </a:prstGeom>
          <a:noFill/>
        </p:spPr>
        <p:txBody>
          <a:bodyPr wrap="square" anchor="t" lIns="0" rIns="0" tIns="0" bIns="0">
            <a:spAutoFit/>
          </a:bodyPr>
          <a:lstStyle/>
          <a:p>
            <a:pPr algn="r"/>
            <a:r>
              <a:rPr sz="950" b="0" spc="140">
                <a:solidFill>
                  <a:srgbClr val="A8A299"/>
                </a:solidFill>
                <a:latin typeface="Inter SemiBold"/>
              </a:rPr>
              <a:t>SEN3006 · SOFTWARE ARCHITECTURE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4A45C7"/>
                </a:solidFill>
                <a:latin typeface="Inter SemiBold"/>
              </a:rPr>
              <a:t>APPENDIX  ·  SUPPORTING VIEW</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B576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B5760C"/>
                </a:solidFill>
                <a:latin typeface="Inter SemiBold"/>
              </a:rPr>
              <a:t>SECTION 5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700" b="0">
                <a:solidFill>
                  <a:srgbClr val="1C1A16"/>
                </a:solidFill>
                <a:latin typeface="Spectral SemiBold"/>
              </a:rPr>
              <a:t>Component view.</a:t>
            </a:r>
          </a:p>
        </p:txBody>
      </p:sp>
      <p:sp>
        <p:nvSpPr>
          <p:cNvPr id="11" name="TextBox 10"/>
          <p:cNvSpPr txBox="1"/>
          <p:nvPr/>
        </p:nvSpPr>
        <p:spPr>
          <a:xfrm>
            <a:off x="749808" y="2066543"/>
            <a:ext cx="9777679" cy="640080"/>
          </a:xfrm>
          <a:prstGeom prst="rect">
            <a:avLst/>
          </a:prstGeom>
          <a:noFill/>
        </p:spPr>
        <p:txBody>
          <a:bodyPr wrap="square" anchor="t" lIns="0" rIns="0" tIns="0" bIns="0">
            <a:spAutoFit/>
          </a:bodyPr>
          <a:lstStyle/>
          <a:p>
            <a:pPr algn="l">
              <a:lnSpc>
                <a:spcPct val="136000"/>
              </a:lnSpc>
            </a:pPr>
            <a:r>
              <a:rPr sz="1300" b="0">
                <a:solidFill>
                  <a:srgbClr val="57534B"/>
                </a:solidFill>
                <a:latin typeface="Inter"/>
              </a:rPr>
              <a:t>The module structure: the UI depends on the manager, which delegates to the factory and strategy modules over the shared domain model.</a:t>
            </a:r>
          </a:p>
        </p:txBody>
      </p:sp>
      <p:sp>
        <p:nvSpPr>
          <p:cNvPr id="12" name="Rounded Rectangle 11"/>
          <p:cNvSpPr/>
          <p:nvPr/>
        </p:nvSpPr>
        <p:spPr>
          <a:xfrm>
            <a:off x="749808" y="2743200"/>
            <a:ext cx="10692079" cy="2743200"/>
          </a:xfrm>
          <a:prstGeom prst="roundRect">
            <a:avLst>
              <a:gd name="adj" fmla="val 3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749808" y="2743200"/>
            <a:ext cx="10692079" cy="0"/>
          </a:xfrm>
          <a:prstGeom prst="line">
            <a:avLst/>
          </a:prstGeom>
          <a:ln w="30480">
            <a:solidFill>
              <a:srgbClr val="4A45C7"/>
            </a:solidFill>
          </a:ln>
          <a:effectLst/>
        </p:spPr>
        <p:style>
          <a:lnRef idx="2">
            <a:schemeClr val="accent1"/>
          </a:lnRef>
          <a:fillRef idx="0">
            <a:schemeClr val="accent1"/>
          </a:fillRef>
          <a:effectRef idx="1">
            <a:schemeClr val="accent1"/>
          </a:effectRef>
          <a:fontRef idx="minor">
            <a:schemeClr val="tx1"/>
          </a:fontRef>
        </p:style>
      </p:cxnSp>
      <p:pic>
        <p:nvPicPr>
          <p:cNvPr id="14" name="Picture 13" descr="component-diagram.png"/>
          <p:cNvPicPr>
            <a:picLocks noChangeAspect="1"/>
          </p:cNvPicPr>
          <p:nvPr/>
        </p:nvPicPr>
        <p:blipFill>
          <a:blip r:embed="rId2"/>
          <a:stretch>
            <a:fillRect/>
          </a:stretch>
        </p:blipFill>
        <p:spPr>
          <a:xfrm>
            <a:off x="918311" y="2944368"/>
            <a:ext cx="10355072" cy="2377440"/>
          </a:xfrm>
          <a:prstGeom prst="rect">
            <a:avLst/>
          </a:prstGeom>
        </p:spPr>
      </p:pic>
      <p:sp>
        <p:nvSpPr>
          <p:cNvPr id="15" name="TextBox 14"/>
          <p:cNvSpPr txBox="1"/>
          <p:nvPr/>
        </p:nvSpPr>
        <p:spPr>
          <a:xfrm>
            <a:off x="749808" y="5650992"/>
            <a:ext cx="10692079" cy="274320"/>
          </a:xfrm>
          <a:prstGeom prst="rect">
            <a:avLst/>
          </a:prstGeom>
          <a:noFill/>
        </p:spPr>
        <p:txBody>
          <a:bodyPr wrap="square" anchor="t" lIns="0" rIns="0" tIns="0" bIns="0">
            <a:spAutoFit/>
          </a:bodyPr>
          <a:lstStyle/>
          <a:p>
            <a:pPr algn="ctr"/>
            <a:r>
              <a:rPr sz="950" b="0" spc="40">
                <a:solidFill>
                  <a:srgbClr val="B7B1A4"/>
                </a:solidFill>
                <a:latin typeface="Inter"/>
              </a:rPr>
              <a:t>Each box is a module; every arrow is a compile-time dependency pointing inward toward the manager and the abstractions.</a:t>
            </a:r>
          </a:p>
        </p:txBody>
      </p:sp>
      <p:sp>
        <p:nvSpPr>
          <p:cNvPr id="16" name="TextBox 15"/>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17" name="TextBox 16"/>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31 / 32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4A45C7"/>
                </a:solidFill>
                <a:latin typeface="Inter SemiBold"/>
              </a:rPr>
              <a:t>APPENDIX  ·  SUPPORTING VIEW</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B576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B5760C"/>
                </a:solidFill>
                <a:latin typeface="Inter SemiBold"/>
              </a:rPr>
              <a:t>SECTION 5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700" b="0">
                <a:solidFill>
                  <a:srgbClr val="1C1A16"/>
                </a:solidFill>
                <a:latin typeface="Spectral SemiBold"/>
              </a:rPr>
              <a:t>Deployment view.</a:t>
            </a:r>
          </a:p>
        </p:txBody>
      </p:sp>
      <p:sp>
        <p:nvSpPr>
          <p:cNvPr id="11" name="TextBox 10"/>
          <p:cNvSpPr txBox="1"/>
          <p:nvPr/>
        </p:nvSpPr>
        <p:spPr>
          <a:xfrm>
            <a:off x="749808" y="2066543"/>
            <a:ext cx="9777679" cy="640080"/>
          </a:xfrm>
          <a:prstGeom prst="rect">
            <a:avLst/>
          </a:prstGeom>
          <a:noFill/>
        </p:spPr>
        <p:txBody>
          <a:bodyPr wrap="square" anchor="t" lIns="0" rIns="0" tIns="0" bIns="0">
            <a:spAutoFit/>
          </a:bodyPr>
          <a:lstStyle/>
          <a:p>
            <a:pPr algn="l">
              <a:lnSpc>
                <a:spcPct val="136000"/>
              </a:lnSpc>
            </a:pPr>
            <a:r>
              <a:rPr sz="1300" b="0">
                <a:solidFill>
                  <a:srgbClr val="57534B"/>
                </a:solidFill>
                <a:latin typeface="Inter"/>
              </a:rPr>
              <a:t>One JVM, one shared engine, three entry points. No network, no database, no external services.</a:t>
            </a:r>
          </a:p>
        </p:txBody>
      </p:sp>
      <p:sp>
        <p:nvSpPr>
          <p:cNvPr id="12" name="Rounded Rectangle 11"/>
          <p:cNvSpPr/>
          <p:nvPr/>
        </p:nvSpPr>
        <p:spPr>
          <a:xfrm>
            <a:off x="2468880" y="2697480"/>
            <a:ext cx="7253935" cy="3200400"/>
          </a:xfrm>
          <a:prstGeom prst="roundRect">
            <a:avLst>
              <a:gd name="adj" fmla="val 3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2468880" y="2697480"/>
            <a:ext cx="7253935" cy="0"/>
          </a:xfrm>
          <a:prstGeom prst="line">
            <a:avLst/>
          </a:prstGeom>
          <a:ln w="30480">
            <a:solidFill>
              <a:srgbClr val="4A45C7"/>
            </a:solidFill>
          </a:ln>
          <a:effectLst/>
        </p:spPr>
        <p:style>
          <a:lnRef idx="2">
            <a:schemeClr val="accent1"/>
          </a:lnRef>
          <a:fillRef idx="0">
            <a:schemeClr val="accent1"/>
          </a:fillRef>
          <a:effectRef idx="1">
            <a:schemeClr val="accent1"/>
          </a:effectRef>
          <a:fontRef idx="minor">
            <a:schemeClr val="tx1"/>
          </a:fontRef>
        </p:style>
      </p:cxnSp>
      <p:pic>
        <p:nvPicPr>
          <p:cNvPr id="14" name="Picture 13" descr="deployment-diagram.png"/>
          <p:cNvPicPr>
            <a:picLocks noChangeAspect="1"/>
          </p:cNvPicPr>
          <p:nvPr/>
        </p:nvPicPr>
        <p:blipFill>
          <a:blip r:embed="rId2"/>
          <a:stretch>
            <a:fillRect/>
          </a:stretch>
        </p:blipFill>
        <p:spPr>
          <a:xfrm>
            <a:off x="3846497" y="2898648"/>
            <a:ext cx="4498699" cy="2834640"/>
          </a:xfrm>
          <a:prstGeom prst="rect">
            <a:avLst/>
          </a:prstGeom>
        </p:spPr>
      </p:pic>
      <p:sp>
        <p:nvSpPr>
          <p:cNvPr id="15" name="TextBox 14"/>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16" name="TextBox 15"/>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32 / 32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
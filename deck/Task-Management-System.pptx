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open together.</a:t>
            </a:r>
          </a:p>
          <a:p>
            <a:r>
              <a:t>Thank you. We are Abdul Rahman Malak and Mouhammad Houjeirat, and this is our SEN3006 project: a Task Management System written in pure Java.</a:t>
            </a:r>
          </a:p>
          <a:p>
            <a:r>
              <a:t>The whole system is built around two of the design patterns from the course, Factory Method and Strategy, with a third, State, that the task lifecycle gave us almost for free. There are no external libraries, so the architecture really is the only thing under evaluation today.</a:t>
            </a:r>
          </a:p>
          <a:p>
            <a:r>
              <a:t>We want to do four things: define the problem clearly, justify why these patterns fit, walk through the architecture and the running code, and then evaluate the result honestly. Abdul Rahman Malak starts with the table of contents.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Here is how the talk is organised, in five sections. Section one defines the problem and the requirements. Section two is the core of the talk and the largest part of the grade: the design patterns, why we chose them, and how we built them. Section three is the architecture and how it maps to Java and SOLID. Section four is a live run of the system. Section five is an honest evaluation and the conclusion.</a:t>
            </a:r>
          </a:p>
          <a:p>
            <a:r>
              <a:t>Please hold questions for the end unless something on screen is unclear. Section one is mine.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Section one. Before any pattern or class, we want to pin down the problem, because the assignment is graded partly on a clear problem definition. I will cover the domain and our objectives, the functional and non-functional requirements, and then the two specific problems that the patterns were chosen to solve.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Quick background, top left to bottom right. The domain is a task tracker for a software team that handles three kinds of work, bugs, features, and documentation, all on one lifecycle.</a:t>
            </a:r>
          </a:p>
          <a:p>
            <a:r>
              <a:t>Our motivation was not to show off patterns. It was that two real, recurring sources of mess in this kind of system happen to match two patterns we studied. So our objective was concrete and testable: add a new task type or a new ordering rule without touching code that already works.</a:t>
            </a:r>
          </a:p>
          <a:p>
            <a:r>
              <a:t>And in one line: one engine, three entry points, sixteen files, no libraries. The next slide states the requirements properly.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On the left, the functional requirements, the things a user can do: create the three task types, order the list three ways, move tasks through the lifecycle, and filter and summarise.</a:t>
            </a:r>
          </a:p>
          <a:p>
            <a:r>
              <a:t>On the right, the non-functional requirements, which is where the architecture lives. It has to be extensible without editing old code, stay pure Java with no dependencies, run from the terminal in three forms, and be explainable, because we have to defend every choice today.</a:t>
            </a:r>
          </a:p>
          <a:p>
            <a:r>
              <a:t>The strip at the bottom is the whole talk in one line: different creation, and different ordering. The next two slides show why each one is genuinely hard.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Problem one is creation. Look at the three constructors. They are genuinely different: a bug needs a severity and reproduction steps, a feature needs an effort estimate and a business value, a documentation task needs a type and an audience. Each also has its own sensible defaults.</a:t>
            </a:r>
          </a:p>
          <a:p>
            <a:r>
              <a:t>The flaw, on the left: without a factory, every entry point has to import and name each concrete class. The cost, in the middle: when we add a fourth type, we have to find and edit every one of those spots. What we need, on the right: a way to make a task from a simple identifier like the string BUG, without the caller knowing which class that is. That is Factory Method, which we reach in section two.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Problem two is ordering. Three real moments: sprint planning sorts by deadline, incident response sorts by severity with bugs first, and the daily standup sorts by raw priority. The list of tasks is identical in all three; only the rule changes.</a:t>
            </a:r>
          </a:p>
          <a:p>
            <a:r>
              <a:t>The naive fix is the switch statement on screen, sitting inside the manager. The flaw is that one method grows without end. The cost is that every new context makes us open and edit code that already works and is already tested, which is a direct Open/Closed violation. What we need is to swap the ordering at runtime and add new orderings as separate units. That is Strategy. Back to me for section two, the patterns.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Section two is the longest section and carries most of the grade. For each pattern we follow the same shape the report uses: the definition, why it suits this problem, its advantages, and how we actually built it. We start by mapping the two problems to the two patterns, then take Factory Method, then Strategy, then a short bonus on the lifecycle. The colour code at the bottom follows each pattern through the rest of the deck: clay for Factory, teal for Strategy, violet for State.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This slide is the bridge, and it sets the colour code for the rest of the deck. Reading each row left to right: problem one, different creation logic, points to Factory Method, a creational pattern in clay, which decouples the caller from the concrete task classes. Problem two, context-dependent ordering, points to Strategy, a behavioural pattern in teal, which makes each ordering a swappable object chosen at runtime.</a:t>
            </a:r>
          </a:p>
          <a:p>
            <a:r>
              <a:t>The third row is a bonus we did not have to do. The lifecycle is naturally a state machine, so we encoded State inside a single enum, in violet. We picked this domain precisely because the mappings are natural, not forced. Now the detail, starting with Factory Method.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Factory Method, following the report structure. The definition: define a method for making an object, and let each subclass decide which concrete class it returns. We have an abstract TaskFactory with a createTask method and three subclasses that each build their own type.</a:t>
            </a:r>
          </a:p>
          <a:p>
            <a:r>
              <a:t>Why it fits here: each task type has different construction rules and defaults, and we do not want the caller carrying that knowledge. The advantage is the one tied to our objective: a new task type is just a new class, and no existing creation code changes. A familiar example is a document editor that opens several formats through one Open action; you do not call a different method per format. Next, how it looks in our code.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Here is the implementation. The manager holds a Map from a string key to a factory. The caller writes createTask with the string BUG, and the manager looks up the right factory and calls it. The caller never imports BugTask. When we added Documentation late in the project, we registered it once and the console menu offered it automatically, because the menu just walks the registry.</a:t>
            </a:r>
          </a:p>
          <a:p>
            <a:r>
              <a:t>Two decisions we expect questions on. Left: we used an abstract class, not an interface, so each subclass can own its defaults. Right: createTaskWithDeadline lives on the base and wraps the abstract createTask, which is Template Method sitting on top of Factory Method, so the deadline logic is written once, not three times. Now, Strategy.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Strategy, same structure. The definition: define a family of interchangeable algorithms, put each behind a common interface, and choose between them at runtime. Our interface is PriorityStrategy with a single sort method, and we have three implementations.</a:t>
            </a:r>
          </a:p>
          <a:p>
            <a:r>
              <a:t>Why it fits: the same list needs different orderings in different moments, and the user changes that while the app runs. The advantage, again tied to our objective: a new ordering is a new class, and the manager that holds the list never changes. The everyday example is a maps app, where fastest, shortest, and avoid tolls are three strategies over one map. Next, the code.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The implementation is small. The manager holds one PriorityStrategy field. Changing the order is one setter call, and the next listing comes back sorted differently, with no recompile.</a:t>
            </a:r>
          </a:p>
          <a:p>
            <a:r>
              <a:t>Two decisions. Left: we used a named interface rather than a raw Java Comparator, because the name PriorityStrategy advertises the role in the system, and because SeverityFirst lifts bugs to the top before sorting the rest, which is stateful work a pairwise Comparator does awkwardly. Right: we used a setter rather than constructor injection, because the user swaps sorts while the app runs. The next slide shows this happening for real in the GUI.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These are two real screenshots of our running GUI, the same five tasks in both. On the left, sorted Urgent First, the rows run by priority, five down to one. On the right, after switching the Sort by dropdown to Severity First, the two bug rows jump to the top, and the status bar confirms the active strategy changed.</a:t>
            </a:r>
          </a:p>
          <a:p>
            <a:r>
              <a:t>Nothing was recompiled between these two pictures. The list of tasks is identical; only the strategy object changed, through one setter call wired to the dropdown. This is the clearest single piece of evidence that the pattern works. In the live demo we will do this switch in front of you.</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The bonus. The rubric only asks for one creational and one behavioural pattern, but the lifecycle is a natural state machine, so we encoded it cheaply. The normal path is OPEN, then IN_PROGRESS when a developer picks it up, then REVIEW, then DONE, which is terminal. A reviewer can reject back to IN_PROGRESS, any active task can be BLOCKED, and BLOCKED returns to OPEN.</a:t>
            </a:r>
          </a:p>
          <a:p>
            <a:r>
              <a:t>The rules live on the enum itself through canTransitionTo, and setStatus throws if you try an illegal jump such as OPEN straight to DONE. So this is the State pattern in one enum, with no extra classes, and an illegal jump like OPEN to DONE is simply impossible to reach. Over to Mouhammad Houjeirat for the architecture section.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Section three. We move from the two patterns to the system as a whole. I will show the class diagram and the layers, the sequence of one create-task call, the file structure, and finally how the design lines up with all five SOLID principles.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The full class diagram had fourteen classes side by side, so we split it by pattern. This first half is the Factory Method side. Read it top to bottom: TaskManager depends only on the abstract TaskFactory, never on a concrete factory. Each of the three concrete factories extends TaskFactory, and TaskFactory creates a Task.</a:t>
            </a:r>
          </a:p>
          <a:p>
            <a:r>
              <a:t>On the right is the product family the factories build: the Task interface, the AbstractTask base, and the three concrete tasks. The key point is that every arrow points toward an abstraction, the Task interface or the TaskFactory class, which is Dependency Inversion in visual form. That is the structural reason a new task type never touches the manager.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The second half is the Strategy side, and it is deliberately simple. TaskManager holds a single PriorityStrategy reference through its setPriorityStrategy and getPrioritizedTasks methods. It depends only on that interface.</a:t>
            </a:r>
          </a:p>
          <a:p>
            <a:r>
              <a:t>Underneath, the three orderings, UrgentFirst, DeadlineFirst, and SeverityFirst, each implement the one sort method. Because the manager only knows the interface, we can swap one ordering for another, or add a fourth, without editing the manager at all. That is the Open/Closed principle falling straight out of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Now the runtime view of the same Factory Method. Trace one createTask call. The entry point, Main, asks the manager for a BUG. The manager looks up the factory registered under that key in its registry, gets the bug factory back, and asks it to build the task. The factory constructs a BugTask and hands it back as a Task reference.</a:t>
            </a:r>
          </a:p>
          <a:p>
            <a:r>
              <a:t>Notice what never happens: the caller never writes new BugTask and never imports it. The concrete type stays hidden behind the manager and the factory the whole way through. This is the dynamic counterpart of the class diagram you just saw.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And the runtime view of Strategy. First the caller sets a strategy, here DeadlineFirst, and the manager just stores it as the current strategy. Then the caller asks for the prioritized tasks. The manager does not sort anything itself; it delegates to whichever strategy object is currently set, which sorts by deadline and returns the ordered list.</a:t>
            </a:r>
          </a:p>
          <a:p>
            <a:r>
              <a:t>Swap in SeverityFirst and the exact same call returns a different order, with no recompile. That is the whole point of Strategy: the manager owns the list, the strategy owns the rule, and the two vary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The implementation, grouped by the same three layers. The product layer holds the Task interface, the abstract base, the three concrete tasks, and the status enum. The pattern layer holds the abstract factory and its three subclasses, plus the strategy interface and its three implementations. The coordination layer is the single TaskManager, plus the three entry points: Main for automated tests, TaskManagementApp for the console, and the Swing GUI.</a:t>
            </a:r>
          </a:p>
          <a:p>
            <a:r>
              <a:t>Sixteen files, two interfaces, one enum, one abstract class, twelve concrete classes, and the only imports are java.util and java.time. Crucially, all three entry points use the same engine through its public API, which is what lets the GUI and the console behave identically.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SOLID, briefly, because it falls out of the two patterns rather than being bolted on. Single responsibility: factories build, strategies sort, the manager coordinates. Open/Closed: a new type or sort is a new file and one line, with zero edits to old code, which is our central objective. Liskov: every factory and strategy stands in for its abstraction without surprises. Interface segregation: the strategy interface has one method, and the Task interface is minimal. Dependency inversion: the manager references only abstractions.</a:t>
            </a:r>
          </a:p>
          <a:p>
            <a:r>
              <a:t>The throughline at the bottom sums it up: abstractions in the middle, concrete classes at the edges. If you want one example of inversion, it is that there is no new BugTask anywhere inside the manager. On to the live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Section four is the live demonstration, which the assignment requires. I run the automated tests first, then open the GUI and switch the strategy live, create a task through the factory, and trigger an illegal lifecycle move so you can watch the engine reject it. It is rehearsed to about three minutes, and we have screenshots as a backup if the projector fails.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Demo one is the terminal, because it proves the architecture and not just the interface. Open a terminal in the project root. Step one, paste the javac line to build once. Step two, paste java -cp bin Main: six sections scroll past and it ends on ALL TESTS PASSED, exactly the screen on the left, so every pattern is checked before we touch anything by hand.</a:t>
            </a:r>
          </a:p>
          <a:p>
            <a:r>
              <a:t>Step three, paste java -cp bin TaskManagementApp to open the interactive console on the very same engine. From the menu: option 1 creates a task and the Type you enter chooses the factory; option 4 switches the strategy and option 3 re-lists it, so the order changes live with no recompile; option 5 walks a task through its lifecycle. Then on to the GUI.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Demo two is the graphical interface, the same engine behind a Swing window. There is only one thing to paste: java -jar TaskManagerGUI.jar, run from the project root. Then load the demo data from the Demo menu so the table has tasks in it.</a:t>
            </a:r>
          </a:p>
          <a:p>
            <a:r>
              <a:t>After that it is all clicks, each tied to a pattern. Cycle the Sort by dropdown through Urgent, Deadline, and Severity and the table reorders instantly, which is Strategy. Add a task from the form, where the Type field decides which factory builds it, which is Factory Method. Finally select a row and try to mark an OPEN task DONE: the engine refuses and explains why, then OPEN to IN_PROGRESS is accepted, which is the State machine. On to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The final section. We measure the result against the objective we set, we are honest about the limitations and the alternatives we considered, and we close with the conclusion and what we learned.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Did the design meet its objective? On the left, in numbers: a new task type costs two new files and one registration line, with zero edits to existing code; a new ordering costs one new file and one setter call, again zero edits. We did not just claim this; Test 5 in Main checks the property at runtime.</a:t>
            </a:r>
          </a:p>
          <a:p>
            <a:r>
              <a:t>On the right, what actually happened during the project. We added the Documentation type late, with no edits to existing code. The GUI dropdown demonstrates the strategy swap live. The lifecycle enum blocks illegal transitions at runtime, before bad state can spread. And Main served as our test harness without pulling in JUnit, which kept the zero-dependency rule.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An honest evaluation, which the rubric asks for. Limitations: everything is in memory so nothing persists, it is single-user with no concurrency control, and validation throws on the first error rather than collecting them. These are real, and they are deliberate scoping choices for an academic project.</a:t>
            </a:r>
          </a:p>
          <a:p>
            <a:r>
              <a:t>Alternatives we weighed: we considered Abstract Factory but rejected it, because we have only one product family, a single Task, so the extra abstraction would not earn its keep. We considered a raw Comparator instead of Strategy, but that loses the named role and handles the bugs-first sort awkwardly. Future work would be persistence with a Repository, tags with a Specification, async dispatch, and a REST layer. Because the engine is decoupled, each of these is an addition, not a rewrite.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To conclude. What we achieved: a working system that meets the objective we set, new types and orderings without editing existing code. The patterns earned their place, because each one answered a specific problem from section one rather than ticking a box.</a:t>
            </a:r>
          </a:p>
          <a:p>
            <a:r>
              <a:t>Our main lesson was about naming: calling something a factory or a strategy makes the code explain itself to the next developer who reads it. And the bigger point, the reason the course exists: design patterns are a shared vocabulary that lets a team extend software without breaking what already works. Thank you, and we are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a:t>
            </a:r>
          </a:p>
          <a:p>
            <a:r>
              <a:t>Thank you. We will split questions by area: Abdul Rahman Malak takes the problem framing and the three patterns, Factory Method, Strategy, and State; Mouhammad Houjeirat takes the architecture, the live demo, SOLID, and the evaluation.</a:t>
            </a:r>
          </a:p>
          <a:p>
            <a:r>
              <a:t>Anticipated questions. Why an abstract factory class instead of an interface? Per-subclass defaults plus Template Method. Why a strategy interface instead of a Comparator? It advertises the role and supports the partition-then-sort. Why a string-keyed registry? Runtime lookup from any entry point. Why no JUnit? The zero-dependency rule, with Main as the harness. The study guide in docs/design has a fuller cheat sheet.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for questions.</a:t>
            </a:r>
          </a:p>
          <a:p>
            <a:r>
              <a:t>A supporting view kept in reserve. The component diagram groups the system into the UI, manager, factory, strategy, and domain modules. Every dependency points inward toward the manager and the abstractions, which is the module-level echo of the class diagram. It is explained in full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for questions.</a:t>
            </a:r>
          </a:p>
          <a:p>
            <a:r>
              <a:t>The last supporting view. The deployment diagram shows the whole system runs in a single Java virtual machine, with the three entry points, Main, the console app, and the GUI, all driving one shared engine. There is no network and no external service, which is what zero dependencies means in practice. It is explained in full in the report.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24.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9.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24.pn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44.png"/><Relationship Id="rId4" Type="http://schemas.openxmlformats.org/officeDocument/2006/relationships/image" Target="../media/image18.png"/><Relationship Id="rId5" Type="http://schemas.openxmlformats.org/officeDocument/2006/relationships/image" Target="../media/image45.png"/><Relationship Id="rId6" Type="http://schemas.openxmlformats.org/officeDocument/2006/relationships/image" Target="../media/image19.png"/><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 Id="rId4" Type="http://schemas.openxmlformats.org/officeDocument/2006/relationships/image" Target="../media/image53.png"/><Relationship Id="rId5" Type="http://schemas.openxmlformats.org/officeDocument/2006/relationships/image" Target="../media/image5.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1A16"/>
        </a:solidFill>
        <a:effectLst/>
      </p:bgPr>
    </p:bg>
    <p:spTree>
      <p:nvGrpSpPr>
        <p:cNvPr id="1" name=""/>
        <p:cNvGrpSpPr/>
        <p:nvPr/>
      </p:nvGrpSpPr>
      <p:grpSpPr/>
      <p:sp>
        <p:nvSpPr>
          <p:cNvPr id="2" name="TextBox 1"/>
          <p:cNvSpPr txBox="1"/>
          <p:nvPr/>
        </p:nvSpPr>
        <p:spPr>
          <a:xfrm>
            <a:off x="749808" y="603504"/>
            <a:ext cx="8229600" cy="274320"/>
          </a:xfrm>
          <a:prstGeom prst="rect">
            <a:avLst/>
          </a:prstGeom>
          <a:noFill/>
        </p:spPr>
        <p:txBody>
          <a:bodyPr wrap="square" anchor="t" lIns="0" rIns="0" tIns="0" bIns="0">
            <a:spAutoFit/>
          </a:bodyPr>
          <a:lstStyle/>
          <a:p>
            <a:pPr algn="l"/>
            <a:r>
              <a:rPr sz="1100" b="0" spc="240">
                <a:solidFill>
                  <a:srgbClr val="A8A299"/>
                </a:solidFill>
                <a:latin typeface="Inter SemiBold"/>
              </a:rPr>
              <a:t>SEN3006  ·  SOFTWARE ARCHITECTURE</a:t>
            </a:r>
          </a:p>
        </p:txBody>
      </p:sp>
      <p:sp>
        <p:nvSpPr>
          <p:cNvPr id="3" name="TextBox 2"/>
          <p:cNvSpPr txBox="1"/>
          <p:nvPr/>
        </p:nvSpPr>
        <p:spPr>
          <a:xfrm>
            <a:off x="5955487" y="603504"/>
            <a:ext cx="5486400" cy="274320"/>
          </a:xfrm>
          <a:prstGeom prst="rect">
            <a:avLst/>
          </a:prstGeom>
          <a:noFill/>
        </p:spPr>
        <p:txBody>
          <a:bodyPr wrap="square" anchor="t" lIns="0" rIns="0" tIns="0" bIns="0">
            <a:spAutoFit/>
          </a:bodyPr>
          <a:lstStyle/>
          <a:p>
            <a:pPr algn="r"/>
            <a:r>
              <a:rPr sz="1100" b="0" spc="180">
                <a:solidFill>
                  <a:srgbClr val="A8A299"/>
                </a:solidFill>
                <a:latin typeface="Inter SemiBold"/>
              </a:rPr>
              <a:t>PROJECT PRESENTATION</a:t>
            </a:r>
          </a:p>
        </p:txBody>
      </p:sp>
      <p:sp>
        <p:nvSpPr>
          <p:cNvPr id="4" name="TextBox 3"/>
          <p:cNvSpPr txBox="1"/>
          <p:nvPr/>
        </p:nvSpPr>
        <p:spPr>
          <a:xfrm>
            <a:off x="749808" y="2148840"/>
            <a:ext cx="10881360" cy="1371600"/>
          </a:xfrm>
          <a:prstGeom prst="rect">
            <a:avLst/>
          </a:prstGeom>
          <a:noFill/>
        </p:spPr>
        <p:txBody>
          <a:bodyPr wrap="square" anchor="t" lIns="0" rIns="0" tIns="0" bIns="0">
            <a:spAutoFit/>
          </a:bodyPr>
          <a:lstStyle/>
          <a:p>
            <a:pPr algn="l">
              <a:lnSpc>
                <a:spcPct val="100000"/>
              </a:lnSpc>
            </a:pPr>
            <a:r>
              <a:rPr sz="5000" b="0">
                <a:solidFill>
                  <a:srgbClr val="FFFFFF"/>
                </a:solidFill>
                <a:latin typeface="Spectral SemiBold"/>
              </a:rPr>
              <a:t>Task Management System.</a:t>
            </a:r>
          </a:p>
        </p:txBody>
      </p:sp>
      <p:sp>
        <p:nvSpPr>
          <p:cNvPr id="5" name="TextBox 4"/>
          <p:cNvSpPr txBox="1"/>
          <p:nvPr/>
        </p:nvSpPr>
        <p:spPr>
          <a:xfrm>
            <a:off x="749808" y="3310128"/>
            <a:ext cx="10881360" cy="640080"/>
          </a:xfrm>
          <a:prstGeom prst="rect">
            <a:avLst/>
          </a:prstGeom>
          <a:noFill/>
        </p:spPr>
        <p:txBody>
          <a:bodyPr wrap="square" anchor="t" lIns="0" rIns="0" tIns="0" bIns="0">
            <a:spAutoFit/>
          </a:bodyPr>
          <a:lstStyle/>
          <a:p>
            <a:pPr algn="l">
              <a:lnSpc>
                <a:spcPct val="120000"/>
              </a:lnSpc>
            </a:pPr>
            <a:r>
              <a:rPr sz="2100" b="0" i="1">
                <a:solidFill>
                  <a:srgbClr val="8E8BF5"/>
                </a:solidFill>
                <a:latin typeface="Spectral Medium"/>
              </a:rPr>
              <a:t>Factory Method and Strategy, built in pure Java.</a:t>
            </a:r>
          </a:p>
        </p:txBody>
      </p:sp>
      <p:sp>
        <p:nvSpPr>
          <p:cNvPr id="6" name="Rounded Rectangle 5"/>
          <p:cNvSpPr/>
          <p:nvPr/>
        </p:nvSpPr>
        <p:spPr>
          <a:xfrm>
            <a:off x="749808" y="4370832"/>
            <a:ext cx="274320" cy="91440"/>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 y="4261104"/>
            <a:ext cx="2377440" cy="310896"/>
          </a:xfrm>
          <a:prstGeom prst="rect">
            <a:avLst/>
          </a:prstGeom>
          <a:noFill/>
        </p:spPr>
        <p:txBody>
          <a:bodyPr wrap="square" anchor="t" lIns="0" rIns="0" tIns="0" bIns="0">
            <a:spAutoFit/>
          </a:bodyPr>
          <a:lstStyle/>
          <a:p>
            <a:pPr algn="l"/>
            <a:r>
              <a:rPr sz="1150" b="0" spc="60">
                <a:solidFill>
                  <a:srgbClr val="A8A299"/>
                </a:solidFill>
                <a:latin typeface="Inter SemiBold"/>
              </a:rPr>
              <a:t>Factory Method</a:t>
            </a:r>
          </a:p>
        </p:txBody>
      </p:sp>
      <p:sp>
        <p:nvSpPr>
          <p:cNvPr id="8" name="Rounded Rectangle 7"/>
          <p:cNvSpPr/>
          <p:nvPr/>
        </p:nvSpPr>
        <p:spPr>
          <a:xfrm>
            <a:off x="2898648" y="4370832"/>
            <a:ext cx="274320" cy="91440"/>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64408" y="4261104"/>
            <a:ext cx="2377440" cy="310896"/>
          </a:xfrm>
          <a:prstGeom prst="rect">
            <a:avLst/>
          </a:prstGeom>
          <a:noFill/>
        </p:spPr>
        <p:txBody>
          <a:bodyPr wrap="square" anchor="t" lIns="0" rIns="0" tIns="0" bIns="0">
            <a:spAutoFit/>
          </a:bodyPr>
          <a:lstStyle/>
          <a:p>
            <a:pPr algn="l"/>
            <a:r>
              <a:rPr sz="1150" b="0" spc="60">
                <a:solidFill>
                  <a:srgbClr val="A8A299"/>
                </a:solidFill>
                <a:latin typeface="Inter SemiBold"/>
              </a:rPr>
              <a:t>Strategy</a:t>
            </a:r>
          </a:p>
        </p:txBody>
      </p:sp>
      <p:sp>
        <p:nvSpPr>
          <p:cNvPr id="10" name="Rounded Rectangle 9"/>
          <p:cNvSpPr/>
          <p:nvPr/>
        </p:nvSpPr>
        <p:spPr>
          <a:xfrm>
            <a:off x="4590288" y="4370832"/>
            <a:ext cx="274320" cy="91440"/>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56048" y="4261104"/>
            <a:ext cx="2377440" cy="310896"/>
          </a:xfrm>
          <a:prstGeom prst="rect">
            <a:avLst/>
          </a:prstGeom>
          <a:noFill/>
        </p:spPr>
        <p:txBody>
          <a:bodyPr wrap="square" anchor="t" lIns="0" rIns="0" tIns="0" bIns="0">
            <a:spAutoFit/>
          </a:bodyPr>
          <a:lstStyle/>
          <a:p>
            <a:pPr algn="l"/>
            <a:r>
              <a:rPr sz="1150" b="0" spc="60">
                <a:solidFill>
                  <a:srgbClr val="A8A299"/>
                </a:solidFill>
                <a:latin typeface="Inter SemiBold"/>
              </a:rPr>
              <a:t>State</a:t>
            </a:r>
          </a:p>
        </p:txBody>
      </p:sp>
      <p:cxnSp>
        <p:nvCxnSpPr>
          <p:cNvPr id="12" name="Connector 11"/>
          <p:cNvCxnSpPr/>
          <p:nvPr/>
        </p:nvCxnSpPr>
        <p:spPr>
          <a:xfrm>
            <a:off x="749808" y="5413248"/>
            <a:ext cx="10692079" cy="0"/>
          </a:xfrm>
          <a:prstGeom prst="line">
            <a:avLst/>
          </a:prstGeom>
          <a:ln w="12700">
            <a:solidFill>
              <a:srgbClr val="3A352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49808" y="5614416"/>
            <a:ext cx="6949440" cy="731520"/>
          </a:xfrm>
          <a:prstGeom prst="rect">
            <a:avLst/>
          </a:prstGeom>
          <a:noFill/>
        </p:spPr>
        <p:txBody>
          <a:bodyPr wrap="square" anchor="t" lIns="0" rIns="0" tIns="0" bIns="0">
            <a:spAutoFit/>
          </a:bodyPr>
          <a:lstStyle/>
          <a:p>
            <a:pPr algn="l">
              <a:lnSpc>
                <a:spcPct val="135000"/>
              </a:lnSpc>
            </a:pPr>
            <a:r>
              <a:rPr sz="1250" b="0">
                <a:solidFill>
                  <a:srgbClr val="A8A299"/>
                </a:solidFill>
                <a:latin typeface="Inter"/>
              </a:rPr>
              <a:t>A task tracker for software teams, designed around two classic patterns and a zero-dependency Java core.</a:t>
            </a:r>
          </a:p>
        </p:txBody>
      </p:sp>
      <p:sp>
        <p:nvSpPr>
          <p:cNvPr id="14" name="TextBox 13"/>
          <p:cNvSpPr txBox="1"/>
          <p:nvPr/>
        </p:nvSpPr>
        <p:spPr>
          <a:xfrm>
            <a:off x="7235647" y="5577840"/>
            <a:ext cx="4206240" cy="822960"/>
          </a:xfrm>
          <a:prstGeom prst="rect">
            <a:avLst/>
          </a:prstGeom>
          <a:noFill/>
        </p:spPr>
        <p:txBody>
          <a:bodyPr wrap="square" anchor="t" lIns="0" rIns="0" tIns="0" bIns="0">
            <a:spAutoFit/>
          </a:bodyPr>
          <a:lstStyle/>
          <a:p>
            <a:pPr algn="r"/>
            <a:r>
              <a:rPr sz="1300" b="0">
                <a:solidFill>
                  <a:srgbClr val="FFFFFF"/>
                </a:solidFill>
                <a:latin typeface="Inter SemiBold"/>
              </a:rPr>
              <a:t>Abdul Rahman Malak</a:t>
            </a:r>
          </a:p>
          <a:p>
            <a:pPr algn="r">
              <a:spcBef>
                <a:spcPts val="300"/>
              </a:spcBef>
            </a:pPr>
            <a:r>
              <a:rPr sz="1300" b="0">
                <a:solidFill>
                  <a:srgbClr val="FFFFFF"/>
                </a:solidFill>
                <a:latin typeface="Inter SemiBold"/>
              </a:rPr>
              <a:t>Mouhammad Houjeirat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CONTENTS</a:t>
            </a:r>
          </a:p>
        </p:txBody>
      </p:sp>
      <p:sp>
        <p:nvSpPr>
          <p:cNvPr id="4" name="Rounded Rectangle 3"/>
          <p:cNvSpPr/>
          <p:nvPr/>
        </p:nvSpPr>
        <p:spPr>
          <a:xfrm>
            <a:off x="9613087"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4A45C7"/>
                </a:solidFill>
                <a:latin typeface="Inter SemiBold"/>
              </a:rPr>
              <a:t>SECTION 1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What this presentation covers.</a:t>
            </a:r>
          </a:p>
        </p:txBody>
      </p:sp>
      <p:sp>
        <p:nvSpPr>
          <p:cNvPr id="11" name="Rounded Rectangle 10"/>
          <p:cNvSpPr/>
          <p:nvPr/>
        </p:nvSpPr>
        <p:spPr>
          <a:xfrm>
            <a:off x="749808" y="2395728"/>
            <a:ext cx="10692079" cy="566928"/>
          </a:xfrm>
          <a:prstGeom prst="roundRect">
            <a:avLst>
              <a:gd name="adj" fmla="val 6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4400" y="2459736"/>
            <a:ext cx="438912" cy="438912"/>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rget-04__indigo.png"/>
          <p:cNvPicPr>
            <a:picLocks noChangeAspect="1"/>
          </p:cNvPicPr>
          <p:nvPr/>
        </p:nvPicPr>
        <p:blipFill>
          <a:blip r:embed="rId2"/>
          <a:stretch>
            <a:fillRect/>
          </a:stretch>
        </p:blipFill>
        <p:spPr>
          <a:xfrm>
            <a:off x="1010960" y="2556296"/>
            <a:ext cx="245790" cy="245790"/>
          </a:xfrm>
          <a:prstGeom prst="rect">
            <a:avLst/>
          </a:prstGeom>
        </p:spPr>
      </p:pic>
      <p:sp>
        <p:nvSpPr>
          <p:cNvPr id="14" name="TextBox 13"/>
          <p:cNvSpPr txBox="1"/>
          <p:nvPr/>
        </p:nvSpPr>
        <p:spPr>
          <a:xfrm>
            <a:off x="1517904" y="2395728"/>
            <a:ext cx="640080" cy="566928"/>
          </a:xfrm>
          <a:prstGeom prst="rect">
            <a:avLst/>
          </a:prstGeom>
          <a:noFill/>
        </p:spPr>
        <p:txBody>
          <a:bodyPr wrap="square" anchor="ctr" lIns="0" rIns="0" tIns="0" bIns="0">
            <a:spAutoFit/>
          </a:bodyPr>
          <a:lstStyle/>
          <a:p>
            <a:pPr algn="l"/>
            <a:r>
              <a:rPr sz="1400" b="0">
                <a:solidFill>
                  <a:srgbClr val="4A45C7"/>
                </a:solidFill>
                <a:latin typeface="Spectral SemiBold"/>
              </a:rPr>
              <a:t>01</a:t>
            </a:r>
          </a:p>
        </p:txBody>
      </p:sp>
      <p:sp>
        <p:nvSpPr>
          <p:cNvPr id="15" name="TextBox 14"/>
          <p:cNvSpPr txBox="1"/>
          <p:nvPr/>
        </p:nvSpPr>
        <p:spPr>
          <a:xfrm>
            <a:off x="2121408" y="2395728"/>
            <a:ext cx="7498079" cy="566928"/>
          </a:xfrm>
          <a:prstGeom prst="rect">
            <a:avLst/>
          </a:prstGeom>
          <a:noFill/>
        </p:spPr>
        <p:txBody>
          <a:bodyPr wrap="square" anchor="ctr" lIns="0" rIns="0" tIns="0" bIns="0">
            <a:spAutoFit/>
          </a:bodyPr>
          <a:lstStyle/>
          <a:p>
            <a:pPr algn="l"/>
            <a:r>
              <a:rPr sz="1450" b="0">
                <a:solidFill>
                  <a:srgbClr val="1C1A16"/>
                </a:solidFill>
                <a:latin typeface="Inter SemiBold"/>
              </a:rPr>
              <a:t>Introduction and problem definition</a:t>
            </a:r>
          </a:p>
        </p:txBody>
      </p:sp>
      <p:sp>
        <p:nvSpPr>
          <p:cNvPr id="16" name="TextBox 15"/>
          <p:cNvSpPr txBox="1"/>
          <p:nvPr/>
        </p:nvSpPr>
        <p:spPr>
          <a:xfrm>
            <a:off x="9887407" y="2395728"/>
            <a:ext cx="1371600" cy="566928"/>
          </a:xfrm>
          <a:prstGeom prst="rect">
            <a:avLst/>
          </a:prstGeom>
          <a:noFill/>
        </p:spPr>
        <p:txBody>
          <a:bodyPr wrap="square" anchor="ctr" lIns="0" rIns="0" tIns="0" bIns="0">
            <a:spAutoFit/>
          </a:bodyPr>
          <a:lstStyle/>
          <a:p>
            <a:pPr algn="r"/>
            <a:r>
              <a:rPr sz="1100" b="0">
                <a:solidFill>
                  <a:srgbClr val="8C877D"/>
                </a:solidFill>
                <a:latin typeface="Inter Medium"/>
              </a:rPr>
              <a:t>~3 min</a:t>
            </a:r>
          </a:p>
        </p:txBody>
      </p:sp>
      <p:sp>
        <p:nvSpPr>
          <p:cNvPr id="17" name="Rounded Rectangle 16"/>
          <p:cNvSpPr/>
          <p:nvPr/>
        </p:nvSpPr>
        <p:spPr>
          <a:xfrm>
            <a:off x="749808" y="3072384"/>
            <a:ext cx="10692079" cy="566928"/>
          </a:xfrm>
          <a:prstGeom prst="roundRect">
            <a:avLst>
              <a:gd name="adj" fmla="val 6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4400" y="3136392"/>
            <a:ext cx="438912" cy="438912"/>
          </a:xfrm>
          <a:prstGeom prst="roundRect">
            <a:avLst>
              <a:gd name="adj" fmla="val 30000"/>
            </a:avLst>
          </a:prstGeom>
          <a:solidFill>
            <a:srgbClr val="F0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uzzle-piece-01__violet.png"/>
          <p:cNvPicPr>
            <a:picLocks noChangeAspect="1"/>
          </p:cNvPicPr>
          <p:nvPr/>
        </p:nvPicPr>
        <p:blipFill>
          <a:blip r:embed="rId3"/>
          <a:stretch>
            <a:fillRect/>
          </a:stretch>
        </p:blipFill>
        <p:spPr>
          <a:xfrm>
            <a:off x="1010960" y="3232952"/>
            <a:ext cx="245790" cy="245790"/>
          </a:xfrm>
          <a:prstGeom prst="rect">
            <a:avLst/>
          </a:prstGeom>
        </p:spPr>
      </p:pic>
      <p:sp>
        <p:nvSpPr>
          <p:cNvPr id="20" name="TextBox 19"/>
          <p:cNvSpPr txBox="1"/>
          <p:nvPr/>
        </p:nvSpPr>
        <p:spPr>
          <a:xfrm>
            <a:off x="1517904" y="3072384"/>
            <a:ext cx="640080" cy="566928"/>
          </a:xfrm>
          <a:prstGeom prst="rect">
            <a:avLst/>
          </a:prstGeom>
          <a:noFill/>
        </p:spPr>
        <p:txBody>
          <a:bodyPr wrap="square" anchor="ctr" lIns="0" rIns="0" tIns="0" bIns="0">
            <a:spAutoFit/>
          </a:bodyPr>
          <a:lstStyle/>
          <a:p>
            <a:pPr algn="l"/>
            <a:r>
              <a:rPr sz="1400" b="0">
                <a:solidFill>
                  <a:srgbClr val="7C3AED"/>
                </a:solidFill>
                <a:latin typeface="Spectral SemiBold"/>
              </a:rPr>
              <a:t>02</a:t>
            </a:r>
          </a:p>
        </p:txBody>
      </p:sp>
      <p:sp>
        <p:nvSpPr>
          <p:cNvPr id="21" name="TextBox 20"/>
          <p:cNvSpPr txBox="1"/>
          <p:nvPr/>
        </p:nvSpPr>
        <p:spPr>
          <a:xfrm>
            <a:off x="2121408" y="3072384"/>
            <a:ext cx="7498079" cy="566928"/>
          </a:xfrm>
          <a:prstGeom prst="rect">
            <a:avLst/>
          </a:prstGeom>
          <a:noFill/>
        </p:spPr>
        <p:txBody>
          <a:bodyPr wrap="square" anchor="ctr" lIns="0" rIns="0" tIns="0" bIns="0">
            <a:spAutoFit/>
          </a:bodyPr>
          <a:lstStyle/>
          <a:p>
            <a:pPr algn="l"/>
            <a:r>
              <a:rPr sz="1450" b="0">
                <a:solidFill>
                  <a:srgbClr val="1C1A16"/>
                </a:solidFill>
                <a:latin typeface="Inter SemiBold"/>
              </a:rPr>
              <a:t>The design patterns: Factory Method, Strategy, State</a:t>
            </a:r>
          </a:p>
        </p:txBody>
      </p:sp>
      <p:sp>
        <p:nvSpPr>
          <p:cNvPr id="22" name="TextBox 21"/>
          <p:cNvSpPr txBox="1"/>
          <p:nvPr/>
        </p:nvSpPr>
        <p:spPr>
          <a:xfrm>
            <a:off x="9887407" y="3072384"/>
            <a:ext cx="1371600" cy="566928"/>
          </a:xfrm>
          <a:prstGeom prst="rect">
            <a:avLst/>
          </a:prstGeom>
          <a:noFill/>
        </p:spPr>
        <p:txBody>
          <a:bodyPr wrap="square" anchor="ctr" lIns="0" rIns="0" tIns="0" bIns="0">
            <a:spAutoFit/>
          </a:bodyPr>
          <a:lstStyle/>
          <a:p>
            <a:pPr algn="r"/>
            <a:r>
              <a:rPr sz="1100" b="0">
                <a:solidFill>
                  <a:srgbClr val="8C877D"/>
                </a:solidFill>
                <a:latin typeface="Inter Medium"/>
              </a:rPr>
              <a:t>~5 min</a:t>
            </a:r>
          </a:p>
        </p:txBody>
      </p:sp>
      <p:sp>
        <p:nvSpPr>
          <p:cNvPr id="23" name="Rounded Rectangle 22"/>
          <p:cNvSpPr/>
          <p:nvPr/>
        </p:nvSpPr>
        <p:spPr>
          <a:xfrm>
            <a:off x="749808" y="3749039"/>
            <a:ext cx="10692079" cy="566928"/>
          </a:xfrm>
          <a:prstGeom prst="roundRect">
            <a:avLst>
              <a:gd name="adj" fmla="val 6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14400" y="3813048"/>
            <a:ext cx="438912" cy="438912"/>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grid-01__teal.png"/>
          <p:cNvPicPr>
            <a:picLocks noChangeAspect="1"/>
          </p:cNvPicPr>
          <p:nvPr/>
        </p:nvPicPr>
        <p:blipFill>
          <a:blip r:embed="rId4"/>
          <a:stretch>
            <a:fillRect/>
          </a:stretch>
        </p:blipFill>
        <p:spPr>
          <a:xfrm>
            <a:off x="1010960" y="3909608"/>
            <a:ext cx="245790" cy="245790"/>
          </a:xfrm>
          <a:prstGeom prst="rect">
            <a:avLst/>
          </a:prstGeom>
        </p:spPr>
      </p:pic>
      <p:sp>
        <p:nvSpPr>
          <p:cNvPr id="26" name="TextBox 25"/>
          <p:cNvSpPr txBox="1"/>
          <p:nvPr/>
        </p:nvSpPr>
        <p:spPr>
          <a:xfrm>
            <a:off x="1517904" y="3749039"/>
            <a:ext cx="640080" cy="566928"/>
          </a:xfrm>
          <a:prstGeom prst="rect">
            <a:avLst/>
          </a:prstGeom>
          <a:noFill/>
        </p:spPr>
        <p:txBody>
          <a:bodyPr wrap="square" anchor="ctr" lIns="0" rIns="0" tIns="0" bIns="0">
            <a:spAutoFit/>
          </a:bodyPr>
          <a:lstStyle/>
          <a:p>
            <a:pPr algn="l"/>
            <a:r>
              <a:rPr sz="1400" b="0">
                <a:solidFill>
                  <a:srgbClr val="0E7C72"/>
                </a:solidFill>
                <a:latin typeface="Spectral SemiBold"/>
              </a:rPr>
              <a:t>03</a:t>
            </a:r>
          </a:p>
        </p:txBody>
      </p:sp>
      <p:sp>
        <p:nvSpPr>
          <p:cNvPr id="27" name="TextBox 26"/>
          <p:cNvSpPr txBox="1"/>
          <p:nvPr/>
        </p:nvSpPr>
        <p:spPr>
          <a:xfrm>
            <a:off x="2121408" y="3749039"/>
            <a:ext cx="7498079" cy="566928"/>
          </a:xfrm>
          <a:prstGeom prst="rect">
            <a:avLst/>
          </a:prstGeom>
          <a:noFill/>
        </p:spPr>
        <p:txBody>
          <a:bodyPr wrap="square" anchor="ctr" lIns="0" rIns="0" tIns="0" bIns="0">
            <a:spAutoFit/>
          </a:bodyPr>
          <a:lstStyle/>
          <a:p>
            <a:pPr algn="l"/>
            <a:r>
              <a:rPr sz="1450" b="0">
                <a:solidFill>
                  <a:srgbClr val="1C1A16"/>
                </a:solidFill>
                <a:latin typeface="Inter SemiBold"/>
              </a:rPr>
              <a:t>Architecture and implementation</a:t>
            </a:r>
          </a:p>
        </p:txBody>
      </p:sp>
      <p:sp>
        <p:nvSpPr>
          <p:cNvPr id="28" name="TextBox 27"/>
          <p:cNvSpPr txBox="1"/>
          <p:nvPr/>
        </p:nvSpPr>
        <p:spPr>
          <a:xfrm>
            <a:off x="9887407" y="3749039"/>
            <a:ext cx="1371600" cy="566928"/>
          </a:xfrm>
          <a:prstGeom prst="rect">
            <a:avLst/>
          </a:prstGeom>
          <a:noFill/>
        </p:spPr>
        <p:txBody>
          <a:bodyPr wrap="square" anchor="ctr" lIns="0" rIns="0" tIns="0" bIns="0">
            <a:spAutoFit/>
          </a:bodyPr>
          <a:lstStyle/>
          <a:p>
            <a:pPr algn="r"/>
            <a:r>
              <a:rPr sz="1100" b="0">
                <a:solidFill>
                  <a:srgbClr val="8C877D"/>
                </a:solidFill>
                <a:latin typeface="Inter Medium"/>
              </a:rPr>
              <a:t>~4 min</a:t>
            </a:r>
          </a:p>
        </p:txBody>
      </p:sp>
      <p:sp>
        <p:nvSpPr>
          <p:cNvPr id="29" name="Rounded Rectangle 28"/>
          <p:cNvSpPr/>
          <p:nvPr/>
        </p:nvSpPr>
        <p:spPr>
          <a:xfrm>
            <a:off x="749808" y="4425696"/>
            <a:ext cx="10692079" cy="566928"/>
          </a:xfrm>
          <a:prstGeom prst="roundRect">
            <a:avLst>
              <a:gd name="adj" fmla="val 6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14400" y="4489704"/>
            <a:ext cx="438912" cy="438912"/>
          </a:xfrm>
          <a:prstGeom prst="roundRect">
            <a:avLst>
              <a:gd name="adj" fmla="val 30000"/>
            </a:avLst>
          </a:prstGeom>
          <a:solidFill>
            <a:srgbClr val="E6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terminal__green.png"/>
          <p:cNvPicPr>
            <a:picLocks noChangeAspect="1"/>
          </p:cNvPicPr>
          <p:nvPr/>
        </p:nvPicPr>
        <p:blipFill>
          <a:blip r:embed="rId5"/>
          <a:stretch>
            <a:fillRect/>
          </a:stretch>
        </p:blipFill>
        <p:spPr>
          <a:xfrm>
            <a:off x="1010960" y="4586264"/>
            <a:ext cx="245790" cy="245790"/>
          </a:xfrm>
          <a:prstGeom prst="rect">
            <a:avLst/>
          </a:prstGeom>
        </p:spPr>
      </p:pic>
      <p:sp>
        <p:nvSpPr>
          <p:cNvPr id="32" name="TextBox 31"/>
          <p:cNvSpPr txBox="1"/>
          <p:nvPr/>
        </p:nvSpPr>
        <p:spPr>
          <a:xfrm>
            <a:off x="1517904" y="4425696"/>
            <a:ext cx="640080" cy="566928"/>
          </a:xfrm>
          <a:prstGeom prst="rect">
            <a:avLst/>
          </a:prstGeom>
          <a:noFill/>
        </p:spPr>
        <p:txBody>
          <a:bodyPr wrap="square" anchor="ctr" lIns="0" rIns="0" tIns="0" bIns="0">
            <a:spAutoFit/>
          </a:bodyPr>
          <a:lstStyle/>
          <a:p>
            <a:pPr algn="l"/>
            <a:r>
              <a:rPr sz="1400" b="0">
                <a:solidFill>
                  <a:srgbClr val="1E7A45"/>
                </a:solidFill>
                <a:latin typeface="Spectral SemiBold"/>
              </a:rPr>
              <a:t>04</a:t>
            </a:r>
          </a:p>
        </p:txBody>
      </p:sp>
      <p:sp>
        <p:nvSpPr>
          <p:cNvPr id="33" name="TextBox 32"/>
          <p:cNvSpPr txBox="1"/>
          <p:nvPr/>
        </p:nvSpPr>
        <p:spPr>
          <a:xfrm>
            <a:off x="2121408" y="4425696"/>
            <a:ext cx="7498079" cy="566928"/>
          </a:xfrm>
          <a:prstGeom prst="rect">
            <a:avLst/>
          </a:prstGeom>
          <a:noFill/>
        </p:spPr>
        <p:txBody>
          <a:bodyPr wrap="square" anchor="ctr" lIns="0" rIns="0" tIns="0" bIns="0">
            <a:spAutoFit/>
          </a:bodyPr>
          <a:lstStyle/>
          <a:p>
            <a:pPr algn="l"/>
            <a:r>
              <a:rPr sz="1450" b="0">
                <a:solidFill>
                  <a:srgbClr val="1C1A16"/>
                </a:solidFill>
                <a:latin typeface="Inter SemiBold"/>
              </a:rPr>
              <a:t>Live demonstration</a:t>
            </a:r>
          </a:p>
        </p:txBody>
      </p:sp>
      <p:sp>
        <p:nvSpPr>
          <p:cNvPr id="34" name="TextBox 33"/>
          <p:cNvSpPr txBox="1"/>
          <p:nvPr/>
        </p:nvSpPr>
        <p:spPr>
          <a:xfrm>
            <a:off x="9887407" y="4425696"/>
            <a:ext cx="1371600" cy="566928"/>
          </a:xfrm>
          <a:prstGeom prst="rect">
            <a:avLst/>
          </a:prstGeom>
          <a:noFill/>
        </p:spPr>
        <p:txBody>
          <a:bodyPr wrap="square" anchor="ctr" lIns="0" rIns="0" tIns="0" bIns="0">
            <a:spAutoFit/>
          </a:bodyPr>
          <a:lstStyle/>
          <a:p>
            <a:pPr algn="r"/>
            <a:r>
              <a:rPr sz="1100" b="0">
                <a:solidFill>
                  <a:srgbClr val="8C877D"/>
                </a:solidFill>
                <a:latin typeface="Inter Medium"/>
              </a:rPr>
              <a:t>~3 min</a:t>
            </a:r>
          </a:p>
        </p:txBody>
      </p:sp>
      <p:sp>
        <p:nvSpPr>
          <p:cNvPr id="35" name="Rounded Rectangle 34"/>
          <p:cNvSpPr/>
          <p:nvPr/>
        </p:nvSpPr>
        <p:spPr>
          <a:xfrm>
            <a:off x="749808" y="5102352"/>
            <a:ext cx="10692079" cy="566928"/>
          </a:xfrm>
          <a:prstGeom prst="roundRect">
            <a:avLst>
              <a:gd name="adj" fmla="val 6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4400" y="5166360"/>
            <a:ext cx="438912" cy="438912"/>
          </a:xfrm>
          <a:prstGeom prst="roundRect">
            <a:avLst>
              <a:gd name="adj" fmla="val 30000"/>
            </a:avLst>
          </a:prstGeom>
          <a:solidFill>
            <a:srgbClr val="F5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trophy-01__amber.png"/>
          <p:cNvPicPr>
            <a:picLocks noChangeAspect="1"/>
          </p:cNvPicPr>
          <p:nvPr/>
        </p:nvPicPr>
        <p:blipFill>
          <a:blip r:embed="rId6"/>
          <a:stretch>
            <a:fillRect/>
          </a:stretch>
        </p:blipFill>
        <p:spPr>
          <a:xfrm>
            <a:off x="1010960" y="5262920"/>
            <a:ext cx="245790" cy="245790"/>
          </a:xfrm>
          <a:prstGeom prst="rect">
            <a:avLst/>
          </a:prstGeom>
        </p:spPr>
      </p:pic>
      <p:sp>
        <p:nvSpPr>
          <p:cNvPr id="38" name="TextBox 37"/>
          <p:cNvSpPr txBox="1"/>
          <p:nvPr/>
        </p:nvSpPr>
        <p:spPr>
          <a:xfrm>
            <a:off x="1517904" y="5102352"/>
            <a:ext cx="640080" cy="566928"/>
          </a:xfrm>
          <a:prstGeom prst="rect">
            <a:avLst/>
          </a:prstGeom>
          <a:noFill/>
        </p:spPr>
        <p:txBody>
          <a:bodyPr wrap="square" anchor="ctr" lIns="0" rIns="0" tIns="0" bIns="0">
            <a:spAutoFit/>
          </a:bodyPr>
          <a:lstStyle/>
          <a:p>
            <a:pPr algn="l"/>
            <a:r>
              <a:rPr sz="1400" b="0">
                <a:solidFill>
                  <a:srgbClr val="B5760C"/>
                </a:solidFill>
                <a:latin typeface="Spectral SemiBold"/>
              </a:rPr>
              <a:t>05</a:t>
            </a:r>
          </a:p>
        </p:txBody>
      </p:sp>
      <p:sp>
        <p:nvSpPr>
          <p:cNvPr id="39" name="TextBox 38"/>
          <p:cNvSpPr txBox="1"/>
          <p:nvPr/>
        </p:nvSpPr>
        <p:spPr>
          <a:xfrm>
            <a:off x="2121408" y="5102352"/>
            <a:ext cx="7498079" cy="566928"/>
          </a:xfrm>
          <a:prstGeom prst="rect">
            <a:avLst/>
          </a:prstGeom>
          <a:noFill/>
        </p:spPr>
        <p:txBody>
          <a:bodyPr wrap="square" anchor="ctr" lIns="0" rIns="0" tIns="0" bIns="0">
            <a:spAutoFit/>
          </a:bodyPr>
          <a:lstStyle/>
          <a:p>
            <a:pPr algn="l"/>
            <a:r>
              <a:rPr sz="1450" b="0">
                <a:solidFill>
                  <a:srgbClr val="1C1A16"/>
                </a:solidFill>
                <a:latin typeface="Inter SemiBold"/>
              </a:rPr>
              <a:t>Results, evaluation and conclusion</a:t>
            </a:r>
          </a:p>
        </p:txBody>
      </p:sp>
      <p:sp>
        <p:nvSpPr>
          <p:cNvPr id="40" name="TextBox 39"/>
          <p:cNvSpPr txBox="1"/>
          <p:nvPr/>
        </p:nvSpPr>
        <p:spPr>
          <a:xfrm>
            <a:off x="9887407" y="5102352"/>
            <a:ext cx="1371600" cy="566928"/>
          </a:xfrm>
          <a:prstGeom prst="rect">
            <a:avLst/>
          </a:prstGeom>
          <a:noFill/>
        </p:spPr>
        <p:txBody>
          <a:bodyPr wrap="square" anchor="ctr" lIns="0" rIns="0" tIns="0" bIns="0">
            <a:spAutoFit/>
          </a:bodyPr>
          <a:lstStyle/>
          <a:p>
            <a:pPr algn="r"/>
            <a:r>
              <a:rPr sz="1100" b="0">
                <a:solidFill>
                  <a:srgbClr val="8C877D"/>
                </a:solidFill>
                <a:latin typeface="Inter Medium"/>
              </a:rPr>
              <a:t>~2 min</a:t>
            </a:r>
          </a:p>
        </p:txBody>
      </p:sp>
      <p:sp>
        <p:nvSpPr>
          <p:cNvPr id="41" name="TextBox 40"/>
          <p:cNvSpPr txBox="1"/>
          <p:nvPr/>
        </p:nvSpPr>
        <p:spPr>
          <a:xfrm>
            <a:off x="749808" y="6181344"/>
            <a:ext cx="10692079" cy="365760"/>
          </a:xfrm>
          <a:prstGeom prst="rect">
            <a:avLst/>
          </a:prstGeom>
          <a:noFill/>
        </p:spPr>
        <p:txBody>
          <a:bodyPr wrap="square" anchor="t" lIns="0" rIns="0" tIns="0" bIns="0">
            <a:spAutoFit/>
          </a:bodyPr>
          <a:lstStyle/>
          <a:p>
            <a:pPr algn="l"/>
            <a:r>
              <a:rPr sz="1050" b="0" spc="40">
                <a:solidFill>
                  <a:srgbClr val="B7B1A4"/>
                </a:solidFill>
                <a:latin typeface="Inter"/>
              </a:rPr>
              <a:t>Roughly sixteen minutes of talk and demo, then questions. We each take questions on the parts we led.</a:t>
            </a:r>
          </a:p>
        </p:txBody>
      </p:sp>
      <p:sp>
        <p:nvSpPr>
          <p:cNvPr id="42" name="TextBox 41"/>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43" name="TextBox 42"/>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02 / 32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4A45C7"/>
        </a:solidFill>
        <a:effectLst/>
      </p:bgPr>
    </p:bg>
    <p:spTree>
      <p:nvGrpSpPr>
        <p:cNvPr id="1" name=""/>
        <p:cNvGrpSpPr/>
        <p:nvPr/>
      </p:nvGrpSpPr>
      <p:grpSpPr/>
      <p:sp>
        <p:nvSpPr>
          <p:cNvPr id="2" name="TextBox 1"/>
          <p:cNvSpPr txBox="1"/>
          <p:nvPr/>
        </p:nvSpPr>
        <p:spPr>
          <a:xfrm>
            <a:off x="749808" y="603504"/>
            <a:ext cx="8229600" cy="274320"/>
          </a:xfrm>
          <a:prstGeom prst="rect">
            <a:avLst/>
          </a:prstGeom>
          <a:noFill/>
        </p:spPr>
        <p:txBody>
          <a:bodyPr wrap="square" anchor="t" lIns="0" rIns="0" tIns="0" bIns="0">
            <a:spAutoFit/>
          </a:bodyPr>
          <a:lstStyle/>
          <a:p>
            <a:pPr algn="l"/>
            <a:r>
              <a:rPr sz="1100" b="1" spc="280">
                <a:solidFill>
                  <a:srgbClr val="FFFFFF"/>
                </a:solidFill>
                <a:latin typeface="Inter SemiBold"/>
              </a:rPr>
              <a:t>SECTION 01</a:t>
            </a:r>
          </a:p>
        </p:txBody>
      </p:sp>
      <p:sp>
        <p:nvSpPr>
          <p:cNvPr id="3" name="Rounded Rectangle 2"/>
          <p:cNvSpPr/>
          <p:nvPr/>
        </p:nvSpPr>
        <p:spPr>
          <a:xfrm>
            <a:off x="9613087" y="640080"/>
            <a:ext cx="292608" cy="640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97135" y="640080"/>
            <a:ext cx="292608" cy="64008"/>
          </a:xfrm>
          <a:prstGeom prst="roundRect">
            <a:avLst>
              <a:gd name="adj" fmla="val 50000"/>
            </a:avLst>
          </a:prstGeom>
          <a:solidFill>
            <a:srgbClr val="807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381183" y="640080"/>
            <a:ext cx="292608" cy="64008"/>
          </a:xfrm>
          <a:prstGeom prst="roundRect">
            <a:avLst>
              <a:gd name="adj" fmla="val 50000"/>
            </a:avLst>
          </a:prstGeom>
          <a:solidFill>
            <a:srgbClr val="807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65231" y="640080"/>
            <a:ext cx="292608" cy="64008"/>
          </a:xfrm>
          <a:prstGeom prst="roundRect">
            <a:avLst>
              <a:gd name="adj" fmla="val 50000"/>
            </a:avLst>
          </a:prstGeom>
          <a:solidFill>
            <a:srgbClr val="807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49279" y="640080"/>
            <a:ext cx="292608" cy="64008"/>
          </a:xfrm>
          <a:prstGeom prst="roundRect">
            <a:avLst>
              <a:gd name="adj" fmla="val 50000"/>
            </a:avLst>
          </a:prstGeom>
          <a:solidFill>
            <a:srgbClr val="807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DEDEF5"/>
                </a:solidFill>
                <a:latin typeface="Inter SemiBold"/>
              </a:rPr>
              <a:t>SECTION 1 / 5</a:t>
            </a:r>
          </a:p>
        </p:txBody>
      </p:sp>
      <p:pic>
        <p:nvPicPr>
          <p:cNvPr id="9" name="Picture 8" descr="target-04__white.png"/>
          <p:cNvPicPr>
            <a:picLocks noChangeAspect="1"/>
          </p:cNvPicPr>
          <p:nvPr/>
        </p:nvPicPr>
        <p:blipFill>
          <a:blip r:embed="rId2"/>
          <a:stretch>
            <a:fillRect/>
          </a:stretch>
        </p:blipFill>
        <p:spPr>
          <a:xfrm>
            <a:off x="9590227" y="1165860"/>
            <a:ext cx="1417320" cy="1417320"/>
          </a:xfrm>
          <a:prstGeom prst="rect">
            <a:avLst/>
          </a:prstGeom>
        </p:spPr>
      </p:pic>
      <p:cxnSp>
        <p:nvCxnSpPr>
          <p:cNvPr id="10" name="Connector 9"/>
          <p:cNvCxnSpPr/>
          <p:nvPr/>
        </p:nvCxnSpPr>
        <p:spPr>
          <a:xfrm>
            <a:off x="749808" y="3017520"/>
            <a:ext cx="10692079" cy="0"/>
          </a:xfrm>
          <a:prstGeom prst="line">
            <a:avLst/>
          </a:prstGeom>
          <a:ln w="20320">
            <a:solidFill>
              <a:srgbClr val="A19EE2"/>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3291840"/>
            <a:ext cx="9411919" cy="1280160"/>
          </a:xfrm>
          <a:prstGeom prst="rect">
            <a:avLst/>
          </a:prstGeom>
          <a:noFill/>
        </p:spPr>
        <p:txBody>
          <a:bodyPr wrap="square" anchor="t" lIns="0" rIns="0" tIns="0" bIns="0">
            <a:spAutoFit/>
          </a:bodyPr>
          <a:lstStyle/>
          <a:p>
            <a:pPr algn="l">
              <a:lnSpc>
                <a:spcPct val="105000"/>
              </a:lnSpc>
            </a:pPr>
            <a:r>
              <a:rPr sz="3700" b="0">
                <a:solidFill>
                  <a:srgbClr val="FFFFFF"/>
                </a:solidFill>
                <a:latin typeface="Spectral SemiBold"/>
              </a:rPr>
              <a:t>Introduction and problem definition.</a:t>
            </a:r>
          </a:p>
        </p:txBody>
      </p:sp>
      <p:sp>
        <p:nvSpPr>
          <p:cNvPr id="12" name="TextBox 11"/>
          <p:cNvSpPr txBox="1"/>
          <p:nvPr/>
        </p:nvSpPr>
        <p:spPr>
          <a:xfrm>
            <a:off x="749808" y="4370832"/>
            <a:ext cx="8680399" cy="914400"/>
          </a:xfrm>
          <a:prstGeom prst="rect">
            <a:avLst/>
          </a:prstGeom>
          <a:noFill/>
        </p:spPr>
        <p:txBody>
          <a:bodyPr wrap="square" anchor="t" lIns="0" rIns="0" tIns="0" bIns="0">
            <a:spAutoFit/>
          </a:bodyPr>
          <a:lstStyle/>
          <a:p>
            <a:pPr algn="l">
              <a:lnSpc>
                <a:spcPct val="142000"/>
              </a:lnSpc>
            </a:pPr>
            <a:r>
              <a:rPr sz="1400" b="0">
                <a:solidFill>
                  <a:srgbClr val="DEDEF5"/>
                </a:solidFill>
                <a:latin typeface="Inter"/>
              </a:rPr>
              <a:t>The domain we chose, the objectives we set, and the two problems that drove every pattern choice.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INTRODUCTION  ·  BACKGROUND AND OBJECTIVES</a:t>
            </a:r>
          </a:p>
        </p:txBody>
      </p:sp>
      <p:sp>
        <p:nvSpPr>
          <p:cNvPr id="4" name="Rounded Rectangle 3"/>
          <p:cNvSpPr/>
          <p:nvPr/>
        </p:nvSpPr>
        <p:spPr>
          <a:xfrm>
            <a:off x="9613087"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4A45C7"/>
                </a:solidFill>
                <a:latin typeface="Inter SemiBold"/>
              </a:rPr>
              <a:t>SECTION 1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Why a task management system?</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Software teams track many kinds of work. How that work gets created and ordered is where a tidy codebase usually starts to sprawl.</a:t>
            </a:r>
          </a:p>
        </p:txBody>
      </p:sp>
      <p:sp>
        <p:nvSpPr>
          <p:cNvPr id="12" name="Rounded Rectangle 11"/>
          <p:cNvSpPr/>
          <p:nvPr/>
        </p:nvSpPr>
        <p:spPr>
          <a:xfrm>
            <a:off x="749808" y="2724912"/>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05840" y="2980944"/>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lipboard-check__indigo.png"/>
          <p:cNvPicPr>
            <a:picLocks noChangeAspect="1"/>
          </p:cNvPicPr>
          <p:nvPr/>
        </p:nvPicPr>
        <p:blipFill>
          <a:blip r:embed="rId2"/>
          <a:stretch>
            <a:fillRect/>
          </a:stretch>
        </p:blipFill>
        <p:spPr>
          <a:xfrm>
            <a:off x="1106424" y="3081527"/>
            <a:ext cx="256032" cy="256032"/>
          </a:xfrm>
          <a:prstGeom prst="rect">
            <a:avLst/>
          </a:prstGeom>
        </p:spPr>
      </p:pic>
      <p:sp>
        <p:nvSpPr>
          <p:cNvPr id="15" name="TextBox 14"/>
          <p:cNvSpPr txBox="1"/>
          <p:nvPr/>
        </p:nvSpPr>
        <p:spPr>
          <a:xfrm>
            <a:off x="1627632" y="2980944"/>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The domain</a:t>
            </a:r>
          </a:p>
        </p:txBody>
      </p:sp>
      <p:sp>
        <p:nvSpPr>
          <p:cNvPr id="16" name="TextBox 15"/>
          <p:cNvSpPr txBox="1"/>
          <p:nvPr/>
        </p:nvSpPr>
        <p:spPr>
          <a:xfrm>
            <a:off x="1024127" y="3566160"/>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 tracker for a software team: bug, feature, and documentation tasks, each moving through one shared lifecycle from open to done.</a:t>
            </a:r>
          </a:p>
        </p:txBody>
      </p:sp>
      <p:sp>
        <p:nvSpPr>
          <p:cNvPr id="17" name="Rounded Rectangle 16"/>
          <p:cNvSpPr/>
          <p:nvPr/>
        </p:nvSpPr>
        <p:spPr>
          <a:xfrm>
            <a:off x="6324447" y="2724912"/>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0479" y="2980944"/>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zap__indigo.png"/>
          <p:cNvPicPr>
            <a:picLocks noChangeAspect="1"/>
          </p:cNvPicPr>
          <p:nvPr/>
        </p:nvPicPr>
        <p:blipFill>
          <a:blip r:embed="rId3"/>
          <a:stretch>
            <a:fillRect/>
          </a:stretch>
        </p:blipFill>
        <p:spPr>
          <a:xfrm>
            <a:off x="6681063" y="3081527"/>
            <a:ext cx="256032" cy="256032"/>
          </a:xfrm>
          <a:prstGeom prst="rect">
            <a:avLst/>
          </a:prstGeom>
        </p:spPr>
      </p:pic>
      <p:sp>
        <p:nvSpPr>
          <p:cNvPr id="20" name="TextBox 19"/>
          <p:cNvSpPr txBox="1"/>
          <p:nvPr/>
        </p:nvSpPr>
        <p:spPr>
          <a:xfrm>
            <a:off x="7202271" y="2980944"/>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The motivation</a:t>
            </a:r>
          </a:p>
        </p:txBody>
      </p:sp>
      <p:sp>
        <p:nvSpPr>
          <p:cNvPr id="21" name="TextBox 20"/>
          <p:cNvSpPr txBox="1"/>
          <p:nvPr/>
        </p:nvSpPr>
        <p:spPr>
          <a:xfrm>
            <a:off x="6598767" y="3566160"/>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Two recurring causes of code sprawl in this kind of system line up cleanly with two patterns from the course.</a:t>
            </a:r>
          </a:p>
        </p:txBody>
      </p:sp>
      <p:sp>
        <p:nvSpPr>
          <p:cNvPr id="22" name="Rounded Rectangle 21"/>
          <p:cNvSpPr/>
          <p:nvPr/>
        </p:nvSpPr>
        <p:spPr>
          <a:xfrm>
            <a:off x="749808" y="4517136"/>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05840" y="4773168"/>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target-04__indigo.png"/>
          <p:cNvPicPr>
            <a:picLocks noChangeAspect="1"/>
          </p:cNvPicPr>
          <p:nvPr/>
        </p:nvPicPr>
        <p:blipFill>
          <a:blip r:embed="rId4"/>
          <a:stretch>
            <a:fillRect/>
          </a:stretch>
        </p:blipFill>
        <p:spPr>
          <a:xfrm>
            <a:off x="1106424" y="4873752"/>
            <a:ext cx="256032" cy="256032"/>
          </a:xfrm>
          <a:prstGeom prst="rect">
            <a:avLst/>
          </a:prstGeom>
        </p:spPr>
      </p:pic>
      <p:sp>
        <p:nvSpPr>
          <p:cNvPr id="25" name="TextBox 24"/>
          <p:cNvSpPr txBox="1"/>
          <p:nvPr/>
        </p:nvSpPr>
        <p:spPr>
          <a:xfrm>
            <a:off x="1627632" y="4773168"/>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Our objective</a:t>
            </a:r>
          </a:p>
        </p:txBody>
      </p:sp>
      <p:sp>
        <p:nvSpPr>
          <p:cNvPr id="26" name="TextBox 25"/>
          <p:cNvSpPr txBox="1"/>
          <p:nvPr/>
        </p:nvSpPr>
        <p:spPr>
          <a:xfrm>
            <a:off x="1024127" y="5358383"/>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Support new task types and new orderings, and let them be added without editing code that already works.</a:t>
            </a:r>
          </a:p>
        </p:txBody>
      </p:sp>
      <p:sp>
        <p:nvSpPr>
          <p:cNvPr id="27" name="Rounded Rectangle 26"/>
          <p:cNvSpPr/>
          <p:nvPr/>
        </p:nvSpPr>
        <p:spPr>
          <a:xfrm>
            <a:off x="6324447" y="4517136"/>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80479" y="4773168"/>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cube-01__indigo.png"/>
          <p:cNvPicPr>
            <a:picLocks noChangeAspect="1"/>
          </p:cNvPicPr>
          <p:nvPr/>
        </p:nvPicPr>
        <p:blipFill>
          <a:blip r:embed="rId5"/>
          <a:stretch>
            <a:fillRect/>
          </a:stretch>
        </p:blipFill>
        <p:spPr>
          <a:xfrm>
            <a:off x="6681063" y="4873752"/>
            <a:ext cx="256032" cy="256032"/>
          </a:xfrm>
          <a:prstGeom prst="rect">
            <a:avLst/>
          </a:prstGeom>
        </p:spPr>
      </p:pic>
      <p:sp>
        <p:nvSpPr>
          <p:cNvPr id="30" name="TextBox 29"/>
          <p:cNvSpPr txBox="1"/>
          <p:nvPr/>
        </p:nvSpPr>
        <p:spPr>
          <a:xfrm>
            <a:off x="7202271" y="4773168"/>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In one line</a:t>
            </a:r>
          </a:p>
        </p:txBody>
      </p:sp>
      <p:sp>
        <p:nvSpPr>
          <p:cNvPr id="31" name="TextBox 30"/>
          <p:cNvSpPr txBox="1"/>
          <p:nvPr/>
        </p:nvSpPr>
        <p:spPr>
          <a:xfrm>
            <a:off x="6598767" y="5358383"/>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One engine, three ways to run it, sixteen Java files, zero external dependencies.</a:t>
            </a:r>
          </a:p>
        </p:txBody>
      </p:sp>
      <p:sp>
        <p:nvSpPr>
          <p:cNvPr id="32" name="TextBox 31"/>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3" name="TextBox 32"/>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04 / 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PROBLEM DEFINITION  ·  REQUIREMENTS</a:t>
            </a:r>
          </a:p>
        </p:txBody>
      </p:sp>
      <p:sp>
        <p:nvSpPr>
          <p:cNvPr id="4" name="Rounded Rectangle 3"/>
          <p:cNvSpPr/>
          <p:nvPr/>
        </p:nvSpPr>
        <p:spPr>
          <a:xfrm>
            <a:off x="9613087"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4A45C7"/>
                </a:solidFill>
                <a:latin typeface="Inter SemiBold"/>
              </a:rPr>
              <a:t>SECTION 1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What the system must do.</a:t>
            </a:r>
          </a:p>
        </p:txBody>
      </p:sp>
      <p:sp>
        <p:nvSpPr>
          <p:cNvPr id="11" name="Rounded Rectangle 10"/>
          <p:cNvSpPr/>
          <p:nvPr/>
        </p:nvSpPr>
        <p:spPr>
          <a:xfrm>
            <a:off x="749808" y="2331720"/>
            <a:ext cx="5117439" cy="278892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24127" y="2587752"/>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square__indigo.png"/>
          <p:cNvPicPr>
            <a:picLocks noChangeAspect="1"/>
          </p:cNvPicPr>
          <p:nvPr/>
        </p:nvPicPr>
        <p:blipFill>
          <a:blip r:embed="rId2"/>
          <a:stretch>
            <a:fillRect/>
          </a:stretch>
        </p:blipFill>
        <p:spPr>
          <a:xfrm>
            <a:off x="1124712" y="2688336"/>
            <a:ext cx="256032" cy="256032"/>
          </a:xfrm>
          <a:prstGeom prst="rect">
            <a:avLst/>
          </a:prstGeom>
        </p:spPr>
      </p:pic>
      <p:sp>
        <p:nvSpPr>
          <p:cNvPr id="14" name="TextBox 13"/>
          <p:cNvSpPr txBox="1"/>
          <p:nvPr/>
        </p:nvSpPr>
        <p:spPr>
          <a:xfrm>
            <a:off x="1645919" y="2587752"/>
            <a:ext cx="4020159" cy="457200"/>
          </a:xfrm>
          <a:prstGeom prst="rect">
            <a:avLst/>
          </a:prstGeom>
          <a:noFill/>
        </p:spPr>
        <p:txBody>
          <a:bodyPr wrap="square" anchor="ctr" lIns="0" rIns="0" tIns="0" bIns="0">
            <a:spAutoFit/>
          </a:bodyPr>
          <a:lstStyle/>
          <a:p>
            <a:pPr algn="l"/>
            <a:r>
              <a:rPr sz="1100" b="0" spc="140">
                <a:solidFill>
                  <a:srgbClr val="1C1A16"/>
                </a:solidFill>
                <a:latin typeface="Inter SemiBold"/>
              </a:rPr>
              <a:t>FUNCTIONAL REQUIREMENTS</a:t>
            </a:r>
          </a:p>
        </p:txBody>
      </p:sp>
      <p:sp>
        <p:nvSpPr>
          <p:cNvPr id="15" name="TextBox 14"/>
          <p:cNvSpPr txBox="1"/>
          <p:nvPr/>
        </p:nvSpPr>
        <p:spPr>
          <a:xfrm>
            <a:off x="1060704" y="327355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16" name="TextBox 15"/>
          <p:cNvSpPr txBox="1"/>
          <p:nvPr/>
        </p:nvSpPr>
        <p:spPr>
          <a:xfrm>
            <a:off x="1280160" y="3282696"/>
            <a:ext cx="4331055" cy="621792"/>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Create bug, feature, and documentation tasks.</a:t>
            </a:r>
          </a:p>
        </p:txBody>
      </p:sp>
      <p:sp>
        <p:nvSpPr>
          <p:cNvPr id="17" name="TextBox 16"/>
          <p:cNvSpPr txBox="1"/>
          <p:nvPr/>
        </p:nvSpPr>
        <p:spPr>
          <a:xfrm>
            <a:off x="1060704" y="3803904"/>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18" name="TextBox 17"/>
          <p:cNvSpPr txBox="1"/>
          <p:nvPr/>
        </p:nvSpPr>
        <p:spPr>
          <a:xfrm>
            <a:off x="1280160" y="3813048"/>
            <a:ext cx="4331055" cy="621792"/>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Order the list by priority, deadline, or severity.</a:t>
            </a:r>
          </a:p>
        </p:txBody>
      </p:sp>
      <p:sp>
        <p:nvSpPr>
          <p:cNvPr id="19" name="TextBox 18"/>
          <p:cNvSpPr txBox="1"/>
          <p:nvPr/>
        </p:nvSpPr>
        <p:spPr>
          <a:xfrm>
            <a:off x="1060704" y="4334256"/>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20" name="TextBox 19"/>
          <p:cNvSpPr txBox="1"/>
          <p:nvPr/>
        </p:nvSpPr>
        <p:spPr>
          <a:xfrm>
            <a:off x="1280160" y="4343400"/>
            <a:ext cx="4331055" cy="621792"/>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Move tasks through a validated lifecycle.</a:t>
            </a:r>
          </a:p>
        </p:txBody>
      </p:sp>
      <p:sp>
        <p:nvSpPr>
          <p:cNvPr id="21" name="TextBox 20"/>
          <p:cNvSpPr txBox="1"/>
          <p:nvPr/>
        </p:nvSpPr>
        <p:spPr>
          <a:xfrm>
            <a:off x="1060704" y="4864608"/>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22" name="TextBox 21"/>
          <p:cNvSpPr txBox="1"/>
          <p:nvPr/>
        </p:nvSpPr>
        <p:spPr>
          <a:xfrm>
            <a:off x="1280160" y="4873752"/>
            <a:ext cx="4331055" cy="621792"/>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Filter by status and summarise the list.</a:t>
            </a:r>
          </a:p>
        </p:txBody>
      </p:sp>
      <p:sp>
        <p:nvSpPr>
          <p:cNvPr id="23" name="Rounded Rectangle 22"/>
          <p:cNvSpPr/>
          <p:nvPr/>
        </p:nvSpPr>
        <p:spPr>
          <a:xfrm>
            <a:off x="6324447" y="2331720"/>
            <a:ext cx="5117439" cy="278892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98767" y="2587752"/>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hield-tick__indigo.png"/>
          <p:cNvPicPr>
            <a:picLocks noChangeAspect="1"/>
          </p:cNvPicPr>
          <p:nvPr/>
        </p:nvPicPr>
        <p:blipFill>
          <a:blip r:embed="rId3"/>
          <a:stretch>
            <a:fillRect/>
          </a:stretch>
        </p:blipFill>
        <p:spPr>
          <a:xfrm>
            <a:off x="6699351" y="2688336"/>
            <a:ext cx="256032" cy="256032"/>
          </a:xfrm>
          <a:prstGeom prst="rect">
            <a:avLst/>
          </a:prstGeom>
        </p:spPr>
      </p:pic>
      <p:sp>
        <p:nvSpPr>
          <p:cNvPr id="26" name="TextBox 25"/>
          <p:cNvSpPr txBox="1"/>
          <p:nvPr/>
        </p:nvSpPr>
        <p:spPr>
          <a:xfrm>
            <a:off x="7220559" y="2587752"/>
            <a:ext cx="4020159" cy="457200"/>
          </a:xfrm>
          <a:prstGeom prst="rect">
            <a:avLst/>
          </a:prstGeom>
          <a:noFill/>
        </p:spPr>
        <p:txBody>
          <a:bodyPr wrap="square" anchor="ctr" lIns="0" rIns="0" tIns="0" bIns="0">
            <a:spAutoFit/>
          </a:bodyPr>
          <a:lstStyle/>
          <a:p>
            <a:pPr algn="l"/>
            <a:r>
              <a:rPr sz="1100" b="0" spc="140">
                <a:solidFill>
                  <a:srgbClr val="1C1A16"/>
                </a:solidFill>
                <a:latin typeface="Inter SemiBold"/>
              </a:rPr>
              <a:t>NON-FUNCTIONAL REQUIREMENTS</a:t>
            </a:r>
          </a:p>
        </p:txBody>
      </p:sp>
      <p:sp>
        <p:nvSpPr>
          <p:cNvPr id="27" name="TextBox 26"/>
          <p:cNvSpPr txBox="1"/>
          <p:nvPr/>
        </p:nvSpPr>
        <p:spPr>
          <a:xfrm>
            <a:off x="6635343" y="327355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28" name="TextBox 27"/>
          <p:cNvSpPr txBox="1"/>
          <p:nvPr/>
        </p:nvSpPr>
        <p:spPr>
          <a:xfrm>
            <a:off x="6854799" y="3282696"/>
            <a:ext cx="4331055" cy="621792"/>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Extensible: new types or orderings, no edits to old code.</a:t>
            </a:r>
          </a:p>
        </p:txBody>
      </p:sp>
      <p:sp>
        <p:nvSpPr>
          <p:cNvPr id="29" name="TextBox 28"/>
          <p:cNvSpPr txBox="1"/>
          <p:nvPr/>
        </p:nvSpPr>
        <p:spPr>
          <a:xfrm>
            <a:off x="6635343" y="3803904"/>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30" name="TextBox 29"/>
          <p:cNvSpPr txBox="1"/>
          <p:nvPr/>
        </p:nvSpPr>
        <p:spPr>
          <a:xfrm>
            <a:off x="6854799" y="3813048"/>
            <a:ext cx="4331055" cy="621792"/>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Pure Java 8+, zero external dependencies.</a:t>
            </a:r>
          </a:p>
        </p:txBody>
      </p:sp>
      <p:sp>
        <p:nvSpPr>
          <p:cNvPr id="31" name="TextBox 30"/>
          <p:cNvSpPr txBox="1"/>
          <p:nvPr/>
        </p:nvSpPr>
        <p:spPr>
          <a:xfrm>
            <a:off x="6635343" y="4334256"/>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32" name="TextBox 31"/>
          <p:cNvSpPr txBox="1"/>
          <p:nvPr/>
        </p:nvSpPr>
        <p:spPr>
          <a:xfrm>
            <a:off x="6854799" y="4343400"/>
            <a:ext cx="4331055" cy="621792"/>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Runs from the terminal: tests, console, and a GUI.</a:t>
            </a:r>
          </a:p>
        </p:txBody>
      </p:sp>
      <p:sp>
        <p:nvSpPr>
          <p:cNvPr id="33" name="TextBox 32"/>
          <p:cNvSpPr txBox="1"/>
          <p:nvPr/>
        </p:nvSpPr>
        <p:spPr>
          <a:xfrm>
            <a:off x="6635343" y="4864608"/>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34" name="TextBox 33"/>
          <p:cNvSpPr txBox="1"/>
          <p:nvPr/>
        </p:nvSpPr>
        <p:spPr>
          <a:xfrm>
            <a:off x="6854799" y="4873752"/>
            <a:ext cx="4331055" cy="621792"/>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Explainable: the design has to survive a viva.</a:t>
            </a:r>
          </a:p>
        </p:txBody>
      </p:sp>
      <p:sp>
        <p:nvSpPr>
          <p:cNvPr id="35" name="Rounded Rectangle 34"/>
          <p:cNvSpPr/>
          <p:nvPr/>
        </p:nvSpPr>
        <p:spPr>
          <a:xfrm>
            <a:off x="749808" y="5358384"/>
            <a:ext cx="10692079" cy="676656"/>
          </a:xfrm>
          <a:prstGeom prst="roundRect">
            <a:avLst>
              <a:gd name="adj" fmla="val 6000"/>
            </a:avLst>
          </a:prstGeom>
          <a:solidFill>
            <a:srgbClr val="F4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7" y="5358384"/>
            <a:ext cx="10143439" cy="676656"/>
          </a:xfrm>
          <a:prstGeom prst="rect">
            <a:avLst/>
          </a:prstGeom>
          <a:noFill/>
        </p:spPr>
        <p:txBody>
          <a:bodyPr wrap="square" anchor="ctr" lIns="0" rIns="0" tIns="0" bIns="0">
            <a:spAutoFit/>
          </a:bodyPr>
          <a:lstStyle/>
          <a:p>
            <a:pPr algn="l">
              <a:lnSpc>
                <a:spcPct val="130000"/>
              </a:lnSpc>
            </a:pPr>
            <a:r>
              <a:rPr sz="1250" b="0">
                <a:solidFill>
                  <a:srgbClr val="1C1A16"/>
                </a:solidFill>
                <a:latin typeface="Inter SemiBold"/>
              </a:rPr>
              <a:t>Two requirements drive the whole design: tasks are created in different ways, and the same list is ordered in different ways.</a:t>
            </a:r>
          </a:p>
        </p:txBody>
      </p:sp>
      <p:sp>
        <p:nvSpPr>
          <p:cNvPr id="37" name="TextBox 36"/>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8" name="TextBox 37"/>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05 / 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PROBLEM DEFINITION  ·  PROBLEM 1</a:t>
            </a:r>
          </a:p>
        </p:txBody>
      </p:sp>
      <p:sp>
        <p:nvSpPr>
          <p:cNvPr id="4" name="Rounded Rectangle 3"/>
          <p:cNvSpPr/>
          <p:nvPr/>
        </p:nvSpPr>
        <p:spPr>
          <a:xfrm>
            <a:off x="9613087"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4A45C7"/>
                </a:solidFill>
                <a:latin typeface="Inter SemiBold"/>
              </a:rPr>
              <a:t>SECTION 1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Tasks have different creation logic.</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Each task type has different fields and different defaults. Building them by hand ties every caller to the concrete classes.</a:t>
            </a:r>
          </a:p>
        </p:txBody>
      </p:sp>
      <p:sp>
        <p:nvSpPr>
          <p:cNvPr id="12" name="Rounded Rectangle 11"/>
          <p:cNvSpPr/>
          <p:nvPr/>
        </p:nvSpPr>
        <p:spPr>
          <a:xfrm>
            <a:off x="749808" y="2697480"/>
            <a:ext cx="10692079" cy="1103947"/>
          </a:xfrm>
          <a:prstGeom prst="roundRect">
            <a:avLst>
              <a:gd name="adj" fmla="val 4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697480"/>
            <a:ext cx="10692079" cy="0"/>
          </a:xfrm>
          <a:prstGeom prst="line">
            <a:avLst/>
          </a:prstGeom>
          <a:ln w="27940">
            <a:solidFill>
              <a:srgbClr val="BC5A2B"/>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6384" y="2825496"/>
            <a:ext cx="10618927" cy="921067"/>
          </a:xfrm>
          <a:prstGeom prst="rect">
            <a:avLst/>
          </a:prstGeom>
          <a:noFill/>
        </p:spPr>
        <p:txBody>
          <a:bodyPr wrap="none" anchor="t" lIns="237744" rIns="164592" tIns="54864" bIns="54864">
            <a:spAutoFit/>
          </a:bodyPr>
          <a:lstStyle/>
          <a:p>
            <a:pPr algn="l">
              <a:lnSpc>
                <a:spcPct val="142000"/>
              </a:lnSpc>
            </a:pPr>
            <a:r>
              <a:rPr sz="1250">
                <a:solidFill>
                  <a:srgbClr val="8250DF"/>
                </a:solidFill>
                <a:latin typeface="Consolas"/>
              </a:rPr>
              <a:t>new</a:t>
            </a:r>
            <a:r>
              <a:rPr sz="1250">
                <a:solidFill>
                  <a:srgbClr val="1C1A16"/>
                </a:solidFill>
                <a:latin typeface="Consolas"/>
              </a:rPr>
              <a:t> </a:t>
            </a:r>
            <a:r>
              <a:rPr sz="1250">
                <a:solidFill>
                  <a:srgbClr val="0550AE"/>
                </a:solidFill>
                <a:latin typeface="Consolas"/>
              </a:rPr>
              <a:t>BugTask</a:t>
            </a:r>
            <a:r>
              <a:rPr sz="1250">
                <a:solidFill>
                  <a:srgbClr val="1C1A16"/>
                </a:solidFill>
                <a:latin typeface="Consolas"/>
              </a:rPr>
              <a:t>(</a:t>
            </a:r>
            <a:r>
              <a:rPr sz="1250">
                <a:solidFill>
                  <a:srgbClr val="1C1A16"/>
                </a:solidFill>
                <a:latin typeface="Consolas"/>
              </a:rPr>
              <a:t>title</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priority</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"MEDIUM"</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8C877D"/>
                </a:solidFill>
                <a:latin typeface="Consolas"/>
              </a:rPr>
              <a:t>// severity + steps</a:t>
            </a:r>
          </a:p>
          <a:p>
            <a:pPr algn="l">
              <a:lnSpc>
                <a:spcPct val="142000"/>
              </a:lnSpc>
            </a:pPr>
            <a:r>
              <a:rPr sz="1250">
                <a:solidFill>
                  <a:srgbClr val="8250DF"/>
                </a:solidFill>
                <a:latin typeface="Consolas"/>
              </a:rPr>
              <a:t>new</a:t>
            </a:r>
            <a:r>
              <a:rPr sz="1250">
                <a:solidFill>
                  <a:srgbClr val="1C1A16"/>
                </a:solidFill>
                <a:latin typeface="Consolas"/>
              </a:rPr>
              <a:t> </a:t>
            </a:r>
            <a:r>
              <a:rPr sz="1250">
                <a:solidFill>
                  <a:srgbClr val="0550AE"/>
                </a:solidFill>
                <a:latin typeface="Consolas"/>
              </a:rPr>
              <a:t>FeatureTask</a:t>
            </a:r>
            <a:r>
              <a:rPr sz="1250">
                <a:solidFill>
                  <a:srgbClr val="1C1A16"/>
                </a:solidFill>
                <a:latin typeface="Consolas"/>
              </a:rPr>
              <a:t>(</a:t>
            </a:r>
            <a:r>
              <a:rPr sz="1250">
                <a:solidFill>
                  <a:srgbClr val="1C1A16"/>
                </a:solidFill>
                <a:latin typeface="Consolas"/>
              </a:rPr>
              <a:t>title</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priority</a:t>
            </a:r>
            <a:r>
              <a:rPr sz="1250">
                <a:solidFill>
                  <a:srgbClr val="1C1A16"/>
                </a:solidFill>
                <a:latin typeface="Consolas"/>
              </a:rPr>
              <a:t>,</a:t>
            </a:r>
            <a:r>
              <a:rPr sz="1250">
                <a:solidFill>
                  <a:srgbClr val="1C1A16"/>
                </a:solidFill>
                <a:latin typeface="Consolas"/>
              </a:rPr>
              <a:t> </a:t>
            </a:r>
            <a:r>
              <a:rPr sz="1250">
                <a:solidFill>
                  <a:srgbClr val="0550AE"/>
                </a:solidFill>
                <a:latin typeface="Consolas"/>
              </a:rPr>
              <a:t>8</a:t>
            </a:r>
            <a:r>
              <a:rPr sz="1250">
                <a:solidFill>
                  <a:srgbClr val="1C1A16"/>
                </a:solidFill>
                <a:latin typeface="Consolas"/>
              </a:rPr>
              <a:t>,</a:t>
            </a:r>
            <a:r>
              <a:rPr sz="1250">
                <a:solidFill>
                  <a:srgbClr val="1C1A16"/>
                </a:solidFill>
                <a:latin typeface="Consolas"/>
              </a:rPr>
              <a:t> </a:t>
            </a:r>
            <a:r>
              <a:rPr sz="1250">
                <a:solidFill>
                  <a:srgbClr val="0550AE"/>
                </a:solidFill>
                <a:latin typeface="Consolas"/>
              </a:rPr>
              <a:t>5</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8C877D"/>
                </a:solidFill>
                <a:latin typeface="Consolas"/>
              </a:rPr>
              <a:t>// effort + value</a:t>
            </a:r>
          </a:p>
          <a:p>
            <a:pPr algn="l">
              <a:lnSpc>
                <a:spcPct val="142000"/>
              </a:lnSpc>
            </a:pPr>
            <a:r>
              <a:rPr sz="1250">
                <a:solidFill>
                  <a:srgbClr val="8250DF"/>
                </a:solidFill>
                <a:latin typeface="Consolas"/>
              </a:rPr>
              <a:t>new</a:t>
            </a:r>
            <a:r>
              <a:rPr sz="1250">
                <a:solidFill>
                  <a:srgbClr val="1C1A16"/>
                </a:solidFill>
                <a:latin typeface="Consolas"/>
              </a:rPr>
              <a:t> </a:t>
            </a:r>
            <a:r>
              <a:rPr sz="1250">
                <a:solidFill>
                  <a:srgbClr val="0550AE"/>
                </a:solidFill>
                <a:latin typeface="Consolas"/>
              </a:rPr>
              <a:t>DocumentationTask</a:t>
            </a:r>
            <a:r>
              <a:rPr sz="1250">
                <a:solidFill>
                  <a:srgbClr val="1C1A16"/>
                </a:solidFill>
                <a:latin typeface="Consolas"/>
              </a:rPr>
              <a:t>(</a:t>
            </a:r>
            <a:r>
              <a:rPr sz="1250">
                <a:solidFill>
                  <a:srgbClr val="1C1A16"/>
                </a:solidFill>
                <a:latin typeface="Consolas"/>
              </a:rPr>
              <a:t>title</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priority</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"API"</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"Developers"</a:t>
            </a:r>
            <a:r>
              <a:rPr sz="1250">
                <a:solidFill>
                  <a:srgbClr val="1C1A16"/>
                </a:solidFill>
                <a:latin typeface="Consolas"/>
              </a:rPr>
              <a:t>)</a:t>
            </a:r>
            <a:r>
              <a:rPr sz="1250">
                <a:solidFill>
                  <a:srgbClr val="1C1A16"/>
                </a:solidFill>
                <a:latin typeface="Consolas"/>
              </a:rPr>
              <a:t>;</a:t>
            </a:r>
          </a:p>
        </p:txBody>
      </p:sp>
      <p:sp>
        <p:nvSpPr>
          <p:cNvPr id="15" name="Rounded Rectangle 14"/>
          <p:cNvSpPr/>
          <p:nvPr/>
        </p:nvSpPr>
        <p:spPr>
          <a:xfrm>
            <a:off x="749808" y="4526280"/>
            <a:ext cx="457200" cy="457200"/>
          </a:xfrm>
          <a:prstGeom prst="roundRect">
            <a:avLst>
              <a:gd name="adj" fmla="val 30000"/>
            </a:avLst>
          </a:prstGeom>
          <a:solidFill>
            <a:srgbClr val="F5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lert-triangle__amber.png"/>
          <p:cNvPicPr>
            <a:picLocks noChangeAspect="1"/>
          </p:cNvPicPr>
          <p:nvPr/>
        </p:nvPicPr>
        <p:blipFill>
          <a:blip r:embed="rId2"/>
          <a:stretch>
            <a:fillRect/>
          </a:stretch>
        </p:blipFill>
        <p:spPr>
          <a:xfrm>
            <a:off x="850391" y="4626864"/>
            <a:ext cx="256032" cy="256032"/>
          </a:xfrm>
          <a:prstGeom prst="rect">
            <a:avLst/>
          </a:prstGeom>
        </p:spPr>
      </p:pic>
      <p:sp>
        <p:nvSpPr>
          <p:cNvPr id="17" name="TextBox 16"/>
          <p:cNvSpPr txBox="1"/>
          <p:nvPr/>
        </p:nvSpPr>
        <p:spPr>
          <a:xfrm>
            <a:off x="749808" y="5111496"/>
            <a:ext cx="3259226" cy="365760"/>
          </a:xfrm>
          <a:prstGeom prst="rect">
            <a:avLst/>
          </a:prstGeom>
          <a:noFill/>
        </p:spPr>
        <p:txBody>
          <a:bodyPr wrap="square" anchor="t" lIns="0" rIns="0" tIns="0" bIns="0">
            <a:spAutoFit/>
          </a:bodyPr>
          <a:lstStyle/>
          <a:p>
            <a:pPr algn="l"/>
            <a:r>
              <a:rPr sz="1300" b="0">
                <a:solidFill>
                  <a:srgbClr val="1C1A16"/>
                </a:solidFill>
                <a:latin typeface="Inter SemiBold"/>
              </a:rPr>
              <a:t>The flaw</a:t>
            </a:r>
          </a:p>
        </p:txBody>
      </p:sp>
      <p:cxnSp>
        <p:nvCxnSpPr>
          <p:cNvPr id="18" name="Connector 17"/>
          <p:cNvCxnSpPr/>
          <p:nvPr/>
        </p:nvCxnSpPr>
        <p:spPr>
          <a:xfrm>
            <a:off x="749808" y="5413248"/>
            <a:ext cx="1368875" cy="0"/>
          </a:xfrm>
          <a:prstGeom prst="line">
            <a:avLst/>
          </a:prstGeom>
          <a:ln w="27940">
            <a:solidFill>
              <a:srgbClr val="B5760C"/>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49808" y="5532120"/>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Every entry point imports and names BugTask, FeatureTask, and DocumentationTask directly.</a:t>
            </a:r>
          </a:p>
        </p:txBody>
      </p:sp>
      <p:sp>
        <p:nvSpPr>
          <p:cNvPr id="20" name="Rounded Rectangle 19"/>
          <p:cNvSpPr/>
          <p:nvPr/>
        </p:nvSpPr>
        <p:spPr>
          <a:xfrm>
            <a:off x="4466234" y="4526280"/>
            <a:ext cx="457200" cy="457200"/>
          </a:xfrm>
          <a:prstGeom prst="roundRect">
            <a:avLst>
              <a:gd name="adj" fmla="val 30000"/>
            </a:avLst>
          </a:prstGeom>
          <a:solidFill>
            <a:srgbClr val="F7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it-branch-01__red.png"/>
          <p:cNvPicPr>
            <a:picLocks noChangeAspect="1"/>
          </p:cNvPicPr>
          <p:nvPr/>
        </p:nvPicPr>
        <p:blipFill>
          <a:blip r:embed="rId3"/>
          <a:stretch>
            <a:fillRect/>
          </a:stretch>
        </p:blipFill>
        <p:spPr>
          <a:xfrm>
            <a:off x="4566818" y="4626864"/>
            <a:ext cx="256032" cy="256032"/>
          </a:xfrm>
          <a:prstGeom prst="rect">
            <a:avLst/>
          </a:prstGeom>
        </p:spPr>
      </p:pic>
      <p:sp>
        <p:nvSpPr>
          <p:cNvPr id="22" name="TextBox 21"/>
          <p:cNvSpPr txBox="1"/>
          <p:nvPr/>
        </p:nvSpPr>
        <p:spPr>
          <a:xfrm>
            <a:off x="4466234" y="5111496"/>
            <a:ext cx="3259226" cy="365760"/>
          </a:xfrm>
          <a:prstGeom prst="rect">
            <a:avLst/>
          </a:prstGeom>
          <a:noFill/>
        </p:spPr>
        <p:txBody>
          <a:bodyPr wrap="square" anchor="t" lIns="0" rIns="0" tIns="0" bIns="0">
            <a:spAutoFit/>
          </a:bodyPr>
          <a:lstStyle/>
          <a:p>
            <a:pPr algn="l"/>
            <a:r>
              <a:rPr sz="1300" b="0">
                <a:solidFill>
                  <a:srgbClr val="1C1A16"/>
                </a:solidFill>
                <a:latin typeface="Inter SemiBold"/>
              </a:rPr>
              <a:t>The cost</a:t>
            </a:r>
          </a:p>
        </p:txBody>
      </p:sp>
      <p:cxnSp>
        <p:nvCxnSpPr>
          <p:cNvPr id="23" name="Connector 22"/>
          <p:cNvCxnSpPr/>
          <p:nvPr/>
        </p:nvCxnSpPr>
        <p:spPr>
          <a:xfrm>
            <a:off x="4466234" y="5413248"/>
            <a:ext cx="1368875" cy="0"/>
          </a:xfrm>
          <a:prstGeom prst="line">
            <a:avLst/>
          </a:prstGeom>
          <a:ln w="27940">
            <a:solidFill>
              <a:srgbClr val="BB2D23"/>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6234" y="5532120"/>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Adding a fourth type means hunting down and editing every place that builds a task.</a:t>
            </a:r>
          </a:p>
        </p:txBody>
      </p:sp>
      <p:sp>
        <p:nvSpPr>
          <p:cNvPr id="25" name="Rounded Rectangle 24"/>
          <p:cNvSpPr/>
          <p:nvPr/>
        </p:nvSpPr>
        <p:spPr>
          <a:xfrm>
            <a:off x="8182660" y="4526280"/>
            <a:ext cx="457200" cy="457200"/>
          </a:xfrm>
          <a:prstGeom prst="roundRect">
            <a:avLst>
              <a:gd name="adj" fmla="val 30000"/>
            </a:avLst>
          </a:prstGeom>
          <a:solidFill>
            <a:srgbClr val="E6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agic-wand-01__green.png"/>
          <p:cNvPicPr>
            <a:picLocks noChangeAspect="1"/>
          </p:cNvPicPr>
          <p:nvPr/>
        </p:nvPicPr>
        <p:blipFill>
          <a:blip r:embed="rId4"/>
          <a:stretch>
            <a:fillRect/>
          </a:stretch>
        </p:blipFill>
        <p:spPr>
          <a:xfrm>
            <a:off x="8283244" y="4626864"/>
            <a:ext cx="256032" cy="256032"/>
          </a:xfrm>
          <a:prstGeom prst="rect">
            <a:avLst/>
          </a:prstGeom>
        </p:spPr>
      </p:pic>
      <p:sp>
        <p:nvSpPr>
          <p:cNvPr id="27" name="TextBox 26"/>
          <p:cNvSpPr txBox="1"/>
          <p:nvPr/>
        </p:nvSpPr>
        <p:spPr>
          <a:xfrm>
            <a:off x="8182660" y="5111496"/>
            <a:ext cx="3259226" cy="365760"/>
          </a:xfrm>
          <a:prstGeom prst="rect">
            <a:avLst/>
          </a:prstGeom>
          <a:noFill/>
        </p:spPr>
        <p:txBody>
          <a:bodyPr wrap="square" anchor="t" lIns="0" rIns="0" tIns="0" bIns="0">
            <a:spAutoFit/>
          </a:bodyPr>
          <a:lstStyle/>
          <a:p>
            <a:pPr algn="l"/>
            <a:r>
              <a:rPr sz="1300" b="0">
                <a:solidFill>
                  <a:srgbClr val="1C1A16"/>
                </a:solidFill>
                <a:latin typeface="Inter SemiBold"/>
              </a:rPr>
              <a:t>What we need</a:t>
            </a:r>
          </a:p>
        </p:txBody>
      </p:sp>
      <p:cxnSp>
        <p:nvCxnSpPr>
          <p:cNvPr id="28" name="Connector 27"/>
          <p:cNvCxnSpPr/>
          <p:nvPr/>
        </p:nvCxnSpPr>
        <p:spPr>
          <a:xfrm>
            <a:off x="8182660" y="5413248"/>
            <a:ext cx="1368875" cy="0"/>
          </a:xfrm>
          <a:prstGeom prst="line">
            <a:avLst/>
          </a:prstGeom>
          <a:ln w="27940">
            <a:solidFill>
              <a:srgbClr val="1E7A4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182660" y="5532120"/>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We need to make a task from a type identifier, so the caller never names a concrete class.</a:t>
            </a:r>
          </a:p>
        </p:txBody>
      </p:sp>
      <p:sp>
        <p:nvSpPr>
          <p:cNvPr id="30" name="TextBox 29"/>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1" name="TextBox 30"/>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06 / 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PROBLEM DEFINITION  ·  PROBLEM 2</a:t>
            </a:r>
          </a:p>
        </p:txBody>
      </p:sp>
      <p:sp>
        <p:nvSpPr>
          <p:cNvPr id="4" name="Rounded Rectangle 3"/>
          <p:cNvSpPr/>
          <p:nvPr/>
        </p:nvSpPr>
        <p:spPr>
          <a:xfrm>
            <a:off x="9613087"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4A45C7"/>
                </a:solidFill>
                <a:latin typeface="Inter SemiBold"/>
              </a:rPr>
              <a:t>SECTION 1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Ordering depends on the moment.</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The same task list is sorted differently at different times. The list never changes; only the rule does.</a:t>
            </a:r>
          </a:p>
        </p:txBody>
      </p:sp>
      <p:sp>
        <p:nvSpPr>
          <p:cNvPr id="12" name="Rounded Rectangle 11"/>
          <p:cNvSpPr/>
          <p:nvPr/>
        </p:nvSpPr>
        <p:spPr>
          <a:xfrm>
            <a:off x="749808" y="2697480"/>
            <a:ext cx="10692079" cy="1596072"/>
          </a:xfrm>
          <a:prstGeom prst="roundRect">
            <a:avLst>
              <a:gd name="adj" fmla="val 4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697480"/>
            <a:ext cx="10692079" cy="0"/>
          </a:xfrm>
          <a:prstGeom prst="line">
            <a:avLst/>
          </a:prstGeom>
          <a:ln w="27940">
            <a:solidFill>
              <a:srgbClr val="0E7C72"/>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6384" y="2825496"/>
            <a:ext cx="10618927" cy="1413192"/>
          </a:xfrm>
          <a:prstGeom prst="rect">
            <a:avLst/>
          </a:prstGeom>
          <a:noFill/>
        </p:spPr>
        <p:txBody>
          <a:bodyPr wrap="none" anchor="t" lIns="237744" rIns="164592" tIns="54864" bIns="54864">
            <a:spAutoFit/>
          </a:bodyPr>
          <a:lstStyle/>
          <a:p>
            <a:pPr algn="l">
              <a:lnSpc>
                <a:spcPct val="142000"/>
              </a:lnSpc>
            </a:pPr>
            <a:r>
              <a:rPr sz="1250">
                <a:solidFill>
                  <a:srgbClr val="8250DF"/>
                </a:solidFill>
                <a:latin typeface="Consolas"/>
              </a:rPr>
              <a:t>switch</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sortMode</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a:t>
            </a:r>
          </a:p>
          <a:p>
            <a:pPr algn="l">
              <a:lnSpc>
                <a:spcPct val="142000"/>
              </a:lnSpc>
            </a:pPr>
            <a:r>
              <a:rPr sz="1250">
                <a:solidFill>
                  <a:srgbClr val="1C1A16"/>
                </a:solidFill>
                <a:latin typeface="Consolas"/>
              </a:rPr>
              <a:t>    </a:t>
            </a:r>
            <a:r>
              <a:rPr sz="1250">
                <a:solidFill>
                  <a:srgbClr val="8250DF"/>
                </a:solidFill>
                <a:latin typeface="Consolas"/>
              </a:rPr>
              <a:t>case</a:t>
            </a:r>
            <a:r>
              <a:rPr sz="1250">
                <a:solidFill>
                  <a:srgbClr val="1C1A16"/>
                </a:solidFill>
                <a:latin typeface="Consolas"/>
              </a:rPr>
              <a:t> </a:t>
            </a:r>
            <a:r>
              <a:rPr sz="1250">
                <a:solidFill>
                  <a:srgbClr val="0550AE"/>
                </a:solidFill>
                <a:latin typeface="Consolas"/>
              </a:rPr>
              <a:t>DEADLINE</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sort</a:t>
            </a:r>
            <a:r>
              <a:rPr sz="1250">
                <a:solidFill>
                  <a:srgbClr val="1C1A16"/>
                </a:solidFill>
                <a:latin typeface="Consolas"/>
              </a:rPr>
              <a:t> </a:t>
            </a:r>
            <a:r>
              <a:rPr sz="1250">
                <a:solidFill>
                  <a:srgbClr val="1C1A16"/>
                </a:solidFill>
                <a:latin typeface="Consolas"/>
              </a:rPr>
              <a:t>by</a:t>
            </a:r>
            <a:r>
              <a:rPr sz="1250">
                <a:solidFill>
                  <a:srgbClr val="1C1A16"/>
                </a:solidFill>
                <a:latin typeface="Consolas"/>
              </a:rPr>
              <a:t> </a:t>
            </a:r>
            <a:r>
              <a:rPr sz="1250">
                <a:solidFill>
                  <a:srgbClr val="1C1A16"/>
                </a:solidFill>
                <a:latin typeface="Consolas"/>
              </a:rPr>
              <a:t>due</a:t>
            </a:r>
            <a:r>
              <a:rPr sz="1250">
                <a:solidFill>
                  <a:srgbClr val="1C1A16"/>
                </a:solidFill>
                <a:latin typeface="Consolas"/>
              </a:rPr>
              <a:t> </a:t>
            </a:r>
            <a:r>
              <a:rPr sz="1250">
                <a:solidFill>
                  <a:srgbClr val="1C1A16"/>
                </a:solidFill>
                <a:latin typeface="Consolas"/>
              </a:rPr>
              <a:t>date</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break</a:t>
            </a:r>
            <a:r>
              <a:rPr sz="1250">
                <a:solidFill>
                  <a:srgbClr val="1C1A16"/>
                </a:solidFill>
                <a:latin typeface="Consolas"/>
              </a:rPr>
              <a:t>;</a:t>
            </a:r>
          </a:p>
          <a:p>
            <a:pPr algn="l">
              <a:lnSpc>
                <a:spcPct val="142000"/>
              </a:lnSpc>
            </a:pPr>
            <a:r>
              <a:rPr sz="1250">
                <a:solidFill>
                  <a:srgbClr val="1C1A16"/>
                </a:solidFill>
                <a:latin typeface="Consolas"/>
              </a:rPr>
              <a:t>    </a:t>
            </a:r>
            <a:r>
              <a:rPr sz="1250">
                <a:solidFill>
                  <a:srgbClr val="8250DF"/>
                </a:solidFill>
                <a:latin typeface="Consolas"/>
              </a:rPr>
              <a:t>case</a:t>
            </a:r>
            <a:r>
              <a:rPr sz="1250">
                <a:solidFill>
                  <a:srgbClr val="1C1A16"/>
                </a:solidFill>
                <a:latin typeface="Consolas"/>
              </a:rPr>
              <a:t> </a:t>
            </a:r>
            <a:r>
              <a:rPr sz="1250">
                <a:solidFill>
                  <a:srgbClr val="0550AE"/>
                </a:solidFill>
                <a:latin typeface="Consolas"/>
              </a:rPr>
              <a:t>SEVERITY</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bugs</a:t>
            </a:r>
            <a:r>
              <a:rPr sz="1250">
                <a:solidFill>
                  <a:srgbClr val="1C1A16"/>
                </a:solidFill>
                <a:latin typeface="Consolas"/>
              </a:rPr>
              <a:t> </a:t>
            </a:r>
            <a:r>
              <a:rPr sz="1250">
                <a:solidFill>
                  <a:srgbClr val="1C1A16"/>
                </a:solidFill>
                <a:latin typeface="Consolas"/>
              </a:rPr>
              <a:t>first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by</a:t>
            </a:r>
            <a:r>
              <a:rPr sz="1250">
                <a:solidFill>
                  <a:srgbClr val="1C1A16"/>
                </a:solidFill>
                <a:latin typeface="Consolas"/>
              </a:rPr>
              <a:t> </a:t>
            </a:r>
            <a:r>
              <a:rPr sz="1250">
                <a:solidFill>
                  <a:srgbClr val="1C1A16"/>
                </a:solidFill>
                <a:latin typeface="Consolas"/>
              </a:rPr>
              <a:t>rank</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break</a:t>
            </a:r>
            <a:r>
              <a:rPr sz="1250">
                <a:solidFill>
                  <a:srgbClr val="1C1A16"/>
                </a:solidFill>
                <a:latin typeface="Consolas"/>
              </a:rPr>
              <a:t>;</a:t>
            </a:r>
          </a:p>
          <a:p>
            <a:pPr algn="l">
              <a:lnSpc>
                <a:spcPct val="142000"/>
              </a:lnSpc>
            </a:pPr>
            <a:r>
              <a:rPr sz="1250">
                <a:solidFill>
                  <a:srgbClr val="1C1A16"/>
                </a:solidFill>
                <a:latin typeface="Consolas"/>
              </a:rPr>
              <a:t>    </a:t>
            </a:r>
            <a:r>
              <a:rPr sz="1250">
                <a:solidFill>
                  <a:srgbClr val="8250DF"/>
                </a:solidFill>
                <a:latin typeface="Consolas"/>
              </a:rPr>
              <a:t>case</a:t>
            </a:r>
            <a:r>
              <a:rPr sz="1250">
                <a:solidFill>
                  <a:srgbClr val="1C1A16"/>
                </a:solidFill>
                <a:latin typeface="Consolas"/>
              </a:rPr>
              <a:t> </a:t>
            </a:r>
            <a:r>
              <a:rPr sz="1250">
                <a:solidFill>
                  <a:srgbClr val="0550AE"/>
                </a:solidFill>
                <a:latin typeface="Consolas"/>
              </a:rPr>
              <a:t>URGENT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sort</a:t>
            </a:r>
            <a:r>
              <a:rPr sz="1250">
                <a:solidFill>
                  <a:srgbClr val="1C1A16"/>
                </a:solidFill>
                <a:latin typeface="Consolas"/>
              </a:rPr>
              <a:t> </a:t>
            </a:r>
            <a:r>
              <a:rPr sz="1250">
                <a:solidFill>
                  <a:srgbClr val="1C1A16"/>
                </a:solidFill>
                <a:latin typeface="Consolas"/>
              </a:rPr>
              <a:t>by</a:t>
            </a:r>
            <a:r>
              <a:rPr sz="1250">
                <a:solidFill>
                  <a:srgbClr val="1C1A16"/>
                </a:solidFill>
                <a:latin typeface="Consolas"/>
              </a:rPr>
              <a:t> </a:t>
            </a:r>
            <a:r>
              <a:rPr sz="1250">
                <a:solidFill>
                  <a:srgbClr val="1C1A16"/>
                </a:solidFill>
                <a:latin typeface="Consolas"/>
              </a:rPr>
              <a:t>priority</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break</a:t>
            </a:r>
            <a:r>
              <a:rPr sz="1250">
                <a:solidFill>
                  <a:srgbClr val="1C1A16"/>
                </a:solidFill>
                <a:latin typeface="Consolas"/>
              </a:rPr>
              <a:t>;</a:t>
            </a:r>
          </a:p>
          <a:p>
            <a:pPr algn="l">
              <a:lnSpc>
                <a:spcPct val="142000"/>
              </a:lnSpc>
            </a:pPr>
            <a:r>
              <a:rPr sz="1250">
                <a:solidFill>
                  <a:srgbClr val="1C1A16"/>
                </a:solidFill>
                <a:latin typeface="Consolas"/>
              </a:rPr>
              <a:t>}</a:t>
            </a:r>
          </a:p>
        </p:txBody>
      </p:sp>
      <p:sp>
        <p:nvSpPr>
          <p:cNvPr id="15" name="Rounded Rectangle 14"/>
          <p:cNvSpPr/>
          <p:nvPr/>
        </p:nvSpPr>
        <p:spPr>
          <a:xfrm>
            <a:off x="749808" y="4590288"/>
            <a:ext cx="457200" cy="457200"/>
          </a:xfrm>
          <a:prstGeom prst="roundRect">
            <a:avLst>
              <a:gd name="adj" fmla="val 30000"/>
            </a:avLst>
          </a:prstGeom>
          <a:solidFill>
            <a:srgbClr val="F5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lert-triangle__amber.png"/>
          <p:cNvPicPr>
            <a:picLocks noChangeAspect="1"/>
          </p:cNvPicPr>
          <p:nvPr/>
        </p:nvPicPr>
        <p:blipFill>
          <a:blip r:embed="rId2"/>
          <a:stretch>
            <a:fillRect/>
          </a:stretch>
        </p:blipFill>
        <p:spPr>
          <a:xfrm>
            <a:off x="850391" y="4690872"/>
            <a:ext cx="256032" cy="256032"/>
          </a:xfrm>
          <a:prstGeom prst="rect">
            <a:avLst/>
          </a:prstGeom>
        </p:spPr>
      </p:pic>
      <p:sp>
        <p:nvSpPr>
          <p:cNvPr id="17" name="TextBox 16"/>
          <p:cNvSpPr txBox="1"/>
          <p:nvPr/>
        </p:nvSpPr>
        <p:spPr>
          <a:xfrm>
            <a:off x="749808" y="5175503"/>
            <a:ext cx="3259226" cy="365760"/>
          </a:xfrm>
          <a:prstGeom prst="rect">
            <a:avLst/>
          </a:prstGeom>
          <a:noFill/>
        </p:spPr>
        <p:txBody>
          <a:bodyPr wrap="square" anchor="t" lIns="0" rIns="0" tIns="0" bIns="0">
            <a:spAutoFit/>
          </a:bodyPr>
          <a:lstStyle/>
          <a:p>
            <a:pPr algn="l"/>
            <a:r>
              <a:rPr sz="1300" b="0">
                <a:solidFill>
                  <a:srgbClr val="1C1A16"/>
                </a:solidFill>
                <a:latin typeface="Inter SemiBold"/>
              </a:rPr>
              <a:t>The flaw</a:t>
            </a:r>
          </a:p>
        </p:txBody>
      </p:sp>
      <p:cxnSp>
        <p:nvCxnSpPr>
          <p:cNvPr id="18" name="Connector 17"/>
          <p:cNvCxnSpPr/>
          <p:nvPr/>
        </p:nvCxnSpPr>
        <p:spPr>
          <a:xfrm>
            <a:off x="749808" y="5477255"/>
            <a:ext cx="1368875" cy="0"/>
          </a:xfrm>
          <a:prstGeom prst="line">
            <a:avLst/>
          </a:prstGeom>
          <a:ln w="27940">
            <a:solidFill>
              <a:srgbClr val="B5760C"/>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49808" y="5596127"/>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One switch statement inside the manager grows to carry every ordering rule.</a:t>
            </a:r>
          </a:p>
        </p:txBody>
      </p:sp>
      <p:sp>
        <p:nvSpPr>
          <p:cNvPr id="20" name="Rounded Rectangle 19"/>
          <p:cNvSpPr/>
          <p:nvPr/>
        </p:nvSpPr>
        <p:spPr>
          <a:xfrm>
            <a:off x="4466234" y="4590288"/>
            <a:ext cx="457200" cy="457200"/>
          </a:xfrm>
          <a:prstGeom prst="roundRect">
            <a:avLst>
              <a:gd name="adj" fmla="val 30000"/>
            </a:avLst>
          </a:prstGeom>
          <a:solidFill>
            <a:srgbClr val="F7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it-branch-01__red.png"/>
          <p:cNvPicPr>
            <a:picLocks noChangeAspect="1"/>
          </p:cNvPicPr>
          <p:nvPr/>
        </p:nvPicPr>
        <p:blipFill>
          <a:blip r:embed="rId3"/>
          <a:stretch>
            <a:fillRect/>
          </a:stretch>
        </p:blipFill>
        <p:spPr>
          <a:xfrm>
            <a:off x="4566818" y="4690872"/>
            <a:ext cx="256032" cy="256032"/>
          </a:xfrm>
          <a:prstGeom prst="rect">
            <a:avLst/>
          </a:prstGeom>
        </p:spPr>
      </p:pic>
      <p:sp>
        <p:nvSpPr>
          <p:cNvPr id="22" name="TextBox 21"/>
          <p:cNvSpPr txBox="1"/>
          <p:nvPr/>
        </p:nvSpPr>
        <p:spPr>
          <a:xfrm>
            <a:off x="4466234" y="5175503"/>
            <a:ext cx="3259226" cy="365760"/>
          </a:xfrm>
          <a:prstGeom prst="rect">
            <a:avLst/>
          </a:prstGeom>
          <a:noFill/>
        </p:spPr>
        <p:txBody>
          <a:bodyPr wrap="square" anchor="t" lIns="0" rIns="0" tIns="0" bIns="0">
            <a:spAutoFit/>
          </a:bodyPr>
          <a:lstStyle/>
          <a:p>
            <a:pPr algn="l"/>
            <a:r>
              <a:rPr sz="1300" b="0">
                <a:solidFill>
                  <a:srgbClr val="1C1A16"/>
                </a:solidFill>
                <a:latin typeface="Inter SemiBold"/>
              </a:rPr>
              <a:t>The cost</a:t>
            </a:r>
          </a:p>
        </p:txBody>
      </p:sp>
      <p:cxnSp>
        <p:nvCxnSpPr>
          <p:cNvPr id="23" name="Connector 22"/>
          <p:cNvCxnSpPr/>
          <p:nvPr/>
        </p:nvCxnSpPr>
        <p:spPr>
          <a:xfrm>
            <a:off x="4466234" y="5477255"/>
            <a:ext cx="1368875" cy="0"/>
          </a:xfrm>
          <a:prstGeom prst="line">
            <a:avLst/>
          </a:prstGeom>
          <a:ln w="27940">
            <a:solidFill>
              <a:srgbClr val="BB2D23"/>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6234" y="5596127"/>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Each new context edits tested code, which breaks the Open/Closed principle.</a:t>
            </a:r>
          </a:p>
        </p:txBody>
      </p:sp>
      <p:sp>
        <p:nvSpPr>
          <p:cNvPr id="25" name="Rounded Rectangle 24"/>
          <p:cNvSpPr/>
          <p:nvPr/>
        </p:nvSpPr>
        <p:spPr>
          <a:xfrm>
            <a:off x="8182660" y="4590288"/>
            <a:ext cx="457200" cy="457200"/>
          </a:xfrm>
          <a:prstGeom prst="roundRect">
            <a:avLst>
              <a:gd name="adj" fmla="val 30000"/>
            </a:avLst>
          </a:prstGeom>
          <a:solidFill>
            <a:srgbClr val="E6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agic-wand-01__green.png"/>
          <p:cNvPicPr>
            <a:picLocks noChangeAspect="1"/>
          </p:cNvPicPr>
          <p:nvPr/>
        </p:nvPicPr>
        <p:blipFill>
          <a:blip r:embed="rId4"/>
          <a:stretch>
            <a:fillRect/>
          </a:stretch>
        </p:blipFill>
        <p:spPr>
          <a:xfrm>
            <a:off x="8283244" y="4690872"/>
            <a:ext cx="256032" cy="256032"/>
          </a:xfrm>
          <a:prstGeom prst="rect">
            <a:avLst/>
          </a:prstGeom>
        </p:spPr>
      </p:pic>
      <p:sp>
        <p:nvSpPr>
          <p:cNvPr id="27" name="TextBox 26"/>
          <p:cNvSpPr txBox="1"/>
          <p:nvPr/>
        </p:nvSpPr>
        <p:spPr>
          <a:xfrm>
            <a:off x="8182660" y="5175503"/>
            <a:ext cx="3259226" cy="365760"/>
          </a:xfrm>
          <a:prstGeom prst="rect">
            <a:avLst/>
          </a:prstGeom>
          <a:noFill/>
        </p:spPr>
        <p:txBody>
          <a:bodyPr wrap="square" anchor="t" lIns="0" rIns="0" tIns="0" bIns="0">
            <a:spAutoFit/>
          </a:bodyPr>
          <a:lstStyle/>
          <a:p>
            <a:pPr algn="l"/>
            <a:r>
              <a:rPr sz="1300" b="0">
                <a:solidFill>
                  <a:srgbClr val="1C1A16"/>
                </a:solidFill>
                <a:latin typeface="Inter SemiBold"/>
              </a:rPr>
              <a:t>What we need</a:t>
            </a:r>
          </a:p>
        </p:txBody>
      </p:sp>
      <p:cxnSp>
        <p:nvCxnSpPr>
          <p:cNvPr id="28" name="Connector 27"/>
          <p:cNvCxnSpPr/>
          <p:nvPr/>
        </p:nvCxnSpPr>
        <p:spPr>
          <a:xfrm>
            <a:off x="8182660" y="5477255"/>
            <a:ext cx="1368875" cy="0"/>
          </a:xfrm>
          <a:prstGeom prst="line">
            <a:avLst/>
          </a:prstGeom>
          <a:ln w="27940">
            <a:solidFill>
              <a:srgbClr val="1E7A4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182660" y="5596127"/>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The ordering should swap at runtime, and new orderings should drop in without touching the manager.</a:t>
            </a:r>
          </a:p>
        </p:txBody>
      </p:sp>
      <p:sp>
        <p:nvSpPr>
          <p:cNvPr id="30" name="TextBox 29"/>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1" name="TextBox 30"/>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07 / 32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7C3AED"/>
        </a:solidFill>
        <a:effectLst/>
      </p:bgPr>
    </p:bg>
    <p:spTree>
      <p:nvGrpSpPr>
        <p:cNvPr id="1" name=""/>
        <p:cNvGrpSpPr/>
        <p:nvPr/>
      </p:nvGrpSpPr>
      <p:grpSpPr/>
      <p:sp>
        <p:nvSpPr>
          <p:cNvPr id="2" name="TextBox 1"/>
          <p:cNvSpPr txBox="1"/>
          <p:nvPr/>
        </p:nvSpPr>
        <p:spPr>
          <a:xfrm>
            <a:off x="749808" y="603504"/>
            <a:ext cx="8229600" cy="274320"/>
          </a:xfrm>
          <a:prstGeom prst="rect">
            <a:avLst/>
          </a:prstGeom>
          <a:noFill/>
        </p:spPr>
        <p:txBody>
          <a:bodyPr wrap="square" anchor="t" lIns="0" rIns="0" tIns="0" bIns="0">
            <a:spAutoFit/>
          </a:bodyPr>
          <a:lstStyle/>
          <a:p>
            <a:pPr algn="l"/>
            <a:r>
              <a:rPr sz="1100" b="1" spc="280">
                <a:solidFill>
                  <a:srgbClr val="FFFFFF"/>
                </a:solidFill>
                <a:latin typeface="Inter SemiBold"/>
              </a:rPr>
              <a:t>SECTION 02</a:t>
            </a:r>
          </a:p>
        </p:txBody>
      </p:sp>
      <p:sp>
        <p:nvSpPr>
          <p:cNvPr id="3" name="Rounded Rectangle 2"/>
          <p:cNvSpPr/>
          <p:nvPr/>
        </p:nvSpPr>
        <p:spPr>
          <a:xfrm>
            <a:off x="9613087" y="640080"/>
            <a:ext cx="292608" cy="64008"/>
          </a:xfrm>
          <a:prstGeom prst="roundRect">
            <a:avLst>
              <a:gd name="adj" fmla="val 50000"/>
            </a:avLst>
          </a:prstGeom>
          <a:solidFill>
            <a:srgbClr val="A37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97135" y="640080"/>
            <a:ext cx="292608" cy="640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381183" y="640080"/>
            <a:ext cx="292608" cy="64008"/>
          </a:xfrm>
          <a:prstGeom prst="roundRect">
            <a:avLst>
              <a:gd name="adj" fmla="val 50000"/>
            </a:avLst>
          </a:prstGeom>
          <a:solidFill>
            <a:srgbClr val="A37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65231" y="640080"/>
            <a:ext cx="292608" cy="64008"/>
          </a:xfrm>
          <a:prstGeom prst="roundRect">
            <a:avLst>
              <a:gd name="adj" fmla="val 50000"/>
            </a:avLst>
          </a:prstGeom>
          <a:solidFill>
            <a:srgbClr val="A37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49279" y="640080"/>
            <a:ext cx="292608" cy="64008"/>
          </a:xfrm>
          <a:prstGeom prst="roundRect">
            <a:avLst>
              <a:gd name="adj" fmla="val 50000"/>
            </a:avLst>
          </a:prstGeom>
          <a:solidFill>
            <a:srgbClr val="A37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E7DCFC"/>
                </a:solidFill>
                <a:latin typeface="Inter SemiBold"/>
              </a:rPr>
              <a:t>SECTION 2 / 5</a:t>
            </a:r>
          </a:p>
        </p:txBody>
      </p:sp>
      <p:pic>
        <p:nvPicPr>
          <p:cNvPr id="9" name="Picture 8" descr="puzzle-piece-01__white.png"/>
          <p:cNvPicPr>
            <a:picLocks noChangeAspect="1"/>
          </p:cNvPicPr>
          <p:nvPr/>
        </p:nvPicPr>
        <p:blipFill>
          <a:blip r:embed="rId2"/>
          <a:stretch>
            <a:fillRect/>
          </a:stretch>
        </p:blipFill>
        <p:spPr>
          <a:xfrm>
            <a:off x="9590227" y="1165860"/>
            <a:ext cx="1417320" cy="1417320"/>
          </a:xfrm>
          <a:prstGeom prst="rect">
            <a:avLst/>
          </a:prstGeom>
        </p:spPr>
      </p:pic>
      <p:cxnSp>
        <p:nvCxnSpPr>
          <p:cNvPr id="10" name="Connector 9"/>
          <p:cNvCxnSpPr/>
          <p:nvPr/>
        </p:nvCxnSpPr>
        <p:spPr>
          <a:xfrm>
            <a:off x="749808" y="3017520"/>
            <a:ext cx="10692079" cy="0"/>
          </a:xfrm>
          <a:prstGeom prst="line">
            <a:avLst/>
          </a:prstGeom>
          <a:ln w="20320">
            <a:solidFill>
              <a:srgbClr val="BB99F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3291840"/>
            <a:ext cx="9411919" cy="1280160"/>
          </a:xfrm>
          <a:prstGeom prst="rect">
            <a:avLst/>
          </a:prstGeom>
          <a:noFill/>
        </p:spPr>
        <p:txBody>
          <a:bodyPr wrap="square" anchor="t" lIns="0" rIns="0" tIns="0" bIns="0">
            <a:spAutoFit/>
          </a:bodyPr>
          <a:lstStyle/>
          <a:p>
            <a:pPr algn="l">
              <a:lnSpc>
                <a:spcPct val="105000"/>
              </a:lnSpc>
            </a:pPr>
            <a:r>
              <a:rPr sz="3700" b="0">
                <a:solidFill>
                  <a:srgbClr val="FFFFFF"/>
                </a:solidFill>
                <a:latin typeface="Spectral SemiBold"/>
              </a:rPr>
              <a:t>The design patterns.</a:t>
            </a:r>
          </a:p>
        </p:txBody>
      </p:sp>
      <p:sp>
        <p:nvSpPr>
          <p:cNvPr id="12" name="TextBox 11"/>
          <p:cNvSpPr txBox="1"/>
          <p:nvPr/>
        </p:nvSpPr>
        <p:spPr>
          <a:xfrm>
            <a:off x="749808" y="4370832"/>
            <a:ext cx="8680399" cy="914400"/>
          </a:xfrm>
          <a:prstGeom prst="rect">
            <a:avLst/>
          </a:prstGeom>
          <a:noFill/>
        </p:spPr>
        <p:txBody>
          <a:bodyPr wrap="square" anchor="t" lIns="0" rIns="0" tIns="0" bIns="0">
            <a:spAutoFit/>
          </a:bodyPr>
          <a:lstStyle/>
          <a:p>
            <a:pPr algn="l">
              <a:lnSpc>
                <a:spcPct val="142000"/>
              </a:lnSpc>
            </a:pPr>
            <a:r>
              <a:rPr sz="1400" b="0">
                <a:solidFill>
                  <a:srgbClr val="E7DCFC"/>
                </a:solidFill>
                <a:latin typeface="Inter"/>
              </a:rPr>
              <a:t>Two patterns chosen to match the two problems, plus a third that the task lifecycle gave us at no extra cost.</a:t>
            </a:r>
          </a:p>
        </p:txBody>
      </p:sp>
      <p:sp>
        <p:nvSpPr>
          <p:cNvPr id="13" name="Rounded Rectangle 12"/>
          <p:cNvSpPr/>
          <p:nvPr/>
        </p:nvSpPr>
        <p:spPr>
          <a:xfrm>
            <a:off x="749808" y="5596128"/>
            <a:ext cx="6382512" cy="493776"/>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24127" y="5797296"/>
            <a:ext cx="237744" cy="91440"/>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53312" y="5678424"/>
            <a:ext cx="2743200" cy="329184"/>
          </a:xfrm>
          <a:prstGeom prst="rect">
            <a:avLst/>
          </a:prstGeom>
          <a:noFill/>
        </p:spPr>
        <p:txBody>
          <a:bodyPr wrap="square" anchor="t" lIns="0" rIns="0" tIns="0" bIns="0">
            <a:spAutoFit/>
          </a:bodyPr>
          <a:lstStyle/>
          <a:p>
            <a:pPr algn="l"/>
            <a:r>
              <a:rPr sz="1150" b="0">
                <a:solidFill>
                  <a:srgbClr val="1C1A16"/>
                </a:solidFill>
                <a:latin typeface="Inter SemiBold"/>
              </a:rPr>
              <a:t>Factory Method  </a:t>
            </a:r>
            <a:r>
              <a:rPr sz="1000" b="0">
                <a:solidFill>
                  <a:srgbClr val="8C877D"/>
                </a:solidFill>
                <a:latin typeface="Inter"/>
              </a:rPr>
              <a:t>creational</a:t>
            </a:r>
          </a:p>
        </p:txBody>
      </p:sp>
      <p:sp>
        <p:nvSpPr>
          <p:cNvPr id="16" name="Rounded Rectangle 15"/>
          <p:cNvSpPr/>
          <p:nvPr/>
        </p:nvSpPr>
        <p:spPr>
          <a:xfrm>
            <a:off x="3346704" y="5797296"/>
            <a:ext cx="237744" cy="91440"/>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5678424"/>
            <a:ext cx="2743200" cy="329184"/>
          </a:xfrm>
          <a:prstGeom prst="rect">
            <a:avLst/>
          </a:prstGeom>
          <a:noFill/>
        </p:spPr>
        <p:txBody>
          <a:bodyPr wrap="square" anchor="t" lIns="0" rIns="0" tIns="0" bIns="0">
            <a:spAutoFit/>
          </a:bodyPr>
          <a:lstStyle/>
          <a:p>
            <a:pPr algn="l"/>
            <a:r>
              <a:rPr sz="1150" b="0">
                <a:solidFill>
                  <a:srgbClr val="1C1A16"/>
                </a:solidFill>
                <a:latin typeface="Inter SemiBold"/>
              </a:rPr>
              <a:t>Strategy  </a:t>
            </a:r>
            <a:r>
              <a:rPr sz="1000" b="0">
                <a:solidFill>
                  <a:srgbClr val="8C877D"/>
                </a:solidFill>
                <a:latin typeface="Inter"/>
              </a:rPr>
              <a:t>behavioural</a:t>
            </a:r>
          </a:p>
        </p:txBody>
      </p:sp>
      <p:sp>
        <p:nvSpPr>
          <p:cNvPr id="18" name="Rounded Rectangle 17"/>
          <p:cNvSpPr/>
          <p:nvPr/>
        </p:nvSpPr>
        <p:spPr>
          <a:xfrm>
            <a:off x="5193792" y="5797296"/>
            <a:ext cx="237744" cy="91440"/>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22976" y="5678424"/>
            <a:ext cx="2743200" cy="329184"/>
          </a:xfrm>
          <a:prstGeom prst="rect">
            <a:avLst/>
          </a:prstGeom>
          <a:noFill/>
        </p:spPr>
        <p:txBody>
          <a:bodyPr wrap="square" anchor="t" lIns="0" rIns="0" tIns="0" bIns="0">
            <a:spAutoFit/>
          </a:bodyPr>
          <a:lstStyle/>
          <a:p>
            <a:pPr algn="l"/>
            <a:r>
              <a:rPr sz="1150" b="0">
                <a:solidFill>
                  <a:srgbClr val="1C1A16"/>
                </a:solidFill>
                <a:latin typeface="Inter SemiBold"/>
              </a:rPr>
              <a:t>State  </a:t>
            </a:r>
            <a:r>
              <a:rPr sz="1000" b="0">
                <a:solidFill>
                  <a:srgbClr val="8C877D"/>
                </a:solidFill>
                <a:latin typeface="Inter"/>
              </a:rPr>
              <a:t>behavioural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7C3AED"/>
                </a:solidFill>
                <a:latin typeface="Inter SemiBold"/>
              </a:rPr>
              <a:t>PATTERN SELECTION</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7C3AED"/>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Matching patterns to problems.</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We did not start from the patterns. We started from the two problems, and each one maps cleanly to a single pattern.</a:t>
            </a:r>
          </a:p>
        </p:txBody>
      </p:sp>
      <p:sp>
        <p:nvSpPr>
          <p:cNvPr id="12" name="Rounded Rectangle 11"/>
          <p:cNvSpPr/>
          <p:nvPr/>
        </p:nvSpPr>
        <p:spPr>
          <a:xfrm>
            <a:off x="749808" y="2743200"/>
            <a:ext cx="10692079" cy="914400"/>
          </a:xfrm>
          <a:prstGeom prst="roundRect">
            <a:avLst>
              <a:gd name="adj" fmla="val 5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50976" y="2962656"/>
            <a:ext cx="475488" cy="475488"/>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ackage__clay.png"/>
          <p:cNvPicPr>
            <a:picLocks noChangeAspect="1"/>
          </p:cNvPicPr>
          <p:nvPr/>
        </p:nvPicPr>
        <p:blipFill>
          <a:blip r:embed="rId2"/>
          <a:stretch>
            <a:fillRect/>
          </a:stretch>
        </p:blipFill>
        <p:spPr>
          <a:xfrm>
            <a:off x="1055583" y="3067263"/>
            <a:ext cx="266273" cy="266273"/>
          </a:xfrm>
          <a:prstGeom prst="rect">
            <a:avLst/>
          </a:prstGeom>
        </p:spPr>
      </p:pic>
      <p:sp>
        <p:nvSpPr>
          <p:cNvPr id="15" name="TextBox 14"/>
          <p:cNvSpPr txBox="1"/>
          <p:nvPr/>
        </p:nvSpPr>
        <p:spPr>
          <a:xfrm>
            <a:off x="1664207" y="2743200"/>
            <a:ext cx="3383280" cy="914400"/>
          </a:xfrm>
          <a:prstGeom prst="rect">
            <a:avLst/>
          </a:prstGeom>
          <a:noFill/>
        </p:spPr>
        <p:txBody>
          <a:bodyPr wrap="square" anchor="ctr" lIns="0" rIns="0" tIns="0" bIns="0">
            <a:spAutoFit/>
          </a:bodyPr>
          <a:lstStyle/>
          <a:p>
            <a:pPr algn="l">
              <a:lnSpc>
                <a:spcPct val="125000"/>
              </a:lnSpc>
            </a:pPr>
            <a:r>
              <a:rPr sz="1200" b="0">
                <a:solidFill>
                  <a:srgbClr val="57534B"/>
                </a:solidFill>
                <a:latin typeface="Inter"/>
              </a:rPr>
              <a:t>Problem 1  ·  different creation logic</a:t>
            </a:r>
          </a:p>
        </p:txBody>
      </p:sp>
      <p:pic>
        <p:nvPicPr>
          <p:cNvPr id="16" name="Picture 15" descr="arrow-narrow-right__mute.png"/>
          <p:cNvPicPr>
            <a:picLocks noChangeAspect="1"/>
          </p:cNvPicPr>
          <p:nvPr/>
        </p:nvPicPr>
        <p:blipFill>
          <a:blip r:embed="rId3"/>
          <a:stretch>
            <a:fillRect/>
          </a:stretch>
        </p:blipFill>
        <p:spPr>
          <a:xfrm>
            <a:off x="5212080" y="3044952"/>
            <a:ext cx="310896" cy="310896"/>
          </a:xfrm>
          <a:prstGeom prst="rect">
            <a:avLst/>
          </a:prstGeom>
        </p:spPr>
      </p:pic>
      <p:sp>
        <p:nvSpPr>
          <p:cNvPr id="17" name="TextBox 16"/>
          <p:cNvSpPr txBox="1"/>
          <p:nvPr/>
        </p:nvSpPr>
        <p:spPr>
          <a:xfrm>
            <a:off x="5687568" y="2743200"/>
            <a:ext cx="2926080" cy="914400"/>
          </a:xfrm>
          <a:prstGeom prst="rect">
            <a:avLst/>
          </a:prstGeom>
          <a:noFill/>
        </p:spPr>
        <p:txBody>
          <a:bodyPr wrap="square" anchor="ctr" lIns="0" rIns="0" tIns="0" bIns="0">
            <a:spAutoFit/>
          </a:bodyPr>
          <a:lstStyle/>
          <a:p>
            <a:pPr algn="l"/>
            <a:r>
              <a:rPr sz="1600" b="0">
                <a:solidFill>
                  <a:srgbClr val="BC5A2B"/>
                </a:solidFill>
                <a:latin typeface="Spectral SemiBold"/>
              </a:rPr>
              <a:t>Factory Method</a:t>
            </a:r>
          </a:p>
          <a:p>
            <a:pPr algn="l">
              <a:spcBef>
                <a:spcPts val="100"/>
              </a:spcBef>
            </a:pPr>
            <a:r>
              <a:rPr sz="1000" b="0">
                <a:solidFill>
                  <a:srgbClr val="8C877D"/>
                </a:solidFill>
                <a:latin typeface="Inter Medium"/>
              </a:rPr>
              <a:t>Creational pattern</a:t>
            </a:r>
          </a:p>
        </p:txBody>
      </p:sp>
      <p:sp>
        <p:nvSpPr>
          <p:cNvPr id="18" name="TextBox 17"/>
          <p:cNvSpPr txBox="1"/>
          <p:nvPr/>
        </p:nvSpPr>
        <p:spPr>
          <a:xfrm>
            <a:off x="8567928" y="2743200"/>
            <a:ext cx="2599639" cy="914400"/>
          </a:xfrm>
          <a:prstGeom prst="rect">
            <a:avLst/>
          </a:prstGeom>
          <a:noFill/>
        </p:spPr>
        <p:txBody>
          <a:bodyPr wrap="square" anchor="ctr" lIns="0" rIns="0" tIns="0" bIns="0">
            <a:spAutoFit/>
          </a:bodyPr>
          <a:lstStyle/>
          <a:p>
            <a:pPr algn="l">
              <a:lnSpc>
                <a:spcPct val="125000"/>
              </a:lnSpc>
            </a:pPr>
            <a:r>
              <a:rPr sz="1150" b="0">
                <a:solidFill>
                  <a:srgbClr val="57534B"/>
                </a:solidFill>
                <a:latin typeface="Inter"/>
              </a:rPr>
              <a:t>Decouples the caller from the concrete task classes.</a:t>
            </a:r>
          </a:p>
        </p:txBody>
      </p:sp>
      <p:sp>
        <p:nvSpPr>
          <p:cNvPr id="19" name="Rounded Rectangle 18"/>
          <p:cNvSpPr/>
          <p:nvPr/>
        </p:nvSpPr>
        <p:spPr>
          <a:xfrm>
            <a:off x="749808" y="3822191"/>
            <a:ext cx="10692079" cy="914400"/>
          </a:xfrm>
          <a:prstGeom prst="roundRect">
            <a:avLst>
              <a:gd name="adj" fmla="val 5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50976" y="4041648"/>
            <a:ext cx="475488" cy="475488"/>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witch-horizontal-01__teal.png"/>
          <p:cNvPicPr>
            <a:picLocks noChangeAspect="1"/>
          </p:cNvPicPr>
          <p:nvPr/>
        </p:nvPicPr>
        <p:blipFill>
          <a:blip r:embed="rId4"/>
          <a:stretch>
            <a:fillRect/>
          </a:stretch>
        </p:blipFill>
        <p:spPr>
          <a:xfrm>
            <a:off x="1055583" y="4146255"/>
            <a:ext cx="266273" cy="266273"/>
          </a:xfrm>
          <a:prstGeom prst="rect">
            <a:avLst/>
          </a:prstGeom>
        </p:spPr>
      </p:pic>
      <p:sp>
        <p:nvSpPr>
          <p:cNvPr id="22" name="TextBox 21"/>
          <p:cNvSpPr txBox="1"/>
          <p:nvPr/>
        </p:nvSpPr>
        <p:spPr>
          <a:xfrm>
            <a:off x="1664207" y="3822191"/>
            <a:ext cx="3383280" cy="914400"/>
          </a:xfrm>
          <a:prstGeom prst="rect">
            <a:avLst/>
          </a:prstGeom>
          <a:noFill/>
        </p:spPr>
        <p:txBody>
          <a:bodyPr wrap="square" anchor="ctr" lIns="0" rIns="0" tIns="0" bIns="0">
            <a:spAutoFit/>
          </a:bodyPr>
          <a:lstStyle/>
          <a:p>
            <a:pPr algn="l">
              <a:lnSpc>
                <a:spcPct val="125000"/>
              </a:lnSpc>
            </a:pPr>
            <a:r>
              <a:rPr sz="1200" b="0">
                <a:solidFill>
                  <a:srgbClr val="57534B"/>
                </a:solidFill>
                <a:latin typeface="Inter"/>
              </a:rPr>
              <a:t>Problem 2  ·  context-dependent ordering</a:t>
            </a:r>
          </a:p>
        </p:txBody>
      </p:sp>
      <p:pic>
        <p:nvPicPr>
          <p:cNvPr id="23" name="Picture 22" descr="arrow-narrow-right__mute.png"/>
          <p:cNvPicPr>
            <a:picLocks noChangeAspect="1"/>
          </p:cNvPicPr>
          <p:nvPr/>
        </p:nvPicPr>
        <p:blipFill>
          <a:blip r:embed="rId3"/>
          <a:stretch>
            <a:fillRect/>
          </a:stretch>
        </p:blipFill>
        <p:spPr>
          <a:xfrm>
            <a:off x="5212080" y="4123944"/>
            <a:ext cx="310896" cy="310896"/>
          </a:xfrm>
          <a:prstGeom prst="rect">
            <a:avLst/>
          </a:prstGeom>
        </p:spPr>
      </p:pic>
      <p:sp>
        <p:nvSpPr>
          <p:cNvPr id="24" name="TextBox 23"/>
          <p:cNvSpPr txBox="1"/>
          <p:nvPr/>
        </p:nvSpPr>
        <p:spPr>
          <a:xfrm>
            <a:off x="5687568" y="3822191"/>
            <a:ext cx="2926080" cy="914400"/>
          </a:xfrm>
          <a:prstGeom prst="rect">
            <a:avLst/>
          </a:prstGeom>
          <a:noFill/>
        </p:spPr>
        <p:txBody>
          <a:bodyPr wrap="square" anchor="ctr" lIns="0" rIns="0" tIns="0" bIns="0">
            <a:spAutoFit/>
          </a:bodyPr>
          <a:lstStyle/>
          <a:p>
            <a:pPr algn="l"/>
            <a:r>
              <a:rPr sz="1600" b="0">
                <a:solidFill>
                  <a:srgbClr val="0E7C72"/>
                </a:solidFill>
                <a:latin typeface="Spectral SemiBold"/>
              </a:rPr>
              <a:t>Strategy</a:t>
            </a:r>
          </a:p>
          <a:p>
            <a:pPr algn="l">
              <a:spcBef>
                <a:spcPts val="100"/>
              </a:spcBef>
            </a:pPr>
            <a:r>
              <a:rPr sz="1000" b="0">
                <a:solidFill>
                  <a:srgbClr val="8C877D"/>
                </a:solidFill>
                <a:latin typeface="Inter Medium"/>
              </a:rPr>
              <a:t>Behavioural pattern</a:t>
            </a:r>
          </a:p>
        </p:txBody>
      </p:sp>
      <p:sp>
        <p:nvSpPr>
          <p:cNvPr id="25" name="TextBox 24"/>
          <p:cNvSpPr txBox="1"/>
          <p:nvPr/>
        </p:nvSpPr>
        <p:spPr>
          <a:xfrm>
            <a:off x="8567928" y="3822191"/>
            <a:ext cx="2599639" cy="914400"/>
          </a:xfrm>
          <a:prstGeom prst="rect">
            <a:avLst/>
          </a:prstGeom>
          <a:noFill/>
        </p:spPr>
        <p:txBody>
          <a:bodyPr wrap="square" anchor="ctr" lIns="0" rIns="0" tIns="0" bIns="0">
            <a:spAutoFit/>
          </a:bodyPr>
          <a:lstStyle/>
          <a:p>
            <a:pPr algn="l">
              <a:lnSpc>
                <a:spcPct val="125000"/>
              </a:lnSpc>
            </a:pPr>
            <a:r>
              <a:rPr sz="1150" b="0">
                <a:solidFill>
                  <a:srgbClr val="57534B"/>
                </a:solidFill>
                <a:latin typeface="Inter"/>
              </a:rPr>
              <a:t>Makes each ordering a swappable object, chosen at runtime.</a:t>
            </a:r>
          </a:p>
        </p:txBody>
      </p:sp>
      <p:sp>
        <p:nvSpPr>
          <p:cNvPr id="26" name="Rounded Rectangle 25"/>
          <p:cNvSpPr/>
          <p:nvPr/>
        </p:nvSpPr>
        <p:spPr>
          <a:xfrm>
            <a:off x="749808" y="4901183"/>
            <a:ext cx="10692079" cy="914400"/>
          </a:xfrm>
          <a:prstGeom prst="roundRect">
            <a:avLst>
              <a:gd name="adj" fmla="val 5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50976" y="5120640"/>
            <a:ext cx="475488" cy="475488"/>
          </a:xfrm>
          <a:prstGeom prst="roundRect">
            <a:avLst>
              <a:gd name="adj" fmla="val 30000"/>
            </a:avLst>
          </a:prstGeom>
          <a:solidFill>
            <a:srgbClr val="F0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refresh-cw-01__violet.png"/>
          <p:cNvPicPr>
            <a:picLocks noChangeAspect="1"/>
          </p:cNvPicPr>
          <p:nvPr/>
        </p:nvPicPr>
        <p:blipFill>
          <a:blip r:embed="rId5"/>
          <a:stretch>
            <a:fillRect/>
          </a:stretch>
        </p:blipFill>
        <p:spPr>
          <a:xfrm>
            <a:off x="1055583" y="5225247"/>
            <a:ext cx="266273" cy="266273"/>
          </a:xfrm>
          <a:prstGeom prst="rect">
            <a:avLst/>
          </a:prstGeom>
        </p:spPr>
      </p:pic>
      <p:sp>
        <p:nvSpPr>
          <p:cNvPr id="29" name="TextBox 28"/>
          <p:cNvSpPr txBox="1"/>
          <p:nvPr/>
        </p:nvSpPr>
        <p:spPr>
          <a:xfrm>
            <a:off x="1664207" y="4901183"/>
            <a:ext cx="3383280" cy="914400"/>
          </a:xfrm>
          <a:prstGeom prst="rect">
            <a:avLst/>
          </a:prstGeom>
          <a:noFill/>
        </p:spPr>
        <p:txBody>
          <a:bodyPr wrap="square" anchor="ctr" lIns="0" rIns="0" tIns="0" bIns="0">
            <a:spAutoFit/>
          </a:bodyPr>
          <a:lstStyle/>
          <a:p>
            <a:pPr algn="l">
              <a:lnSpc>
                <a:spcPct val="125000"/>
              </a:lnSpc>
            </a:pPr>
            <a:r>
              <a:rPr sz="1200" b="0">
                <a:solidFill>
                  <a:srgbClr val="57534B"/>
                </a:solidFill>
                <a:latin typeface="Inter"/>
              </a:rPr>
              <a:t>Bonus  ·  the task lifecycle</a:t>
            </a:r>
          </a:p>
        </p:txBody>
      </p:sp>
      <p:pic>
        <p:nvPicPr>
          <p:cNvPr id="30" name="Picture 29" descr="arrow-narrow-right__mute.png"/>
          <p:cNvPicPr>
            <a:picLocks noChangeAspect="1"/>
          </p:cNvPicPr>
          <p:nvPr/>
        </p:nvPicPr>
        <p:blipFill>
          <a:blip r:embed="rId3"/>
          <a:stretch>
            <a:fillRect/>
          </a:stretch>
        </p:blipFill>
        <p:spPr>
          <a:xfrm>
            <a:off x="5212080" y="5202936"/>
            <a:ext cx="310896" cy="310896"/>
          </a:xfrm>
          <a:prstGeom prst="rect">
            <a:avLst/>
          </a:prstGeom>
        </p:spPr>
      </p:pic>
      <p:sp>
        <p:nvSpPr>
          <p:cNvPr id="31" name="TextBox 30"/>
          <p:cNvSpPr txBox="1"/>
          <p:nvPr/>
        </p:nvSpPr>
        <p:spPr>
          <a:xfrm>
            <a:off x="5687568" y="4901183"/>
            <a:ext cx="2926080" cy="914400"/>
          </a:xfrm>
          <a:prstGeom prst="rect">
            <a:avLst/>
          </a:prstGeom>
          <a:noFill/>
        </p:spPr>
        <p:txBody>
          <a:bodyPr wrap="square" anchor="ctr" lIns="0" rIns="0" tIns="0" bIns="0">
            <a:spAutoFit/>
          </a:bodyPr>
          <a:lstStyle/>
          <a:p>
            <a:pPr algn="l"/>
            <a:r>
              <a:rPr sz="1600" b="0">
                <a:solidFill>
                  <a:srgbClr val="7C3AED"/>
                </a:solidFill>
                <a:latin typeface="Spectral SemiBold"/>
              </a:rPr>
              <a:t>State (in an enum)</a:t>
            </a:r>
          </a:p>
          <a:p>
            <a:pPr algn="l">
              <a:spcBef>
                <a:spcPts val="100"/>
              </a:spcBef>
            </a:pPr>
            <a:r>
              <a:rPr sz="1000" b="0">
                <a:solidFill>
                  <a:srgbClr val="8C877D"/>
                </a:solidFill>
                <a:latin typeface="Inter Medium"/>
              </a:rPr>
              <a:t>Behavioural pattern</a:t>
            </a:r>
          </a:p>
        </p:txBody>
      </p:sp>
      <p:sp>
        <p:nvSpPr>
          <p:cNvPr id="32" name="TextBox 31"/>
          <p:cNvSpPr txBox="1"/>
          <p:nvPr/>
        </p:nvSpPr>
        <p:spPr>
          <a:xfrm>
            <a:off x="8567928" y="4901183"/>
            <a:ext cx="2599639" cy="914400"/>
          </a:xfrm>
          <a:prstGeom prst="rect">
            <a:avLst/>
          </a:prstGeom>
          <a:noFill/>
        </p:spPr>
        <p:txBody>
          <a:bodyPr wrap="square" anchor="ctr" lIns="0" rIns="0" tIns="0" bIns="0">
            <a:spAutoFit/>
          </a:bodyPr>
          <a:lstStyle/>
          <a:p>
            <a:pPr algn="l">
              <a:lnSpc>
                <a:spcPct val="125000"/>
              </a:lnSpc>
            </a:pPr>
            <a:r>
              <a:rPr sz="1150" b="0">
                <a:solidFill>
                  <a:srgbClr val="57534B"/>
                </a:solidFill>
                <a:latin typeface="Inter"/>
              </a:rPr>
              <a:t>Each status declares its own legal transitions.</a:t>
            </a:r>
          </a:p>
        </p:txBody>
      </p:sp>
      <p:sp>
        <p:nvSpPr>
          <p:cNvPr id="33" name="TextBox 32"/>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4" name="TextBox 33"/>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09 / 32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C5A2B"/>
                </a:solidFill>
                <a:latin typeface="Inter SemiBold"/>
              </a:rPr>
              <a:t>PATTERN 1  ·  FACTORY METHOD</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7C3AED"/>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Factory Method, and why it fits.</a:t>
            </a:r>
          </a:p>
        </p:txBody>
      </p:sp>
      <p:sp>
        <p:nvSpPr>
          <p:cNvPr id="11" name="Rounded Rectangle 10"/>
          <p:cNvSpPr/>
          <p:nvPr/>
        </p:nvSpPr>
        <p:spPr>
          <a:xfrm>
            <a:off x="749808" y="23317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05840" y="2587752"/>
            <a:ext cx="457200" cy="457200"/>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ook-open-01__clay.png"/>
          <p:cNvPicPr>
            <a:picLocks noChangeAspect="1"/>
          </p:cNvPicPr>
          <p:nvPr/>
        </p:nvPicPr>
        <p:blipFill>
          <a:blip r:embed="rId2"/>
          <a:stretch>
            <a:fillRect/>
          </a:stretch>
        </p:blipFill>
        <p:spPr>
          <a:xfrm>
            <a:off x="1106424" y="2688336"/>
            <a:ext cx="256032" cy="256032"/>
          </a:xfrm>
          <a:prstGeom prst="rect">
            <a:avLst/>
          </a:prstGeom>
        </p:spPr>
      </p:pic>
      <p:sp>
        <p:nvSpPr>
          <p:cNvPr id="14" name="TextBox 13"/>
          <p:cNvSpPr txBox="1"/>
          <p:nvPr/>
        </p:nvSpPr>
        <p:spPr>
          <a:xfrm>
            <a:off x="1627632" y="25877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Definition</a:t>
            </a:r>
          </a:p>
        </p:txBody>
      </p:sp>
      <p:sp>
        <p:nvSpPr>
          <p:cNvPr id="15" name="TextBox 14"/>
          <p:cNvSpPr txBox="1"/>
          <p:nvPr/>
        </p:nvSpPr>
        <p:spPr>
          <a:xfrm>
            <a:off x="1024127" y="31729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Define a method for making an object, and let each subclass decide which concrete class it produces.</a:t>
            </a:r>
          </a:p>
        </p:txBody>
      </p:sp>
      <p:sp>
        <p:nvSpPr>
          <p:cNvPr id="16" name="Rounded Rectangle 15"/>
          <p:cNvSpPr/>
          <p:nvPr/>
        </p:nvSpPr>
        <p:spPr>
          <a:xfrm>
            <a:off x="6324447" y="23317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80479" y="2587752"/>
            <a:ext cx="457200" cy="457200"/>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uzzle-piece-01__clay.png"/>
          <p:cNvPicPr>
            <a:picLocks noChangeAspect="1"/>
          </p:cNvPicPr>
          <p:nvPr/>
        </p:nvPicPr>
        <p:blipFill>
          <a:blip r:embed="rId3"/>
          <a:stretch>
            <a:fillRect/>
          </a:stretch>
        </p:blipFill>
        <p:spPr>
          <a:xfrm>
            <a:off x="6681063" y="2688336"/>
            <a:ext cx="256032" cy="256032"/>
          </a:xfrm>
          <a:prstGeom prst="rect">
            <a:avLst/>
          </a:prstGeom>
        </p:spPr>
      </p:pic>
      <p:sp>
        <p:nvSpPr>
          <p:cNvPr id="19" name="TextBox 18"/>
          <p:cNvSpPr txBox="1"/>
          <p:nvPr/>
        </p:nvSpPr>
        <p:spPr>
          <a:xfrm>
            <a:off x="7202271" y="25877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Why here</a:t>
            </a:r>
          </a:p>
        </p:txBody>
      </p:sp>
      <p:sp>
        <p:nvSpPr>
          <p:cNvPr id="20" name="TextBox 19"/>
          <p:cNvSpPr txBox="1"/>
          <p:nvPr/>
        </p:nvSpPr>
        <p:spPr>
          <a:xfrm>
            <a:off x="6598767" y="31729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Every task type has its own construction rules and defaults. The caller should not have to know them.</a:t>
            </a:r>
          </a:p>
        </p:txBody>
      </p:sp>
      <p:sp>
        <p:nvSpPr>
          <p:cNvPr id="21" name="Rounded Rectangle 20"/>
          <p:cNvSpPr/>
          <p:nvPr/>
        </p:nvSpPr>
        <p:spPr>
          <a:xfrm>
            <a:off x="749808" y="41605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05840" y="4416552"/>
            <a:ext cx="457200" cy="457200"/>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lus-circle__clay.png"/>
          <p:cNvPicPr>
            <a:picLocks noChangeAspect="1"/>
          </p:cNvPicPr>
          <p:nvPr/>
        </p:nvPicPr>
        <p:blipFill>
          <a:blip r:embed="rId4"/>
          <a:stretch>
            <a:fillRect/>
          </a:stretch>
        </p:blipFill>
        <p:spPr>
          <a:xfrm>
            <a:off x="1106424" y="4517136"/>
            <a:ext cx="256032" cy="256032"/>
          </a:xfrm>
          <a:prstGeom prst="rect">
            <a:avLst/>
          </a:prstGeom>
        </p:spPr>
      </p:pic>
      <p:sp>
        <p:nvSpPr>
          <p:cNvPr id="24" name="TextBox 23"/>
          <p:cNvSpPr txBox="1"/>
          <p:nvPr/>
        </p:nvSpPr>
        <p:spPr>
          <a:xfrm>
            <a:off x="1627632" y="44165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Advantage</a:t>
            </a:r>
          </a:p>
        </p:txBody>
      </p:sp>
      <p:sp>
        <p:nvSpPr>
          <p:cNvPr id="25" name="TextBox 24"/>
          <p:cNvSpPr txBox="1"/>
          <p:nvPr/>
        </p:nvSpPr>
        <p:spPr>
          <a:xfrm>
            <a:off x="1024127" y="50017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 new task type is a new class. Code that creates tasks never changes when a type is added.</a:t>
            </a:r>
          </a:p>
        </p:txBody>
      </p:sp>
      <p:sp>
        <p:nvSpPr>
          <p:cNvPr id="26" name="Rounded Rectangle 25"/>
          <p:cNvSpPr/>
          <p:nvPr/>
        </p:nvSpPr>
        <p:spPr>
          <a:xfrm>
            <a:off x="6324447" y="41605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580479" y="4416552"/>
            <a:ext cx="457200" cy="457200"/>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file-02__clay.png"/>
          <p:cNvPicPr>
            <a:picLocks noChangeAspect="1"/>
          </p:cNvPicPr>
          <p:nvPr/>
        </p:nvPicPr>
        <p:blipFill>
          <a:blip r:embed="rId5"/>
          <a:stretch>
            <a:fillRect/>
          </a:stretch>
        </p:blipFill>
        <p:spPr>
          <a:xfrm>
            <a:off x="6681063" y="4517136"/>
            <a:ext cx="256032" cy="256032"/>
          </a:xfrm>
          <a:prstGeom prst="rect">
            <a:avLst/>
          </a:prstGeom>
        </p:spPr>
      </p:pic>
      <p:sp>
        <p:nvSpPr>
          <p:cNvPr id="29" name="TextBox 28"/>
          <p:cNvSpPr txBox="1"/>
          <p:nvPr/>
        </p:nvSpPr>
        <p:spPr>
          <a:xfrm>
            <a:off x="7202271" y="44165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Real world</a:t>
            </a:r>
          </a:p>
        </p:txBody>
      </p:sp>
      <p:sp>
        <p:nvSpPr>
          <p:cNvPr id="30" name="TextBox 29"/>
          <p:cNvSpPr txBox="1"/>
          <p:nvPr/>
        </p:nvSpPr>
        <p:spPr>
          <a:xfrm>
            <a:off x="6598767" y="50017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 document app that opens PDF, DOCX, and TXT files through one Open action, without naming a concrete reader.</a:t>
            </a:r>
          </a:p>
        </p:txBody>
      </p:sp>
      <p:sp>
        <p:nvSpPr>
          <p:cNvPr id="31" name="TextBox 30"/>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2" name="TextBox 31"/>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10 / 32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C5A2B"/>
                </a:solidFill>
                <a:latin typeface="Inter SemiBold"/>
              </a:rPr>
              <a:t>PATTERN 1  ·  FACTORY METHOD</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7C3AED"/>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How we built it.</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The manager keeps a registry of factories keyed by a string. The caller asks for a type by name and never sees a concrete class.</a:t>
            </a:r>
          </a:p>
        </p:txBody>
      </p:sp>
      <p:sp>
        <p:nvSpPr>
          <p:cNvPr id="12" name="Rounded Rectangle 11"/>
          <p:cNvSpPr/>
          <p:nvPr/>
        </p:nvSpPr>
        <p:spPr>
          <a:xfrm>
            <a:off x="749808" y="2651760"/>
            <a:ext cx="10692079" cy="857885"/>
          </a:xfrm>
          <a:prstGeom prst="roundRect">
            <a:avLst>
              <a:gd name="adj" fmla="val 4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651760"/>
            <a:ext cx="10692079" cy="0"/>
          </a:xfrm>
          <a:prstGeom prst="line">
            <a:avLst/>
          </a:prstGeom>
          <a:ln w="27940">
            <a:solidFill>
              <a:srgbClr val="BC5A2B"/>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6384" y="2779776"/>
            <a:ext cx="10618927" cy="675004"/>
          </a:xfrm>
          <a:prstGeom prst="rect">
            <a:avLst/>
          </a:prstGeom>
          <a:noFill/>
        </p:spPr>
        <p:txBody>
          <a:bodyPr wrap="none" anchor="t" lIns="237744" rIns="164592" tIns="54864" bIns="54864">
            <a:spAutoFit/>
          </a:bodyPr>
          <a:lstStyle/>
          <a:p>
            <a:pPr algn="l">
              <a:lnSpc>
                <a:spcPct val="142000"/>
              </a:lnSpc>
            </a:pPr>
            <a:r>
              <a:rPr sz="1250">
                <a:solidFill>
                  <a:srgbClr val="1C1A16"/>
                </a:solidFill>
                <a:latin typeface="Consolas"/>
              </a:rPr>
              <a:t>manager</a:t>
            </a:r>
            <a:r>
              <a:rPr sz="1250">
                <a:solidFill>
                  <a:srgbClr val="1C1A16"/>
                </a:solidFill>
                <a:latin typeface="Consolas"/>
              </a:rPr>
              <a:t>.</a:t>
            </a:r>
            <a:r>
              <a:rPr sz="1250">
                <a:solidFill>
                  <a:srgbClr val="1C1A16"/>
                </a:solidFill>
                <a:latin typeface="Consolas"/>
              </a:rPr>
              <a:t>createTask</a:t>
            </a:r>
            <a:r>
              <a:rPr sz="1250">
                <a:solidFill>
                  <a:srgbClr val="1C1A16"/>
                </a:solidFill>
                <a:latin typeface="Consolas"/>
              </a:rPr>
              <a:t>(</a:t>
            </a:r>
            <a:r>
              <a:rPr sz="1250">
                <a:solidFill>
                  <a:srgbClr val="0A7B33"/>
                </a:solidFill>
                <a:latin typeface="Consolas"/>
              </a:rPr>
              <a:t>"BUG"</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"Login broken"</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"OAuth callback fails"</a:t>
            </a:r>
            <a:r>
              <a:rPr sz="1250">
                <a:solidFill>
                  <a:srgbClr val="1C1A16"/>
                </a:solidFill>
                <a:latin typeface="Consolas"/>
              </a:rPr>
              <a:t>,</a:t>
            </a:r>
            <a:r>
              <a:rPr sz="1250">
                <a:solidFill>
                  <a:srgbClr val="1C1A16"/>
                </a:solidFill>
                <a:latin typeface="Consolas"/>
              </a:rPr>
              <a:t> </a:t>
            </a:r>
            <a:r>
              <a:rPr sz="1250">
                <a:solidFill>
                  <a:srgbClr val="0550AE"/>
                </a:solidFill>
                <a:latin typeface="Consolas"/>
              </a:rPr>
              <a:t>8</a:t>
            </a:r>
            <a:r>
              <a:rPr sz="1250">
                <a:solidFill>
                  <a:srgbClr val="1C1A16"/>
                </a:solidFill>
                <a:latin typeface="Consolas"/>
              </a:rPr>
              <a:t>)</a:t>
            </a:r>
            <a:r>
              <a:rPr sz="1250">
                <a:solidFill>
                  <a:srgbClr val="1C1A16"/>
                </a:solidFill>
                <a:latin typeface="Consolas"/>
              </a:rPr>
              <a:t>;</a:t>
            </a:r>
          </a:p>
          <a:p>
            <a:pPr algn="l">
              <a:lnSpc>
                <a:spcPct val="142000"/>
              </a:lnSpc>
            </a:pPr>
            <a:r>
              <a:rPr sz="1250">
                <a:solidFill>
                  <a:srgbClr val="1C1A16"/>
                </a:solidFill>
                <a:latin typeface="Consolas"/>
              </a:rPr>
              <a:t>manager</a:t>
            </a:r>
            <a:r>
              <a:rPr sz="1250">
                <a:solidFill>
                  <a:srgbClr val="1C1A16"/>
                </a:solidFill>
                <a:latin typeface="Consolas"/>
              </a:rPr>
              <a:t>.</a:t>
            </a:r>
            <a:r>
              <a:rPr sz="1250">
                <a:solidFill>
                  <a:srgbClr val="1C1A16"/>
                </a:solidFill>
                <a:latin typeface="Consolas"/>
              </a:rPr>
              <a:t>createTask</a:t>
            </a:r>
            <a:r>
              <a:rPr sz="1250">
                <a:solidFill>
                  <a:srgbClr val="1C1A16"/>
                </a:solidFill>
                <a:latin typeface="Consolas"/>
              </a:rPr>
              <a:t>(</a:t>
            </a:r>
            <a:r>
              <a:rPr sz="1250">
                <a:solidFill>
                  <a:srgbClr val="0A7B33"/>
                </a:solidFill>
                <a:latin typeface="Consolas"/>
              </a:rPr>
              <a:t>"FEATURE"</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"Dark mode"</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"Top user request"</a:t>
            </a:r>
            <a:r>
              <a:rPr sz="1250">
                <a:solidFill>
                  <a:srgbClr val="1C1A16"/>
                </a:solidFill>
                <a:latin typeface="Consolas"/>
              </a:rPr>
              <a:t>,</a:t>
            </a:r>
            <a:r>
              <a:rPr sz="1250">
                <a:solidFill>
                  <a:srgbClr val="1C1A16"/>
                </a:solidFill>
                <a:latin typeface="Consolas"/>
              </a:rPr>
              <a:t> </a:t>
            </a:r>
            <a:r>
              <a:rPr sz="1250">
                <a:solidFill>
                  <a:srgbClr val="0550AE"/>
                </a:solidFill>
                <a:latin typeface="Consolas"/>
              </a:rPr>
              <a:t>5</a:t>
            </a:r>
            <a:r>
              <a:rPr sz="1250">
                <a:solidFill>
                  <a:srgbClr val="1C1A16"/>
                </a:solidFill>
                <a:latin typeface="Consolas"/>
              </a:rPr>
              <a:t>)</a:t>
            </a:r>
            <a:r>
              <a:rPr sz="1250">
                <a:solidFill>
                  <a:srgbClr val="1C1A16"/>
                </a:solidFill>
                <a:latin typeface="Consolas"/>
              </a:rPr>
              <a:t>;</a:t>
            </a:r>
          </a:p>
        </p:txBody>
      </p:sp>
      <p:sp>
        <p:nvSpPr>
          <p:cNvPr id="15" name="Rounded Rectangle 14"/>
          <p:cNvSpPr/>
          <p:nvPr/>
        </p:nvSpPr>
        <p:spPr>
          <a:xfrm>
            <a:off x="749808" y="4224528"/>
            <a:ext cx="5117439"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05840" y="4480560"/>
            <a:ext cx="457200" cy="457200"/>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ckage__clay.png"/>
          <p:cNvPicPr>
            <a:picLocks noChangeAspect="1"/>
          </p:cNvPicPr>
          <p:nvPr/>
        </p:nvPicPr>
        <p:blipFill>
          <a:blip r:embed="rId2"/>
          <a:stretch>
            <a:fillRect/>
          </a:stretch>
        </p:blipFill>
        <p:spPr>
          <a:xfrm>
            <a:off x="1106424" y="4581144"/>
            <a:ext cx="256032" cy="256032"/>
          </a:xfrm>
          <a:prstGeom prst="rect">
            <a:avLst/>
          </a:prstGeom>
        </p:spPr>
      </p:pic>
      <p:sp>
        <p:nvSpPr>
          <p:cNvPr id="18" name="TextBox 17"/>
          <p:cNvSpPr txBox="1"/>
          <p:nvPr/>
        </p:nvSpPr>
        <p:spPr>
          <a:xfrm>
            <a:off x="1627632" y="4480560"/>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An abstract class, not an interface</a:t>
            </a:r>
          </a:p>
        </p:txBody>
      </p:sp>
      <p:sp>
        <p:nvSpPr>
          <p:cNvPr id="19" name="TextBox 18"/>
          <p:cNvSpPr txBox="1"/>
          <p:nvPr/>
        </p:nvSpPr>
        <p:spPr>
          <a:xfrm>
            <a:off x="1024127" y="5065776"/>
            <a:ext cx="4587087" cy="64008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Each subclass owns its defaults: a bug is MEDIUM severity, a feature is 8h of effort at value 5, a doc targets developers.</a:t>
            </a:r>
          </a:p>
        </p:txBody>
      </p:sp>
      <p:sp>
        <p:nvSpPr>
          <p:cNvPr id="20" name="Rounded Rectangle 19"/>
          <p:cNvSpPr/>
          <p:nvPr/>
        </p:nvSpPr>
        <p:spPr>
          <a:xfrm>
            <a:off x="6324447" y="4224528"/>
            <a:ext cx="5117439"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80479" y="4480560"/>
            <a:ext cx="457200" cy="457200"/>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layers-three-01__indigo.png"/>
          <p:cNvPicPr>
            <a:picLocks noChangeAspect="1"/>
          </p:cNvPicPr>
          <p:nvPr/>
        </p:nvPicPr>
        <p:blipFill>
          <a:blip r:embed="rId3"/>
          <a:stretch>
            <a:fillRect/>
          </a:stretch>
        </p:blipFill>
        <p:spPr>
          <a:xfrm>
            <a:off x="6681063" y="4581144"/>
            <a:ext cx="256032" cy="256032"/>
          </a:xfrm>
          <a:prstGeom prst="rect">
            <a:avLst/>
          </a:prstGeom>
        </p:spPr>
      </p:pic>
      <p:sp>
        <p:nvSpPr>
          <p:cNvPr id="23" name="TextBox 22"/>
          <p:cNvSpPr txBox="1"/>
          <p:nvPr/>
        </p:nvSpPr>
        <p:spPr>
          <a:xfrm>
            <a:off x="7202271" y="4480560"/>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A template method on the base</a:t>
            </a:r>
          </a:p>
        </p:txBody>
      </p:sp>
      <p:sp>
        <p:nvSpPr>
          <p:cNvPr id="24" name="TextBox 23"/>
          <p:cNvSpPr txBox="1"/>
          <p:nvPr/>
        </p:nvSpPr>
        <p:spPr>
          <a:xfrm>
            <a:off x="6598767" y="5065776"/>
            <a:ext cx="4587087" cy="64008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createTaskWithDeadline wraps createTask and attaches a deadline once. Written once, reused by all three factories.</a:t>
            </a:r>
          </a:p>
        </p:txBody>
      </p:sp>
      <p:sp>
        <p:nvSpPr>
          <p:cNvPr id="25" name="TextBox 2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26" name="TextBox 2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11 / 32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PATTERN 2  ·  STRATEGY</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7C3AED"/>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Strategy, and why it fits.</a:t>
            </a:r>
          </a:p>
        </p:txBody>
      </p:sp>
      <p:sp>
        <p:nvSpPr>
          <p:cNvPr id="11" name="Rounded Rectangle 10"/>
          <p:cNvSpPr/>
          <p:nvPr/>
        </p:nvSpPr>
        <p:spPr>
          <a:xfrm>
            <a:off x="749808" y="23317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05840" y="258775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ook-open-01__teal.png"/>
          <p:cNvPicPr>
            <a:picLocks noChangeAspect="1"/>
          </p:cNvPicPr>
          <p:nvPr/>
        </p:nvPicPr>
        <p:blipFill>
          <a:blip r:embed="rId2"/>
          <a:stretch>
            <a:fillRect/>
          </a:stretch>
        </p:blipFill>
        <p:spPr>
          <a:xfrm>
            <a:off x="1106424" y="2688336"/>
            <a:ext cx="256032" cy="256032"/>
          </a:xfrm>
          <a:prstGeom prst="rect">
            <a:avLst/>
          </a:prstGeom>
        </p:spPr>
      </p:pic>
      <p:sp>
        <p:nvSpPr>
          <p:cNvPr id="14" name="TextBox 13"/>
          <p:cNvSpPr txBox="1"/>
          <p:nvPr/>
        </p:nvSpPr>
        <p:spPr>
          <a:xfrm>
            <a:off x="1627632" y="25877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Definition</a:t>
            </a:r>
          </a:p>
        </p:txBody>
      </p:sp>
      <p:sp>
        <p:nvSpPr>
          <p:cNvPr id="15" name="TextBox 14"/>
          <p:cNvSpPr txBox="1"/>
          <p:nvPr/>
        </p:nvSpPr>
        <p:spPr>
          <a:xfrm>
            <a:off x="1024127" y="31729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Define a family of interchangeable algorithms, wrap each one, and select between them at runtime.</a:t>
            </a:r>
          </a:p>
        </p:txBody>
      </p:sp>
      <p:sp>
        <p:nvSpPr>
          <p:cNvPr id="16" name="Rounded Rectangle 15"/>
          <p:cNvSpPr/>
          <p:nvPr/>
        </p:nvSpPr>
        <p:spPr>
          <a:xfrm>
            <a:off x="6324447" y="23317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80479" y="258775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uzzle-piece-01__teal.png"/>
          <p:cNvPicPr>
            <a:picLocks noChangeAspect="1"/>
          </p:cNvPicPr>
          <p:nvPr/>
        </p:nvPicPr>
        <p:blipFill>
          <a:blip r:embed="rId3"/>
          <a:stretch>
            <a:fillRect/>
          </a:stretch>
        </p:blipFill>
        <p:spPr>
          <a:xfrm>
            <a:off x="6681063" y="2688336"/>
            <a:ext cx="256032" cy="256032"/>
          </a:xfrm>
          <a:prstGeom prst="rect">
            <a:avLst/>
          </a:prstGeom>
        </p:spPr>
      </p:pic>
      <p:sp>
        <p:nvSpPr>
          <p:cNvPr id="19" name="TextBox 18"/>
          <p:cNvSpPr txBox="1"/>
          <p:nvPr/>
        </p:nvSpPr>
        <p:spPr>
          <a:xfrm>
            <a:off x="7202271" y="25877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Why here</a:t>
            </a:r>
          </a:p>
        </p:txBody>
      </p:sp>
      <p:sp>
        <p:nvSpPr>
          <p:cNvPr id="20" name="TextBox 19"/>
          <p:cNvSpPr txBox="1"/>
          <p:nvPr/>
        </p:nvSpPr>
        <p:spPr>
          <a:xfrm>
            <a:off x="6598767" y="31729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The same task list must be ordered differently in different moments, while the app is running.</a:t>
            </a:r>
          </a:p>
        </p:txBody>
      </p:sp>
      <p:sp>
        <p:nvSpPr>
          <p:cNvPr id="21" name="Rounded Rectangle 20"/>
          <p:cNvSpPr/>
          <p:nvPr/>
        </p:nvSpPr>
        <p:spPr>
          <a:xfrm>
            <a:off x="749808" y="41605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05840" y="441655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lus-circle__teal.png"/>
          <p:cNvPicPr>
            <a:picLocks noChangeAspect="1"/>
          </p:cNvPicPr>
          <p:nvPr/>
        </p:nvPicPr>
        <p:blipFill>
          <a:blip r:embed="rId4"/>
          <a:stretch>
            <a:fillRect/>
          </a:stretch>
        </p:blipFill>
        <p:spPr>
          <a:xfrm>
            <a:off x="1106424" y="4517136"/>
            <a:ext cx="256032" cy="256032"/>
          </a:xfrm>
          <a:prstGeom prst="rect">
            <a:avLst/>
          </a:prstGeom>
        </p:spPr>
      </p:pic>
      <p:sp>
        <p:nvSpPr>
          <p:cNvPr id="24" name="TextBox 23"/>
          <p:cNvSpPr txBox="1"/>
          <p:nvPr/>
        </p:nvSpPr>
        <p:spPr>
          <a:xfrm>
            <a:off x="1627632" y="44165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Advantage</a:t>
            </a:r>
          </a:p>
        </p:txBody>
      </p:sp>
      <p:sp>
        <p:nvSpPr>
          <p:cNvPr id="25" name="TextBox 24"/>
          <p:cNvSpPr txBox="1"/>
          <p:nvPr/>
        </p:nvSpPr>
        <p:spPr>
          <a:xfrm>
            <a:off x="1024127" y="50017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Add or switch an ordering without touching the code that holds and manages the list.</a:t>
            </a:r>
          </a:p>
        </p:txBody>
      </p:sp>
      <p:sp>
        <p:nvSpPr>
          <p:cNvPr id="26" name="Rounded Rectangle 25"/>
          <p:cNvSpPr/>
          <p:nvPr/>
        </p:nvSpPr>
        <p:spPr>
          <a:xfrm>
            <a:off x="6324447" y="41605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580479" y="441655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ompass__teal.png"/>
          <p:cNvPicPr>
            <a:picLocks noChangeAspect="1"/>
          </p:cNvPicPr>
          <p:nvPr/>
        </p:nvPicPr>
        <p:blipFill>
          <a:blip r:embed="rId5"/>
          <a:stretch>
            <a:fillRect/>
          </a:stretch>
        </p:blipFill>
        <p:spPr>
          <a:xfrm>
            <a:off x="6681063" y="4517136"/>
            <a:ext cx="256032" cy="256032"/>
          </a:xfrm>
          <a:prstGeom prst="rect">
            <a:avLst/>
          </a:prstGeom>
        </p:spPr>
      </p:pic>
      <p:sp>
        <p:nvSpPr>
          <p:cNvPr id="29" name="TextBox 28"/>
          <p:cNvSpPr txBox="1"/>
          <p:nvPr/>
        </p:nvSpPr>
        <p:spPr>
          <a:xfrm>
            <a:off x="7202271" y="44165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Real world</a:t>
            </a:r>
          </a:p>
        </p:txBody>
      </p:sp>
      <p:sp>
        <p:nvSpPr>
          <p:cNvPr id="30" name="TextBox 29"/>
          <p:cNvSpPr txBox="1"/>
          <p:nvPr/>
        </p:nvSpPr>
        <p:spPr>
          <a:xfrm>
            <a:off x="6598767" y="50017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Like picking a route in a maps app: fastest, shortest, or no tolls, over the same map.</a:t>
            </a:r>
          </a:p>
        </p:txBody>
      </p:sp>
      <p:sp>
        <p:nvSpPr>
          <p:cNvPr id="31" name="TextBox 30"/>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2" name="TextBox 31"/>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12 / 32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PATTERN 2  ·  STRATEGY</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7C3AED"/>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How we built it.</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Each ordering is a swappable object behind one interface. Changing the sort is a single setter call; the manager never learns which one is active.</a:t>
            </a:r>
          </a:p>
        </p:txBody>
      </p:sp>
      <p:sp>
        <p:nvSpPr>
          <p:cNvPr id="12" name="Rounded Rectangle 11"/>
          <p:cNvSpPr/>
          <p:nvPr/>
        </p:nvSpPr>
        <p:spPr>
          <a:xfrm>
            <a:off x="749808" y="2651760"/>
            <a:ext cx="10692079" cy="857885"/>
          </a:xfrm>
          <a:prstGeom prst="roundRect">
            <a:avLst>
              <a:gd name="adj" fmla="val 4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651760"/>
            <a:ext cx="10692079" cy="0"/>
          </a:xfrm>
          <a:prstGeom prst="line">
            <a:avLst/>
          </a:prstGeom>
          <a:ln w="27940">
            <a:solidFill>
              <a:srgbClr val="0E7C72"/>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6384" y="2779776"/>
            <a:ext cx="10618927" cy="675004"/>
          </a:xfrm>
          <a:prstGeom prst="rect">
            <a:avLst/>
          </a:prstGeom>
          <a:noFill/>
        </p:spPr>
        <p:txBody>
          <a:bodyPr wrap="none" anchor="t" lIns="237744" rIns="164592" tIns="54864" bIns="54864">
            <a:spAutoFit/>
          </a:bodyPr>
          <a:lstStyle/>
          <a:p>
            <a:pPr algn="l">
              <a:lnSpc>
                <a:spcPct val="142000"/>
              </a:lnSpc>
            </a:pPr>
            <a:r>
              <a:rPr sz="1250">
                <a:solidFill>
                  <a:srgbClr val="1C1A16"/>
                </a:solidFill>
                <a:latin typeface="Consolas"/>
              </a:rPr>
              <a:t>manager</a:t>
            </a:r>
            <a:r>
              <a:rPr sz="1250">
                <a:solidFill>
                  <a:srgbClr val="1C1A16"/>
                </a:solidFill>
                <a:latin typeface="Consolas"/>
              </a:rPr>
              <a:t>.</a:t>
            </a:r>
            <a:r>
              <a:rPr sz="1250">
                <a:solidFill>
                  <a:srgbClr val="1C1A16"/>
                </a:solidFill>
                <a:latin typeface="Consolas"/>
              </a:rPr>
              <a:t>setPriorityStrategy</a:t>
            </a:r>
            <a:r>
              <a:rPr sz="1250">
                <a:solidFill>
                  <a:srgbClr val="1C1A16"/>
                </a:solidFill>
                <a:latin typeface="Consolas"/>
              </a:rPr>
              <a:t>(</a:t>
            </a:r>
            <a:r>
              <a:rPr sz="1250">
                <a:solidFill>
                  <a:srgbClr val="8250DF"/>
                </a:solidFill>
                <a:latin typeface="Consolas"/>
              </a:rPr>
              <a:t>new</a:t>
            </a:r>
            <a:r>
              <a:rPr sz="1250">
                <a:solidFill>
                  <a:srgbClr val="1C1A16"/>
                </a:solidFill>
                <a:latin typeface="Consolas"/>
              </a:rPr>
              <a:t> </a:t>
            </a:r>
            <a:r>
              <a:rPr sz="1250">
                <a:solidFill>
                  <a:srgbClr val="0550AE"/>
                </a:solidFill>
                <a:latin typeface="Consolas"/>
              </a:rPr>
              <a:t>SeverityFirstStrategy</a:t>
            </a:r>
            <a:r>
              <a:rPr sz="1250">
                <a:solidFill>
                  <a:srgbClr val="1C1A16"/>
                </a:solidFill>
                <a:latin typeface="Consolas"/>
              </a:rPr>
              <a:t>(</a:t>
            </a:r>
            <a:r>
              <a:rPr sz="1250">
                <a:solidFill>
                  <a:srgbClr val="1C1A16"/>
                </a:solidFill>
                <a:latin typeface="Consolas"/>
              </a:rPr>
              <a:t>)</a:t>
            </a:r>
            <a:r>
              <a:rPr sz="1250">
                <a:solidFill>
                  <a:srgbClr val="1C1A16"/>
                </a:solidFill>
                <a:latin typeface="Consolas"/>
              </a:rPr>
              <a:t>)</a:t>
            </a:r>
            <a:r>
              <a:rPr sz="1250">
                <a:solidFill>
                  <a:srgbClr val="1C1A16"/>
                </a:solidFill>
                <a:latin typeface="Consolas"/>
              </a:rPr>
              <a:t>;</a:t>
            </a:r>
          </a:p>
          <a:p>
            <a:pPr algn="l">
              <a:lnSpc>
                <a:spcPct val="142000"/>
              </a:lnSpc>
            </a:pPr>
            <a:r>
              <a:rPr sz="1250">
                <a:solidFill>
                  <a:srgbClr val="8C877D"/>
                </a:solidFill>
                <a:latin typeface="Consolas"/>
              </a:rPr>
              <a:t>// the next call to getPrioritizedTasks() returns the new order</a:t>
            </a:r>
          </a:p>
        </p:txBody>
      </p:sp>
      <p:sp>
        <p:nvSpPr>
          <p:cNvPr id="15" name="Rounded Rectangle 14"/>
          <p:cNvSpPr/>
          <p:nvPr/>
        </p:nvSpPr>
        <p:spPr>
          <a:xfrm>
            <a:off x="749808" y="4114800"/>
            <a:ext cx="5117439" cy="173736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05840" y="437083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witch-horizontal-01__teal.png"/>
          <p:cNvPicPr>
            <a:picLocks noChangeAspect="1"/>
          </p:cNvPicPr>
          <p:nvPr/>
        </p:nvPicPr>
        <p:blipFill>
          <a:blip r:embed="rId2"/>
          <a:stretch>
            <a:fillRect/>
          </a:stretch>
        </p:blipFill>
        <p:spPr>
          <a:xfrm>
            <a:off x="1106424" y="4471416"/>
            <a:ext cx="256032" cy="256032"/>
          </a:xfrm>
          <a:prstGeom prst="rect">
            <a:avLst/>
          </a:prstGeom>
        </p:spPr>
      </p:pic>
      <p:sp>
        <p:nvSpPr>
          <p:cNvPr id="18" name="TextBox 17"/>
          <p:cNvSpPr txBox="1"/>
          <p:nvPr/>
        </p:nvSpPr>
        <p:spPr>
          <a:xfrm>
            <a:off x="1627632" y="4370832"/>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An interface, not a raw Comparator</a:t>
            </a:r>
          </a:p>
        </p:txBody>
      </p:sp>
      <p:sp>
        <p:nvSpPr>
          <p:cNvPr id="19" name="TextBox 18"/>
          <p:cNvSpPr txBox="1"/>
          <p:nvPr/>
        </p:nvSpPr>
        <p:spPr>
          <a:xfrm>
            <a:off x="1024127" y="4956048"/>
            <a:ext cx="4587087" cy="749807"/>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PriorityStrategy names the role. SeverityFirst also lifts bugs to the top before sorting the rest, which a pairwise Comparator handles awkwardly.</a:t>
            </a:r>
          </a:p>
        </p:txBody>
      </p:sp>
      <p:sp>
        <p:nvSpPr>
          <p:cNvPr id="20" name="Rounded Rectangle 19"/>
          <p:cNvSpPr/>
          <p:nvPr/>
        </p:nvSpPr>
        <p:spPr>
          <a:xfrm>
            <a:off x="6324447" y="4114800"/>
            <a:ext cx="5117439" cy="173736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80479" y="437083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ettings-01__indigo.png"/>
          <p:cNvPicPr>
            <a:picLocks noChangeAspect="1"/>
          </p:cNvPicPr>
          <p:nvPr/>
        </p:nvPicPr>
        <p:blipFill>
          <a:blip r:embed="rId3"/>
          <a:stretch>
            <a:fillRect/>
          </a:stretch>
        </p:blipFill>
        <p:spPr>
          <a:xfrm>
            <a:off x="6681063" y="4471416"/>
            <a:ext cx="256032" cy="256032"/>
          </a:xfrm>
          <a:prstGeom prst="rect">
            <a:avLst/>
          </a:prstGeom>
        </p:spPr>
      </p:pic>
      <p:sp>
        <p:nvSpPr>
          <p:cNvPr id="23" name="TextBox 22"/>
          <p:cNvSpPr txBox="1"/>
          <p:nvPr/>
        </p:nvSpPr>
        <p:spPr>
          <a:xfrm>
            <a:off x="7202271" y="4370832"/>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A setter, not a constructor argument</a:t>
            </a:r>
          </a:p>
        </p:txBody>
      </p:sp>
      <p:sp>
        <p:nvSpPr>
          <p:cNvPr id="24" name="TextBox 23"/>
          <p:cNvSpPr txBox="1"/>
          <p:nvPr/>
        </p:nvSpPr>
        <p:spPr>
          <a:xfrm>
            <a:off x="6598767" y="4956048"/>
            <a:ext cx="4587087" cy="749807"/>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Users change the sort mid-session. A setter avoids rebuilding the manager and copying every task into a fresh instance.</a:t>
            </a:r>
          </a:p>
        </p:txBody>
      </p:sp>
      <p:sp>
        <p:nvSpPr>
          <p:cNvPr id="25" name="TextBox 2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26" name="TextBox 2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13 / 32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PATTERN 2  ·  STRATEGY  ·  EVIDENCE</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7C3AED"/>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The same list, reordered live.</a:t>
            </a:r>
          </a:p>
        </p:txBody>
      </p:sp>
      <p:sp>
        <p:nvSpPr>
          <p:cNvPr id="11" name="Rounded Rectangle 10"/>
          <p:cNvSpPr/>
          <p:nvPr/>
        </p:nvSpPr>
        <p:spPr>
          <a:xfrm>
            <a:off x="749808" y="2286000"/>
            <a:ext cx="5094579" cy="3383280"/>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749808" y="2286000"/>
            <a:ext cx="5094579" cy="0"/>
          </a:xfrm>
          <a:prstGeom prst="line">
            <a:avLst/>
          </a:prstGeom>
          <a:ln w="30480">
            <a:solidFill>
              <a:srgbClr val="0E7C72"/>
            </a:solidFill>
          </a:ln>
          <a:effectLst/>
        </p:spPr>
        <p:style>
          <a:lnRef idx="2">
            <a:schemeClr val="accent1"/>
          </a:lnRef>
          <a:fillRef idx="0">
            <a:schemeClr val="accent1"/>
          </a:fillRef>
          <a:effectRef idx="1">
            <a:schemeClr val="accent1"/>
          </a:effectRef>
          <a:fontRef idx="minor">
            <a:schemeClr val="tx1"/>
          </a:fontRef>
        </p:style>
      </p:cxnSp>
      <p:pic>
        <p:nvPicPr>
          <p:cNvPr id="13" name="Picture 12" descr="gui-strategy.png"/>
          <p:cNvPicPr>
            <a:picLocks noChangeAspect="1"/>
          </p:cNvPicPr>
          <p:nvPr/>
        </p:nvPicPr>
        <p:blipFill>
          <a:blip r:embed="rId2"/>
          <a:stretch>
            <a:fillRect/>
          </a:stretch>
        </p:blipFill>
        <p:spPr>
          <a:xfrm>
            <a:off x="1249494" y="2487168"/>
            <a:ext cx="4095205" cy="3017520"/>
          </a:xfrm>
          <a:prstGeom prst="rect">
            <a:avLst/>
          </a:prstGeom>
        </p:spPr>
      </p:pic>
      <p:sp>
        <p:nvSpPr>
          <p:cNvPr id="14" name="TextBox 13"/>
          <p:cNvSpPr txBox="1"/>
          <p:nvPr/>
        </p:nvSpPr>
        <p:spPr>
          <a:xfrm>
            <a:off x="749808" y="5760720"/>
            <a:ext cx="5094579" cy="274320"/>
          </a:xfrm>
          <a:prstGeom prst="rect">
            <a:avLst/>
          </a:prstGeom>
          <a:noFill/>
        </p:spPr>
        <p:txBody>
          <a:bodyPr wrap="square" anchor="t" lIns="0" rIns="0" tIns="0" bIns="0">
            <a:spAutoFit/>
          </a:bodyPr>
          <a:lstStyle/>
          <a:p>
            <a:pPr algn="ctr"/>
            <a:r>
              <a:rPr sz="1000" b="0" spc="40">
                <a:solidFill>
                  <a:srgbClr val="8C877D"/>
                </a:solidFill>
                <a:latin typeface="Inter"/>
              </a:rPr>
              <a:t>Urgent First sort: priority 5 down to 1.</a:t>
            </a:r>
          </a:p>
        </p:txBody>
      </p:sp>
      <p:sp>
        <p:nvSpPr>
          <p:cNvPr id="15" name="Rounded Rectangle 14"/>
          <p:cNvSpPr/>
          <p:nvPr/>
        </p:nvSpPr>
        <p:spPr>
          <a:xfrm>
            <a:off x="6347307" y="2286000"/>
            <a:ext cx="5094579" cy="3383280"/>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347307" y="2286000"/>
            <a:ext cx="5094580" cy="0"/>
          </a:xfrm>
          <a:prstGeom prst="line">
            <a:avLst/>
          </a:prstGeom>
          <a:ln w="30480">
            <a:solidFill>
              <a:srgbClr val="0E7C72"/>
            </a:solidFill>
          </a:ln>
          <a:effectLst/>
        </p:spPr>
        <p:style>
          <a:lnRef idx="2">
            <a:schemeClr val="accent1"/>
          </a:lnRef>
          <a:fillRef idx="0">
            <a:schemeClr val="accent1"/>
          </a:fillRef>
          <a:effectRef idx="1">
            <a:schemeClr val="accent1"/>
          </a:effectRef>
          <a:fontRef idx="minor">
            <a:schemeClr val="tx1"/>
          </a:fontRef>
        </p:style>
      </p:cxnSp>
      <p:pic>
        <p:nvPicPr>
          <p:cNvPr id="17" name="Picture 16" descr="gui-severity.png"/>
          <p:cNvPicPr>
            <a:picLocks noChangeAspect="1"/>
          </p:cNvPicPr>
          <p:nvPr/>
        </p:nvPicPr>
        <p:blipFill>
          <a:blip r:embed="rId3"/>
          <a:stretch>
            <a:fillRect/>
          </a:stretch>
        </p:blipFill>
        <p:spPr>
          <a:xfrm>
            <a:off x="6846994" y="2487168"/>
            <a:ext cx="4095205" cy="3017520"/>
          </a:xfrm>
          <a:prstGeom prst="rect">
            <a:avLst/>
          </a:prstGeom>
        </p:spPr>
      </p:pic>
      <p:sp>
        <p:nvSpPr>
          <p:cNvPr id="18" name="TextBox 17"/>
          <p:cNvSpPr txBox="1"/>
          <p:nvPr/>
        </p:nvSpPr>
        <p:spPr>
          <a:xfrm>
            <a:off x="6347307" y="5760720"/>
            <a:ext cx="5094579" cy="274320"/>
          </a:xfrm>
          <a:prstGeom prst="rect">
            <a:avLst/>
          </a:prstGeom>
          <a:noFill/>
        </p:spPr>
        <p:txBody>
          <a:bodyPr wrap="square" anchor="t" lIns="0" rIns="0" tIns="0" bIns="0">
            <a:spAutoFit/>
          </a:bodyPr>
          <a:lstStyle/>
          <a:p>
            <a:pPr algn="ctr"/>
            <a:r>
              <a:rPr sz="1000" b="0" spc="40">
                <a:solidFill>
                  <a:srgbClr val="8C877D"/>
                </a:solidFill>
                <a:latin typeface="Inter"/>
              </a:rPr>
              <a:t>Severity First sort: both bugs rise to the top.</a:t>
            </a:r>
          </a:p>
        </p:txBody>
      </p:sp>
      <p:sp>
        <p:nvSpPr>
          <p:cNvPr id="19" name="TextBox 18"/>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20" name="TextBox 19"/>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14 / 32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7C3AED"/>
                </a:solidFill>
                <a:latin typeface="Inter SemiBold"/>
              </a:rPr>
              <a:t>BONUS PATTERN  ·  STATE</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7C3AED"/>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The lifecycle is a state machine.</a:t>
            </a:r>
          </a:p>
        </p:txBody>
      </p:sp>
      <p:sp>
        <p:nvSpPr>
          <p:cNvPr id="11" name="Rounded Rectangle 10"/>
          <p:cNvSpPr/>
          <p:nvPr/>
        </p:nvSpPr>
        <p:spPr>
          <a:xfrm>
            <a:off x="749808" y="2286000"/>
            <a:ext cx="5440680" cy="3657600"/>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749808" y="2286000"/>
            <a:ext cx="5440680" cy="0"/>
          </a:xfrm>
          <a:prstGeom prst="line">
            <a:avLst/>
          </a:prstGeom>
          <a:ln w="30480">
            <a:solidFill>
              <a:srgbClr val="7C3AED"/>
            </a:solidFill>
          </a:ln>
          <a:effectLst/>
        </p:spPr>
        <p:style>
          <a:lnRef idx="2">
            <a:schemeClr val="accent1"/>
          </a:lnRef>
          <a:fillRef idx="0">
            <a:schemeClr val="accent1"/>
          </a:fillRef>
          <a:effectRef idx="1">
            <a:schemeClr val="accent1"/>
          </a:effectRef>
          <a:fontRef idx="minor">
            <a:schemeClr val="tx1"/>
          </a:fontRef>
        </p:style>
      </p:cxnSp>
      <p:pic>
        <p:nvPicPr>
          <p:cNvPr id="13" name="Picture 12" descr="state-diagram.png"/>
          <p:cNvPicPr>
            <a:picLocks noChangeAspect="1"/>
          </p:cNvPicPr>
          <p:nvPr/>
        </p:nvPicPr>
        <p:blipFill>
          <a:blip r:embed="rId2"/>
          <a:stretch>
            <a:fillRect/>
          </a:stretch>
        </p:blipFill>
        <p:spPr>
          <a:xfrm>
            <a:off x="1776076" y="2487168"/>
            <a:ext cx="3388143" cy="3291840"/>
          </a:xfrm>
          <a:prstGeom prst="rect">
            <a:avLst/>
          </a:prstGeom>
        </p:spPr>
      </p:pic>
      <p:pic>
        <p:nvPicPr>
          <p:cNvPr id="14" name="Picture 13" descr="refresh-cw-01__violet.png"/>
          <p:cNvPicPr>
            <a:picLocks noChangeAspect="1"/>
          </p:cNvPicPr>
          <p:nvPr/>
        </p:nvPicPr>
        <p:blipFill>
          <a:blip r:embed="rId3"/>
          <a:stretch>
            <a:fillRect/>
          </a:stretch>
        </p:blipFill>
        <p:spPr>
          <a:xfrm>
            <a:off x="6537960" y="2331720"/>
            <a:ext cx="292608" cy="292608"/>
          </a:xfrm>
          <a:prstGeom prst="rect">
            <a:avLst/>
          </a:prstGeom>
        </p:spPr>
      </p:pic>
      <p:sp>
        <p:nvSpPr>
          <p:cNvPr id="15" name="TextBox 14"/>
          <p:cNvSpPr txBox="1"/>
          <p:nvPr/>
        </p:nvSpPr>
        <p:spPr>
          <a:xfrm>
            <a:off x="6940296" y="2331720"/>
            <a:ext cx="4501591" cy="365760"/>
          </a:xfrm>
          <a:prstGeom prst="rect">
            <a:avLst/>
          </a:prstGeom>
          <a:noFill/>
        </p:spPr>
        <p:txBody>
          <a:bodyPr wrap="square" anchor="t" lIns="0" rIns="0" tIns="0" bIns="0">
            <a:spAutoFit/>
          </a:bodyPr>
          <a:lstStyle/>
          <a:p>
            <a:pPr algn="l"/>
            <a:r>
              <a:rPr sz="1300" b="0">
                <a:solidFill>
                  <a:srgbClr val="1C1A16"/>
                </a:solidFill>
                <a:latin typeface="Inter SemiBold"/>
              </a:rPr>
              <a:t>TaskStatus owns its transitions</a:t>
            </a:r>
          </a:p>
        </p:txBody>
      </p:sp>
      <p:sp>
        <p:nvSpPr>
          <p:cNvPr id="16" name="TextBox 15"/>
          <p:cNvSpPr txBox="1"/>
          <p:nvPr/>
        </p:nvSpPr>
        <p:spPr>
          <a:xfrm>
            <a:off x="6940296" y="2606039"/>
            <a:ext cx="4501591" cy="640080"/>
          </a:xfrm>
          <a:prstGeom prst="rect">
            <a:avLst/>
          </a:prstGeom>
          <a:noFill/>
        </p:spPr>
        <p:txBody>
          <a:bodyPr wrap="square" anchor="t" lIns="0" rIns="0" tIns="0" bIns="0">
            <a:spAutoFit/>
          </a:bodyPr>
          <a:lstStyle/>
          <a:p>
            <a:pPr algn="l">
              <a:lnSpc>
                <a:spcPct val="128000"/>
              </a:lnSpc>
            </a:pPr>
            <a:r>
              <a:rPr sz="1100" b="0">
                <a:solidFill>
                  <a:srgbClr val="57534B"/>
                </a:solidFill>
                <a:latin typeface="Inter"/>
              </a:rPr>
              <a:t>Each enum constant declares its legal next states through canTransitionTo().</a:t>
            </a:r>
          </a:p>
        </p:txBody>
      </p:sp>
      <p:pic>
        <p:nvPicPr>
          <p:cNvPr id="17" name="Picture 16" descr="refresh-cw-01__violet.png"/>
          <p:cNvPicPr>
            <a:picLocks noChangeAspect="1"/>
          </p:cNvPicPr>
          <p:nvPr/>
        </p:nvPicPr>
        <p:blipFill>
          <a:blip r:embed="rId3"/>
          <a:stretch>
            <a:fillRect/>
          </a:stretch>
        </p:blipFill>
        <p:spPr>
          <a:xfrm>
            <a:off x="6537960" y="3246120"/>
            <a:ext cx="292608" cy="292608"/>
          </a:xfrm>
          <a:prstGeom prst="rect">
            <a:avLst/>
          </a:prstGeom>
        </p:spPr>
      </p:pic>
      <p:sp>
        <p:nvSpPr>
          <p:cNvPr id="18" name="TextBox 17"/>
          <p:cNvSpPr txBox="1"/>
          <p:nvPr/>
        </p:nvSpPr>
        <p:spPr>
          <a:xfrm>
            <a:off x="6940296" y="3246120"/>
            <a:ext cx="4501591" cy="365760"/>
          </a:xfrm>
          <a:prstGeom prst="rect">
            <a:avLst/>
          </a:prstGeom>
          <a:noFill/>
        </p:spPr>
        <p:txBody>
          <a:bodyPr wrap="square" anchor="t" lIns="0" rIns="0" tIns="0" bIns="0">
            <a:spAutoFit/>
          </a:bodyPr>
          <a:lstStyle/>
          <a:p>
            <a:pPr algn="l"/>
            <a:r>
              <a:rPr sz="1300" b="0">
                <a:solidFill>
                  <a:srgbClr val="1C1A16"/>
                </a:solidFill>
                <a:latin typeface="Inter SemiBold"/>
              </a:rPr>
              <a:t>The base class enforces them</a:t>
            </a:r>
          </a:p>
        </p:txBody>
      </p:sp>
      <p:sp>
        <p:nvSpPr>
          <p:cNvPr id="19" name="TextBox 18"/>
          <p:cNvSpPr txBox="1"/>
          <p:nvPr/>
        </p:nvSpPr>
        <p:spPr>
          <a:xfrm>
            <a:off x="6940296" y="3520439"/>
            <a:ext cx="4501591" cy="640080"/>
          </a:xfrm>
          <a:prstGeom prst="rect">
            <a:avLst/>
          </a:prstGeom>
          <a:noFill/>
        </p:spPr>
        <p:txBody>
          <a:bodyPr wrap="square" anchor="t" lIns="0" rIns="0" tIns="0" bIns="0">
            <a:spAutoFit/>
          </a:bodyPr>
          <a:lstStyle/>
          <a:p>
            <a:pPr algn="l">
              <a:lnSpc>
                <a:spcPct val="128000"/>
              </a:lnSpc>
            </a:pPr>
            <a:r>
              <a:rPr sz="1100" b="0">
                <a:solidFill>
                  <a:srgbClr val="57534B"/>
                </a:solidFill>
                <a:latin typeface="Inter"/>
              </a:rPr>
              <a:t>AbstractTask.setStatus() checks that table and throws on an illegal move.</a:t>
            </a:r>
          </a:p>
        </p:txBody>
      </p:sp>
      <p:pic>
        <p:nvPicPr>
          <p:cNvPr id="20" name="Picture 19" descr="refresh-cw-01__violet.png"/>
          <p:cNvPicPr>
            <a:picLocks noChangeAspect="1"/>
          </p:cNvPicPr>
          <p:nvPr/>
        </p:nvPicPr>
        <p:blipFill>
          <a:blip r:embed="rId3"/>
          <a:stretch>
            <a:fillRect/>
          </a:stretch>
        </p:blipFill>
        <p:spPr>
          <a:xfrm>
            <a:off x="6537960" y="4160520"/>
            <a:ext cx="292608" cy="292608"/>
          </a:xfrm>
          <a:prstGeom prst="rect">
            <a:avLst/>
          </a:prstGeom>
        </p:spPr>
      </p:pic>
      <p:sp>
        <p:nvSpPr>
          <p:cNvPr id="21" name="TextBox 20"/>
          <p:cNvSpPr txBox="1"/>
          <p:nvPr/>
        </p:nvSpPr>
        <p:spPr>
          <a:xfrm>
            <a:off x="6940296" y="4160520"/>
            <a:ext cx="4501591" cy="365760"/>
          </a:xfrm>
          <a:prstGeom prst="rect">
            <a:avLst/>
          </a:prstGeom>
          <a:noFill/>
        </p:spPr>
        <p:txBody>
          <a:bodyPr wrap="square" anchor="t" lIns="0" rIns="0" tIns="0" bIns="0">
            <a:spAutoFit/>
          </a:bodyPr>
          <a:lstStyle/>
          <a:p>
            <a:pPr algn="l"/>
            <a:r>
              <a:rPr sz="1300" b="0">
                <a:solidFill>
                  <a:srgbClr val="1C1A16"/>
                </a:solidFill>
                <a:latin typeface="Inter SemiBold"/>
              </a:rPr>
              <a:t>No shortcuts</a:t>
            </a:r>
          </a:p>
        </p:txBody>
      </p:sp>
      <p:sp>
        <p:nvSpPr>
          <p:cNvPr id="22" name="TextBox 21"/>
          <p:cNvSpPr txBox="1"/>
          <p:nvPr/>
        </p:nvSpPr>
        <p:spPr>
          <a:xfrm>
            <a:off x="6940296" y="4434840"/>
            <a:ext cx="4501591" cy="640080"/>
          </a:xfrm>
          <a:prstGeom prst="rect">
            <a:avLst/>
          </a:prstGeom>
          <a:noFill/>
        </p:spPr>
        <p:txBody>
          <a:bodyPr wrap="square" anchor="t" lIns="0" rIns="0" tIns="0" bIns="0">
            <a:spAutoFit/>
          </a:bodyPr>
          <a:lstStyle/>
          <a:p>
            <a:pPr algn="l">
              <a:lnSpc>
                <a:spcPct val="128000"/>
              </a:lnSpc>
            </a:pPr>
            <a:r>
              <a:rPr sz="1100" b="0">
                <a:solidFill>
                  <a:srgbClr val="57534B"/>
                </a:solidFill>
                <a:latin typeface="Inter"/>
              </a:rPr>
              <a:t>The engine refuses to jump OPEN straight to DONE; the cycle has to be walked.</a:t>
            </a:r>
          </a:p>
        </p:txBody>
      </p:sp>
      <p:pic>
        <p:nvPicPr>
          <p:cNvPr id="23" name="Picture 22" descr="refresh-cw-01__violet.png"/>
          <p:cNvPicPr>
            <a:picLocks noChangeAspect="1"/>
          </p:cNvPicPr>
          <p:nvPr/>
        </p:nvPicPr>
        <p:blipFill>
          <a:blip r:embed="rId3"/>
          <a:stretch>
            <a:fillRect/>
          </a:stretch>
        </p:blipFill>
        <p:spPr>
          <a:xfrm>
            <a:off x="6537960" y="5074920"/>
            <a:ext cx="292608" cy="292608"/>
          </a:xfrm>
          <a:prstGeom prst="rect">
            <a:avLst/>
          </a:prstGeom>
        </p:spPr>
      </p:pic>
      <p:sp>
        <p:nvSpPr>
          <p:cNvPr id="24" name="TextBox 23"/>
          <p:cNvSpPr txBox="1"/>
          <p:nvPr/>
        </p:nvSpPr>
        <p:spPr>
          <a:xfrm>
            <a:off x="6940296" y="5074920"/>
            <a:ext cx="4501591" cy="365760"/>
          </a:xfrm>
          <a:prstGeom prst="rect">
            <a:avLst/>
          </a:prstGeom>
          <a:noFill/>
        </p:spPr>
        <p:txBody>
          <a:bodyPr wrap="square" anchor="t" lIns="0" rIns="0" tIns="0" bIns="0">
            <a:spAutoFit/>
          </a:bodyPr>
          <a:lstStyle/>
          <a:p>
            <a:pPr algn="l"/>
            <a:r>
              <a:rPr sz="1300" b="0">
                <a:solidFill>
                  <a:srgbClr val="1C1A16"/>
                </a:solidFill>
                <a:latin typeface="Inter SemiBold"/>
              </a:rPr>
              <a:t>State, for zero extra files</a:t>
            </a:r>
          </a:p>
        </p:txBody>
      </p:sp>
      <p:sp>
        <p:nvSpPr>
          <p:cNvPr id="25" name="TextBox 24"/>
          <p:cNvSpPr txBox="1"/>
          <p:nvPr/>
        </p:nvSpPr>
        <p:spPr>
          <a:xfrm>
            <a:off x="6940296" y="5349240"/>
            <a:ext cx="4501591" cy="640080"/>
          </a:xfrm>
          <a:prstGeom prst="rect">
            <a:avLst/>
          </a:prstGeom>
          <a:noFill/>
        </p:spPr>
        <p:txBody>
          <a:bodyPr wrap="square" anchor="t" lIns="0" rIns="0" tIns="0" bIns="0">
            <a:spAutoFit/>
          </a:bodyPr>
          <a:lstStyle/>
          <a:p>
            <a:pPr algn="l">
              <a:lnSpc>
                <a:spcPct val="128000"/>
              </a:lnSpc>
            </a:pPr>
            <a:r>
              <a:rPr sz="1100" b="0">
                <a:solidFill>
                  <a:srgbClr val="57534B"/>
                </a:solidFill>
                <a:latin typeface="Inter"/>
              </a:rPr>
              <a:t>The whole pattern lives in one enum, with no extra classes.</a:t>
            </a:r>
          </a:p>
        </p:txBody>
      </p:sp>
      <p:sp>
        <p:nvSpPr>
          <p:cNvPr id="26" name="TextBox 25"/>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27" name="TextBox 26"/>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15 / 32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7C72"/>
        </a:solidFill>
        <a:effectLst/>
      </p:bgPr>
    </p:bg>
    <p:spTree>
      <p:nvGrpSpPr>
        <p:cNvPr id="1" name=""/>
        <p:cNvGrpSpPr/>
        <p:nvPr/>
      </p:nvGrpSpPr>
      <p:grpSpPr/>
      <p:sp>
        <p:nvSpPr>
          <p:cNvPr id="2" name="TextBox 1"/>
          <p:cNvSpPr txBox="1"/>
          <p:nvPr/>
        </p:nvSpPr>
        <p:spPr>
          <a:xfrm>
            <a:off x="749808" y="603504"/>
            <a:ext cx="8229600" cy="274320"/>
          </a:xfrm>
          <a:prstGeom prst="rect">
            <a:avLst/>
          </a:prstGeom>
          <a:noFill/>
        </p:spPr>
        <p:txBody>
          <a:bodyPr wrap="square" anchor="t" lIns="0" rIns="0" tIns="0" bIns="0">
            <a:spAutoFit/>
          </a:bodyPr>
          <a:lstStyle/>
          <a:p>
            <a:pPr algn="l"/>
            <a:r>
              <a:rPr sz="1100" b="1" spc="280">
                <a:solidFill>
                  <a:srgbClr val="FFFFFF"/>
                </a:solidFill>
                <a:latin typeface="Inter SemiBold"/>
              </a:rPr>
              <a:t>SECTION 03</a:t>
            </a:r>
          </a:p>
        </p:txBody>
      </p:sp>
      <p:sp>
        <p:nvSpPr>
          <p:cNvPr id="3" name="Rounded Rectangle 2"/>
          <p:cNvSpPr/>
          <p:nvPr/>
        </p:nvSpPr>
        <p:spPr>
          <a:xfrm>
            <a:off x="9613087" y="640080"/>
            <a:ext cx="292608" cy="64008"/>
          </a:xfrm>
          <a:prstGeom prst="roundRect">
            <a:avLst>
              <a:gd name="adj" fmla="val 50000"/>
            </a:avLst>
          </a:prstGeom>
          <a:solidFill>
            <a:srgbClr val="56A3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97135" y="640080"/>
            <a:ext cx="292608" cy="64008"/>
          </a:xfrm>
          <a:prstGeom prst="roundRect">
            <a:avLst>
              <a:gd name="adj" fmla="val 50000"/>
            </a:avLst>
          </a:prstGeom>
          <a:solidFill>
            <a:srgbClr val="56A3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381183" y="640080"/>
            <a:ext cx="292608" cy="640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65231" y="640080"/>
            <a:ext cx="292608" cy="64008"/>
          </a:xfrm>
          <a:prstGeom prst="roundRect">
            <a:avLst>
              <a:gd name="adj" fmla="val 50000"/>
            </a:avLst>
          </a:prstGeom>
          <a:solidFill>
            <a:srgbClr val="56A3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49279" y="640080"/>
            <a:ext cx="292608" cy="64008"/>
          </a:xfrm>
          <a:prstGeom prst="roundRect">
            <a:avLst>
              <a:gd name="adj" fmla="val 50000"/>
            </a:avLst>
          </a:prstGeom>
          <a:solidFill>
            <a:srgbClr val="56A3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D4E7E6"/>
                </a:solidFill>
                <a:latin typeface="Inter SemiBold"/>
              </a:rPr>
              <a:t>SECTION 3 / 5</a:t>
            </a:r>
          </a:p>
        </p:txBody>
      </p:sp>
      <p:pic>
        <p:nvPicPr>
          <p:cNvPr id="9" name="Picture 8" descr="grid-01__white.png"/>
          <p:cNvPicPr>
            <a:picLocks noChangeAspect="1"/>
          </p:cNvPicPr>
          <p:nvPr/>
        </p:nvPicPr>
        <p:blipFill>
          <a:blip r:embed="rId2"/>
          <a:stretch>
            <a:fillRect/>
          </a:stretch>
        </p:blipFill>
        <p:spPr>
          <a:xfrm>
            <a:off x="9590227" y="1165860"/>
            <a:ext cx="1417320" cy="1417320"/>
          </a:xfrm>
          <a:prstGeom prst="rect">
            <a:avLst/>
          </a:prstGeom>
        </p:spPr>
      </p:pic>
      <p:cxnSp>
        <p:nvCxnSpPr>
          <p:cNvPr id="10" name="Connector 9"/>
          <p:cNvCxnSpPr/>
          <p:nvPr/>
        </p:nvCxnSpPr>
        <p:spPr>
          <a:xfrm>
            <a:off x="749808" y="3017520"/>
            <a:ext cx="10692079" cy="0"/>
          </a:xfrm>
          <a:prstGeom prst="line">
            <a:avLst/>
          </a:prstGeom>
          <a:ln w="20320">
            <a:solidFill>
              <a:srgbClr val="82BBB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3291840"/>
            <a:ext cx="9411919" cy="1280160"/>
          </a:xfrm>
          <a:prstGeom prst="rect">
            <a:avLst/>
          </a:prstGeom>
          <a:noFill/>
        </p:spPr>
        <p:txBody>
          <a:bodyPr wrap="square" anchor="t" lIns="0" rIns="0" tIns="0" bIns="0">
            <a:spAutoFit/>
          </a:bodyPr>
          <a:lstStyle/>
          <a:p>
            <a:pPr algn="l">
              <a:lnSpc>
                <a:spcPct val="105000"/>
              </a:lnSpc>
            </a:pPr>
            <a:r>
              <a:rPr sz="3700" b="0">
                <a:solidFill>
                  <a:srgbClr val="FFFFFF"/>
                </a:solidFill>
                <a:latin typeface="Spectral SemiBold"/>
              </a:rPr>
              <a:t>Architecture and implementation.</a:t>
            </a:r>
          </a:p>
        </p:txBody>
      </p:sp>
      <p:sp>
        <p:nvSpPr>
          <p:cNvPr id="12" name="TextBox 11"/>
          <p:cNvSpPr txBox="1"/>
          <p:nvPr/>
        </p:nvSpPr>
        <p:spPr>
          <a:xfrm>
            <a:off x="749808" y="4370832"/>
            <a:ext cx="8680399" cy="914400"/>
          </a:xfrm>
          <a:prstGeom prst="rect">
            <a:avLst/>
          </a:prstGeom>
          <a:noFill/>
        </p:spPr>
        <p:txBody>
          <a:bodyPr wrap="square" anchor="t" lIns="0" rIns="0" tIns="0" bIns="0">
            <a:spAutoFit/>
          </a:bodyPr>
          <a:lstStyle/>
          <a:p>
            <a:pPr algn="l">
              <a:lnSpc>
                <a:spcPct val="142000"/>
              </a:lnSpc>
            </a:pPr>
            <a:r>
              <a:rPr sz="1400" b="0">
                <a:solidFill>
                  <a:srgbClr val="D4E7E6"/>
                </a:solidFill>
                <a:latin typeface="Inter"/>
              </a:rPr>
              <a:t>How the design looks as classes, how one request flows through it, and how it satisfies all five SOLID principles.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C5A2B"/>
                </a:solidFill>
                <a:latin typeface="Inter SemiBold"/>
              </a:rPr>
              <a:t>ARCHITECTURE  ·  STRUCTURE  ·  FACTORY METHOD</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0E7C72"/>
                </a:solidFill>
                <a:latin typeface="Inter SemiBold"/>
              </a:rPr>
              <a:t>SECTION 3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300" b="0">
                <a:solidFill>
                  <a:srgbClr val="1C1A16"/>
                </a:solidFill>
                <a:latin typeface="Spectral SemiBold"/>
              </a:rPr>
              <a:t>Class view — the Factory Method side.</a:t>
            </a:r>
          </a:p>
        </p:txBody>
      </p:sp>
      <p:sp>
        <p:nvSpPr>
          <p:cNvPr id="11" name="TextBox 10"/>
          <p:cNvSpPr txBox="1"/>
          <p:nvPr/>
        </p:nvSpPr>
        <p:spPr>
          <a:xfrm>
            <a:off x="749808" y="1938528"/>
            <a:ext cx="9777679" cy="640080"/>
          </a:xfrm>
          <a:prstGeom prst="rect">
            <a:avLst/>
          </a:prstGeom>
          <a:noFill/>
        </p:spPr>
        <p:txBody>
          <a:bodyPr wrap="square" anchor="t" lIns="0" rIns="0" tIns="0" bIns="0">
            <a:spAutoFit/>
          </a:bodyPr>
          <a:lstStyle/>
          <a:p>
            <a:pPr algn="l">
              <a:lnSpc>
                <a:spcPct val="136000"/>
              </a:lnSpc>
            </a:pPr>
            <a:r>
              <a:rPr sz="1150" b="0">
                <a:solidFill>
                  <a:srgbClr val="8C877D"/>
                </a:solidFill>
                <a:latin typeface="Inter"/>
              </a:rPr>
              <a:t>TaskManager talks only to the abstract TaskFactory, which creates a Task. Each concrete factory and each concrete task slots in underneath.</a:t>
            </a:r>
          </a:p>
        </p:txBody>
      </p:sp>
      <p:sp>
        <p:nvSpPr>
          <p:cNvPr id="12" name="Rounded Rectangle 11"/>
          <p:cNvSpPr/>
          <p:nvPr/>
        </p:nvSpPr>
        <p:spPr>
          <a:xfrm>
            <a:off x="749808" y="2395728"/>
            <a:ext cx="10692079" cy="3749039"/>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395728"/>
            <a:ext cx="10692079" cy="0"/>
          </a:xfrm>
          <a:prstGeom prst="line">
            <a:avLst/>
          </a:prstGeom>
          <a:ln w="30480">
            <a:solidFill>
              <a:srgbClr val="BC5A2B"/>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class-factory.png"/>
          <p:cNvPicPr>
            <a:picLocks noChangeAspect="1"/>
          </p:cNvPicPr>
          <p:nvPr/>
        </p:nvPicPr>
        <p:blipFill>
          <a:blip r:embed="rId2"/>
          <a:stretch>
            <a:fillRect/>
          </a:stretch>
        </p:blipFill>
        <p:spPr>
          <a:xfrm>
            <a:off x="1718798" y="2596896"/>
            <a:ext cx="8754097" cy="3383279"/>
          </a:xfrm>
          <a:prstGeom prst="rect">
            <a:avLst/>
          </a:prstGeom>
        </p:spPr>
      </p:pic>
      <p:sp>
        <p:nvSpPr>
          <p:cNvPr id="15" name="TextBox 1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16" name="TextBox 1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17 / 32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ARCHITECTURE  ·  STRUCTURE  ·  STRATEGY</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0E7C72"/>
                </a:solidFill>
                <a:latin typeface="Inter SemiBold"/>
              </a:rPr>
              <a:t>SECTION 3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300" b="0">
                <a:solidFill>
                  <a:srgbClr val="1C1A16"/>
                </a:solidFill>
                <a:latin typeface="Spectral SemiBold"/>
              </a:rPr>
              <a:t>Class view — the Strategy side.</a:t>
            </a:r>
          </a:p>
        </p:txBody>
      </p:sp>
      <p:sp>
        <p:nvSpPr>
          <p:cNvPr id="11" name="TextBox 10"/>
          <p:cNvSpPr txBox="1"/>
          <p:nvPr/>
        </p:nvSpPr>
        <p:spPr>
          <a:xfrm>
            <a:off x="749808" y="1938528"/>
            <a:ext cx="9777679" cy="640080"/>
          </a:xfrm>
          <a:prstGeom prst="rect">
            <a:avLst/>
          </a:prstGeom>
          <a:noFill/>
        </p:spPr>
        <p:txBody>
          <a:bodyPr wrap="square" anchor="t" lIns="0" rIns="0" tIns="0" bIns="0">
            <a:spAutoFit/>
          </a:bodyPr>
          <a:lstStyle/>
          <a:p>
            <a:pPr algn="l">
              <a:lnSpc>
                <a:spcPct val="136000"/>
              </a:lnSpc>
            </a:pPr>
            <a:r>
              <a:rPr sz="1150" b="0">
                <a:solidFill>
                  <a:srgbClr val="8C877D"/>
                </a:solidFill>
                <a:latin typeface="Inter"/>
              </a:rPr>
              <a:t>TaskManager holds one PriorityStrategy and can swap it at runtime. Each ordering is an interchangeable implementation of the same interface.</a:t>
            </a:r>
          </a:p>
        </p:txBody>
      </p:sp>
      <p:sp>
        <p:nvSpPr>
          <p:cNvPr id="12" name="Rounded Rectangle 11"/>
          <p:cNvSpPr/>
          <p:nvPr/>
        </p:nvSpPr>
        <p:spPr>
          <a:xfrm>
            <a:off x="749808" y="2395728"/>
            <a:ext cx="10692079" cy="3749039"/>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395728"/>
            <a:ext cx="10692079" cy="0"/>
          </a:xfrm>
          <a:prstGeom prst="line">
            <a:avLst/>
          </a:prstGeom>
          <a:ln w="30480">
            <a:solidFill>
              <a:srgbClr val="0E7C72"/>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class-strategy.png"/>
          <p:cNvPicPr>
            <a:picLocks noChangeAspect="1"/>
          </p:cNvPicPr>
          <p:nvPr/>
        </p:nvPicPr>
        <p:blipFill>
          <a:blip r:embed="rId2"/>
          <a:stretch>
            <a:fillRect/>
          </a:stretch>
        </p:blipFill>
        <p:spPr>
          <a:xfrm>
            <a:off x="2052415" y="2596896"/>
            <a:ext cx="8086864" cy="3383279"/>
          </a:xfrm>
          <a:prstGeom prst="rect">
            <a:avLst/>
          </a:prstGeom>
        </p:spPr>
      </p:pic>
      <p:sp>
        <p:nvSpPr>
          <p:cNvPr id="15" name="TextBox 1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16" name="TextBox 1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18 / 32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C5A2B"/>
                </a:solidFill>
                <a:latin typeface="Inter SemiBold"/>
              </a:rPr>
              <a:t>ARCHITECTURE  ·  BEHAVIOUR  ·  CREATION</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0E7C72"/>
                </a:solidFill>
                <a:latin typeface="Inter SemiBold"/>
              </a:rPr>
              <a:t>SECTION 3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300" b="0">
                <a:solidFill>
                  <a:srgbClr val="1C1A16"/>
                </a:solidFill>
                <a:latin typeface="Spectral SemiBold"/>
              </a:rPr>
              <a:t>Creating a task, step by step.</a:t>
            </a:r>
          </a:p>
        </p:txBody>
      </p:sp>
      <p:sp>
        <p:nvSpPr>
          <p:cNvPr id="11" name="TextBox 10"/>
          <p:cNvSpPr txBox="1"/>
          <p:nvPr/>
        </p:nvSpPr>
        <p:spPr>
          <a:xfrm>
            <a:off x="749808" y="1938528"/>
            <a:ext cx="9777679" cy="640080"/>
          </a:xfrm>
          <a:prstGeom prst="rect">
            <a:avLst/>
          </a:prstGeom>
          <a:noFill/>
        </p:spPr>
        <p:txBody>
          <a:bodyPr wrap="square" anchor="t" lIns="0" rIns="0" tIns="0" bIns="0">
            <a:spAutoFit/>
          </a:bodyPr>
          <a:lstStyle/>
          <a:p>
            <a:pPr algn="l">
              <a:lnSpc>
                <a:spcPct val="136000"/>
              </a:lnSpc>
            </a:pPr>
            <a:r>
              <a:rPr sz="1150" b="0">
                <a:solidFill>
                  <a:srgbClr val="8C877D"/>
                </a:solidFill>
                <a:latin typeface="Inter"/>
              </a:rPr>
              <a:t>The caller passes a type string; the manager looks up the registered factory and returns a Task. No concrete class is ever named by the caller.</a:t>
            </a:r>
          </a:p>
        </p:txBody>
      </p:sp>
      <p:sp>
        <p:nvSpPr>
          <p:cNvPr id="12" name="Rounded Rectangle 11"/>
          <p:cNvSpPr/>
          <p:nvPr/>
        </p:nvSpPr>
        <p:spPr>
          <a:xfrm>
            <a:off x="749808" y="2395728"/>
            <a:ext cx="10692079" cy="3749039"/>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395728"/>
            <a:ext cx="10692079" cy="0"/>
          </a:xfrm>
          <a:prstGeom prst="line">
            <a:avLst/>
          </a:prstGeom>
          <a:ln w="30480">
            <a:solidFill>
              <a:srgbClr val="BC5A2B"/>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seq-create.png"/>
          <p:cNvPicPr>
            <a:picLocks noChangeAspect="1"/>
          </p:cNvPicPr>
          <p:nvPr/>
        </p:nvPicPr>
        <p:blipFill>
          <a:blip r:embed="rId2"/>
          <a:stretch>
            <a:fillRect/>
          </a:stretch>
        </p:blipFill>
        <p:spPr>
          <a:xfrm>
            <a:off x="2668855" y="2596896"/>
            <a:ext cx="6853983" cy="3383279"/>
          </a:xfrm>
          <a:prstGeom prst="rect">
            <a:avLst/>
          </a:prstGeom>
        </p:spPr>
      </p:pic>
      <p:sp>
        <p:nvSpPr>
          <p:cNvPr id="15" name="TextBox 1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16" name="TextBox 1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19 / 32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ARCHITECTURE  ·  BEHAVIOUR  ·  ORDERING</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0E7C72"/>
                </a:solidFill>
                <a:latin typeface="Inter SemiBold"/>
              </a:rPr>
              <a:t>SECTION 3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300" b="0">
                <a:solidFill>
                  <a:srgbClr val="1C1A16"/>
                </a:solidFill>
                <a:latin typeface="Spectral SemiBold"/>
              </a:rPr>
              <a:t>Ordering the list, step by step.</a:t>
            </a:r>
          </a:p>
        </p:txBody>
      </p:sp>
      <p:sp>
        <p:nvSpPr>
          <p:cNvPr id="11" name="TextBox 10"/>
          <p:cNvSpPr txBox="1"/>
          <p:nvPr/>
        </p:nvSpPr>
        <p:spPr>
          <a:xfrm>
            <a:off x="749808" y="1938528"/>
            <a:ext cx="9777679" cy="640080"/>
          </a:xfrm>
          <a:prstGeom prst="rect">
            <a:avLst/>
          </a:prstGeom>
          <a:noFill/>
        </p:spPr>
        <p:txBody>
          <a:bodyPr wrap="square" anchor="t" lIns="0" rIns="0" tIns="0" bIns="0">
            <a:spAutoFit/>
          </a:bodyPr>
          <a:lstStyle/>
          <a:p>
            <a:pPr algn="l">
              <a:lnSpc>
                <a:spcPct val="136000"/>
              </a:lnSpc>
            </a:pPr>
            <a:r>
              <a:rPr sz="1150" b="0">
                <a:solidFill>
                  <a:srgbClr val="8C877D"/>
                </a:solidFill>
                <a:latin typeface="Inter"/>
              </a:rPr>
              <a:t>Set a strategy, then ask for the prioritized list. The manager delegates the sort to whichever strategy is currently set.</a:t>
            </a:r>
          </a:p>
        </p:txBody>
      </p:sp>
      <p:sp>
        <p:nvSpPr>
          <p:cNvPr id="12" name="Rounded Rectangle 11"/>
          <p:cNvSpPr/>
          <p:nvPr/>
        </p:nvSpPr>
        <p:spPr>
          <a:xfrm>
            <a:off x="749808" y="2395728"/>
            <a:ext cx="10692079" cy="3749039"/>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395728"/>
            <a:ext cx="10692079" cy="0"/>
          </a:xfrm>
          <a:prstGeom prst="line">
            <a:avLst/>
          </a:prstGeom>
          <a:ln w="30480">
            <a:solidFill>
              <a:srgbClr val="0E7C72"/>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seq-order.png"/>
          <p:cNvPicPr>
            <a:picLocks noChangeAspect="1"/>
          </p:cNvPicPr>
          <p:nvPr/>
        </p:nvPicPr>
        <p:blipFill>
          <a:blip r:embed="rId2"/>
          <a:stretch>
            <a:fillRect/>
          </a:stretch>
        </p:blipFill>
        <p:spPr>
          <a:xfrm>
            <a:off x="3438040" y="2596896"/>
            <a:ext cx="5315614" cy="3383279"/>
          </a:xfrm>
          <a:prstGeom prst="rect">
            <a:avLst/>
          </a:prstGeom>
        </p:spPr>
      </p:pic>
      <p:sp>
        <p:nvSpPr>
          <p:cNvPr id="15" name="TextBox 1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16" name="TextBox 1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20 / 32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IMPLEMENTATION  ·  STRUCTURE</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0E7C72"/>
                </a:solidFill>
                <a:latin typeface="Inter SemiBold"/>
              </a:rPr>
              <a:t>SECTION 3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Sixteen files, three layers.</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No package declarations, only java.util and java.time imported. The columns mirror the three layers of the class diagram.</a:t>
            </a:r>
          </a:p>
        </p:txBody>
      </p:sp>
      <p:sp>
        <p:nvSpPr>
          <p:cNvPr id="12" name="Rounded Rectangle 11"/>
          <p:cNvSpPr/>
          <p:nvPr/>
        </p:nvSpPr>
        <p:spPr>
          <a:xfrm>
            <a:off x="749808" y="2697480"/>
            <a:ext cx="3289706" cy="301752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24127" y="2953512"/>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ube-01__indigo.png"/>
          <p:cNvPicPr>
            <a:picLocks noChangeAspect="1"/>
          </p:cNvPicPr>
          <p:nvPr/>
        </p:nvPicPr>
        <p:blipFill>
          <a:blip r:embed="rId2"/>
          <a:stretch>
            <a:fillRect/>
          </a:stretch>
        </p:blipFill>
        <p:spPr>
          <a:xfrm>
            <a:off x="1124712" y="3054096"/>
            <a:ext cx="256032" cy="256032"/>
          </a:xfrm>
          <a:prstGeom prst="rect">
            <a:avLst/>
          </a:prstGeom>
        </p:spPr>
      </p:pic>
      <p:sp>
        <p:nvSpPr>
          <p:cNvPr id="15" name="TextBox 14"/>
          <p:cNvSpPr txBox="1"/>
          <p:nvPr/>
        </p:nvSpPr>
        <p:spPr>
          <a:xfrm>
            <a:off x="1645919" y="2953512"/>
            <a:ext cx="2192426" cy="457200"/>
          </a:xfrm>
          <a:prstGeom prst="rect">
            <a:avLst/>
          </a:prstGeom>
          <a:noFill/>
        </p:spPr>
        <p:txBody>
          <a:bodyPr wrap="square" anchor="ctr" lIns="0" rIns="0" tIns="0" bIns="0">
            <a:spAutoFit/>
          </a:bodyPr>
          <a:lstStyle/>
          <a:p>
            <a:pPr algn="l"/>
            <a:r>
              <a:rPr sz="1100" b="0" spc="140">
                <a:solidFill>
                  <a:srgbClr val="1C1A16"/>
                </a:solidFill>
                <a:latin typeface="Inter SemiBold"/>
              </a:rPr>
              <a:t>PRODUCT LAYER</a:t>
            </a:r>
          </a:p>
        </p:txBody>
      </p:sp>
      <p:sp>
        <p:nvSpPr>
          <p:cNvPr id="16" name="TextBox 15"/>
          <p:cNvSpPr txBox="1"/>
          <p:nvPr/>
        </p:nvSpPr>
        <p:spPr>
          <a:xfrm>
            <a:off x="1060704" y="363931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17" name="TextBox 16"/>
          <p:cNvSpPr txBox="1"/>
          <p:nvPr/>
        </p:nvSpPr>
        <p:spPr>
          <a:xfrm>
            <a:off x="1280160" y="36484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Task (interface)</a:t>
            </a:r>
          </a:p>
        </p:txBody>
      </p:sp>
      <p:sp>
        <p:nvSpPr>
          <p:cNvPr id="18" name="TextBox 17"/>
          <p:cNvSpPr txBox="1"/>
          <p:nvPr/>
        </p:nvSpPr>
        <p:spPr>
          <a:xfrm>
            <a:off x="1060704" y="409651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19" name="TextBox 18"/>
          <p:cNvSpPr txBox="1"/>
          <p:nvPr/>
        </p:nvSpPr>
        <p:spPr>
          <a:xfrm>
            <a:off x="1280160" y="41056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AbstractTask (base)</a:t>
            </a:r>
          </a:p>
        </p:txBody>
      </p:sp>
      <p:sp>
        <p:nvSpPr>
          <p:cNvPr id="20" name="TextBox 19"/>
          <p:cNvSpPr txBox="1"/>
          <p:nvPr/>
        </p:nvSpPr>
        <p:spPr>
          <a:xfrm>
            <a:off x="1060704" y="455371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21" name="TextBox 20"/>
          <p:cNvSpPr txBox="1"/>
          <p:nvPr/>
        </p:nvSpPr>
        <p:spPr>
          <a:xfrm>
            <a:off x="1280160" y="45628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BugTask, FeatureTask</a:t>
            </a:r>
          </a:p>
        </p:txBody>
      </p:sp>
      <p:sp>
        <p:nvSpPr>
          <p:cNvPr id="22" name="TextBox 21"/>
          <p:cNvSpPr txBox="1"/>
          <p:nvPr/>
        </p:nvSpPr>
        <p:spPr>
          <a:xfrm>
            <a:off x="1060704" y="501091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23" name="TextBox 22"/>
          <p:cNvSpPr txBox="1"/>
          <p:nvPr/>
        </p:nvSpPr>
        <p:spPr>
          <a:xfrm>
            <a:off x="1280160" y="50200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DocumentationTask</a:t>
            </a:r>
          </a:p>
        </p:txBody>
      </p:sp>
      <p:sp>
        <p:nvSpPr>
          <p:cNvPr id="24" name="TextBox 23"/>
          <p:cNvSpPr txBox="1"/>
          <p:nvPr/>
        </p:nvSpPr>
        <p:spPr>
          <a:xfrm>
            <a:off x="1060704" y="546811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25" name="TextBox 24"/>
          <p:cNvSpPr txBox="1"/>
          <p:nvPr/>
        </p:nvSpPr>
        <p:spPr>
          <a:xfrm>
            <a:off x="1280160" y="54772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TaskStatus (enum)</a:t>
            </a:r>
          </a:p>
        </p:txBody>
      </p:sp>
      <p:sp>
        <p:nvSpPr>
          <p:cNvPr id="26" name="Rounded Rectangle 25"/>
          <p:cNvSpPr/>
          <p:nvPr/>
        </p:nvSpPr>
        <p:spPr>
          <a:xfrm>
            <a:off x="4450994" y="2697480"/>
            <a:ext cx="3289706" cy="301752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725314" y="2953512"/>
            <a:ext cx="457200" cy="457200"/>
          </a:xfrm>
          <a:prstGeom prst="roundRect">
            <a:avLst>
              <a:gd name="adj" fmla="val 30000"/>
            </a:avLst>
          </a:prstGeom>
          <a:solidFill>
            <a:srgbClr val="F0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puzzle-piece-01__violet.png"/>
          <p:cNvPicPr>
            <a:picLocks noChangeAspect="1"/>
          </p:cNvPicPr>
          <p:nvPr/>
        </p:nvPicPr>
        <p:blipFill>
          <a:blip r:embed="rId3"/>
          <a:stretch>
            <a:fillRect/>
          </a:stretch>
        </p:blipFill>
        <p:spPr>
          <a:xfrm>
            <a:off x="4825898" y="3054096"/>
            <a:ext cx="256032" cy="256032"/>
          </a:xfrm>
          <a:prstGeom prst="rect">
            <a:avLst/>
          </a:prstGeom>
        </p:spPr>
      </p:pic>
      <p:sp>
        <p:nvSpPr>
          <p:cNvPr id="29" name="TextBox 28"/>
          <p:cNvSpPr txBox="1"/>
          <p:nvPr/>
        </p:nvSpPr>
        <p:spPr>
          <a:xfrm>
            <a:off x="5347106" y="2953512"/>
            <a:ext cx="2192426" cy="457200"/>
          </a:xfrm>
          <a:prstGeom prst="rect">
            <a:avLst/>
          </a:prstGeom>
          <a:noFill/>
        </p:spPr>
        <p:txBody>
          <a:bodyPr wrap="square" anchor="ctr" lIns="0" rIns="0" tIns="0" bIns="0">
            <a:spAutoFit/>
          </a:bodyPr>
          <a:lstStyle/>
          <a:p>
            <a:pPr algn="l"/>
            <a:r>
              <a:rPr sz="1100" b="0" spc="140">
                <a:solidFill>
                  <a:srgbClr val="1C1A16"/>
                </a:solidFill>
                <a:latin typeface="Inter SemiBold"/>
              </a:rPr>
              <a:t>PATTERN LAYER</a:t>
            </a:r>
          </a:p>
        </p:txBody>
      </p:sp>
      <p:sp>
        <p:nvSpPr>
          <p:cNvPr id="30" name="TextBox 29"/>
          <p:cNvSpPr txBox="1"/>
          <p:nvPr/>
        </p:nvSpPr>
        <p:spPr>
          <a:xfrm>
            <a:off x="4761890" y="3639312"/>
            <a:ext cx="201168" cy="274320"/>
          </a:xfrm>
          <a:prstGeom prst="rect">
            <a:avLst/>
          </a:prstGeom>
          <a:noFill/>
        </p:spPr>
        <p:txBody>
          <a:bodyPr wrap="square" anchor="t" lIns="0" rIns="0" tIns="0" bIns="0">
            <a:spAutoFit/>
          </a:bodyPr>
          <a:lstStyle/>
          <a:p>
            <a:pPr algn="l"/>
            <a:r>
              <a:rPr sz="1150" b="0">
                <a:solidFill>
                  <a:srgbClr val="7C3AED"/>
                </a:solidFill>
                <a:latin typeface="Inter SemiBold"/>
              </a:rPr>
              <a:t>›</a:t>
            </a:r>
          </a:p>
        </p:txBody>
      </p:sp>
      <p:sp>
        <p:nvSpPr>
          <p:cNvPr id="31" name="TextBox 30"/>
          <p:cNvSpPr txBox="1"/>
          <p:nvPr/>
        </p:nvSpPr>
        <p:spPr>
          <a:xfrm>
            <a:off x="4981346" y="36484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TaskFactory (abstract)</a:t>
            </a:r>
          </a:p>
        </p:txBody>
      </p:sp>
      <p:sp>
        <p:nvSpPr>
          <p:cNvPr id="32" name="TextBox 31"/>
          <p:cNvSpPr txBox="1"/>
          <p:nvPr/>
        </p:nvSpPr>
        <p:spPr>
          <a:xfrm>
            <a:off x="4761890" y="4096512"/>
            <a:ext cx="201168" cy="274320"/>
          </a:xfrm>
          <a:prstGeom prst="rect">
            <a:avLst/>
          </a:prstGeom>
          <a:noFill/>
        </p:spPr>
        <p:txBody>
          <a:bodyPr wrap="square" anchor="t" lIns="0" rIns="0" tIns="0" bIns="0">
            <a:spAutoFit/>
          </a:bodyPr>
          <a:lstStyle/>
          <a:p>
            <a:pPr algn="l"/>
            <a:r>
              <a:rPr sz="1150" b="0">
                <a:solidFill>
                  <a:srgbClr val="7C3AED"/>
                </a:solidFill>
                <a:latin typeface="Inter SemiBold"/>
              </a:rPr>
              <a:t>›</a:t>
            </a:r>
          </a:p>
        </p:txBody>
      </p:sp>
      <p:sp>
        <p:nvSpPr>
          <p:cNvPr id="33" name="TextBox 32"/>
          <p:cNvSpPr txBox="1"/>
          <p:nvPr/>
        </p:nvSpPr>
        <p:spPr>
          <a:xfrm>
            <a:off x="4981346" y="41056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Bug / Feature / Doc factories</a:t>
            </a:r>
          </a:p>
        </p:txBody>
      </p:sp>
      <p:sp>
        <p:nvSpPr>
          <p:cNvPr id="34" name="TextBox 33"/>
          <p:cNvSpPr txBox="1"/>
          <p:nvPr/>
        </p:nvSpPr>
        <p:spPr>
          <a:xfrm>
            <a:off x="4761890" y="4553712"/>
            <a:ext cx="201168" cy="274320"/>
          </a:xfrm>
          <a:prstGeom prst="rect">
            <a:avLst/>
          </a:prstGeom>
          <a:noFill/>
        </p:spPr>
        <p:txBody>
          <a:bodyPr wrap="square" anchor="t" lIns="0" rIns="0" tIns="0" bIns="0">
            <a:spAutoFit/>
          </a:bodyPr>
          <a:lstStyle/>
          <a:p>
            <a:pPr algn="l"/>
            <a:r>
              <a:rPr sz="1150" b="0">
                <a:solidFill>
                  <a:srgbClr val="7C3AED"/>
                </a:solidFill>
                <a:latin typeface="Inter SemiBold"/>
              </a:rPr>
              <a:t>›</a:t>
            </a:r>
          </a:p>
        </p:txBody>
      </p:sp>
      <p:sp>
        <p:nvSpPr>
          <p:cNvPr id="35" name="TextBox 34"/>
          <p:cNvSpPr txBox="1"/>
          <p:nvPr/>
        </p:nvSpPr>
        <p:spPr>
          <a:xfrm>
            <a:off x="4981346" y="45628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PriorityStrategy (interface)</a:t>
            </a:r>
          </a:p>
        </p:txBody>
      </p:sp>
      <p:sp>
        <p:nvSpPr>
          <p:cNvPr id="36" name="TextBox 35"/>
          <p:cNvSpPr txBox="1"/>
          <p:nvPr/>
        </p:nvSpPr>
        <p:spPr>
          <a:xfrm>
            <a:off x="4761890" y="5010912"/>
            <a:ext cx="201168" cy="274320"/>
          </a:xfrm>
          <a:prstGeom prst="rect">
            <a:avLst/>
          </a:prstGeom>
          <a:noFill/>
        </p:spPr>
        <p:txBody>
          <a:bodyPr wrap="square" anchor="t" lIns="0" rIns="0" tIns="0" bIns="0">
            <a:spAutoFit/>
          </a:bodyPr>
          <a:lstStyle/>
          <a:p>
            <a:pPr algn="l"/>
            <a:r>
              <a:rPr sz="1150" b="0">
                <a:solidFill>
                  <a:srgbClr val="7C3AED"/>
                </a:solidFill>
                <a:latin typeface="Inter SemiBold"/>
              </a:rPr>
              <a:t>›</a:t>
            </a:r>
          </a:p>
        </p:txBody>
      </p:sp>
      <p:sp>
        <p:nvSpPr>
          <p:cNvPr id="37" name="TextBox 36"/>
          <p:cNvSpPr txBox="1"/>
          <p:nvPr/>
        </p:nvSpPr>
        <p:spPr>
          <a:xfrm>
            <a:off x="4981346" y="50200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UrgentFirst, DeadlineFirst</a:t>
            </a:r>
          </a:p>
        </p:txBody>
      </p:sp>
      <p:sp>
        <p:nvSpPr>
          <p:cNvPr id="38" name="TextBox 37"/>
          <p:cNvSpPr txBox="1"/>
          <p:nvPr/>
        </p:nvSpPr>
        <p:spPr>
          <a:xfrm>
            <a:off x="4761890" y="5468112"/>
            <a:ext cx="201168" cy="274320"/>
          </a:xfrm>
          <a:prstGeom prst="rect">
            <a:avLst/>
          </a:prstGeom>
          <a:noFill/>
        </p:spPr>
        <p:txBody>
          <a:bodyPr wrap="square" anchor="t" lIns="0" rIns="0" tIns="0" bIns="0">
            <a:spAutoFit/>
          </a:bodyPr>
          <a:lstStyle/>
          <a:p>
            <a:pPr algn="l"/>
            <a:r>
              <a:rPr sz="1150" b="0">
                <a:solidFill>
                  <a:srgbClr val="7C3AED"/>
                </a:solidFill>
                <a:latin typeface="Inter SemiBold"/>
              </a:rPr>
              <a:t>›</a:t>
            </a:r>
          </a:p>
        </p:txBody>
      </p:sp>
      <p:sp>
        <p:nvSpPr>
          <p:cNvPr id="39" name="TextBox 38"/>
          <p:cNvSpPr txBox="1"/>
          <p:nvPr/>
        </p:nvSpPr>
        <p:spPr>
          <a:xfrm>
            <a:off x="4981346" y="54772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SeverityFirst</a:t>
            </a:r>
          </a:p>
        </p:txBody>
      </p:sp>
      <p:sp>
        <p:nvSpPr>
          <p:cNvPr id="40" name="Rounded Rectangle 39"/>
          <p:cNvSpPr/>
          <p:nvPr/>
        </p:nvSpPr>
        <p:spPr>
          <a:xfrm>
            <a:off x="8152180" y="2697480"/>
            <a:ext cx="3289706" cy="301752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426500" y="295351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settings-01__indigo.png"/>
          <p:cNvPicPr>
            <a:picLocks noChangeAspect="1"/>
          </p:cNvPicPr>
          <p:nvPr/>
        </p:nvPicPr>
        <p:blipFill>
          <a:blip r:embed="rId4"/>
          <a:stretch>
            <a:fillRect/>
          </a:stretch>
        </p:blipFill>
        <p:spPr>
          <a:xfrm>
            <a:off x="8527084" y="3054096"/>
            <a:ext cx="256032" cy="256032"/>
          </a:xfrm>
          <a:prstGeom prst="rect">
            <a:avLst/>
          </a:prstGeom>
        </p:spPr>
      </p:pic>
      <p:sp>
        <p:nvSpPr>
          <p:cNvPr id="43" name="TextBox 42"/>
          <p:cNvSpPr txBox="1"/>
          <p:nvPr/>
        </p:nvSpPr>
        <p:spPr>
          <a:xfrm>
            <a:off x="9048292" y="2953512"/>
            <a:ext cx="2192426" cy="457200"/>
          </a:xfrm>
          <a:prstGeom prst="rect">
            <a:avLst/>
          </a:prstGeom>
          <a:noFill/>
        </p:spPr>
        <p:txBody>
          <a:bodyPr wrap="square" anchor="ctr" lIns="0" rIns="0" tIns="0" bIns="0">
            <a:spAutoFit/>
          </a:bodyPr>
          <a:lstStyle/>
          <a:p>
            <a:pPr algn="l"/>
            <a:r>
              <a:rPr sz="1100" b="0" spc="140">
                <a:solidFill>
                  <a:srgbClr val="1C1A16"/>
                </a:solidFill>
                <a:latin typeface="Inter SemiBold"/>
              </a:rPr>
              <a:t>COORDINATION</a:t>
            </a:r>
          </a:p>
        </p:txBody>
      </p:sp>
      <p:sp>
        <p:nvSpPr>
          <p:cNvPr id="44" name="TextBox 43"/>
          <p:cNvSpPr txBox="1"/>
          <p:nvPr/>
        </p:nvSpPr>
        <p:spPr>
          <a:xfrm>
            <a:off x="8463076" y="3639312"/>
            <a:ext cx="201168" cy="274320"/>
          </a:xfrm>
          <a:prstGeom prst="rect">
            <a:avLst/>
          </a:prstGeom>
          <a:noFill/>
        </p:spPr>
        <p:txBody>
          <a:bodyPr wrap="square" anchor="t" lIns="0" rIns="0" tIns="0" bIns="0">
            <a:spAutoFit/>
          </a:bodyPr>
          <a:lstStyle/>
          <a:p>
            <a:pPr algn="l"/>
            <a:r>
              <a:rPr sz="1150" b="0">
                <a:solidFill>
                  <a:srgbClr val="0E7C72"/>
                </a:solidFill>
                <a:latin typeface="Inter SemiBold"/>
              </a:rPr>
              <a:t>›</a:t>
            </a:r>
          </a:p>
        </p:txBody>
      </p:sp>
      <p:sp>
        <p:nvSpPr>
          <p:cNvPr id="45" name="TextBox 44"/>
          <p:cNvSpPr txBox="1"/>
          <p:nvPr/>
        </p:nvSpPr>
        <p:spPr>
          <a:xfrm>
            <a:off x="8682532" y="36484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TaskManager (coordinator)</a:t>
            </a:r>
          </a:p>
        </p:txBody>
      </p:sp>
      <p:sp>
        <p:nvSpPr>
          <p:cNvPr id="46" name="TextBox 45"/>
          <p:cNvSpPr txBox="1"/>
          <p:nvPr/>
        </p:nvSpPr>
        <p:spPr>
          <a:xfrm>
            <a:off x="8463076" y="4096512"/>
            <a:ext cx="201168" cy="274320"/>
          </a:xfrm>
          <a:prstGeom prst="rect">
            <a:avLst/>
          </a:prstGeom>
          <a:noFill/>
        </p:spPr>
        <p:txBody>
          <a:bodyPr wrap="square" anchor="t" lIns="0" rIns="0" tIns="0" bIns="0">
            <a:spAutoFit/>
          </a:bodyPr>
          <a:lstStyle/>
          <a:p>
            <a:pPr algn="l"/>
            <a:r>
              <a:rPr sz="1150" b="0">
                <a:solidFill>
                  <a:srgbClr val="0E7C72"/>
                </a:solidFill>
                <a:latin typeface="Inter SemiBold"/>
              </a:rPr>
              <a:t>›</a:t>
            </a:r>
          </a:p>
        </p:txBody>
      </p:sp>
      <p:sp>
        <p:nvSpPr>
          <p:cNvPr id="47" name="TextBox 46"/>
          <p:cNvSpPr txBox="1"/>
          <p:nvPr/>
        </p:nvSpPr>
        <p:spPr>
          <a:xfrm>
            <a:off x="8682532" y="41056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Main (automated tests)</a:t>
            </a:r>
          </a:p>
        </p:txBody>
      </p:sp>
      <p:sp>
        <p:nvSpPr>
          <p:cNvPr id="48" name="TextBox 47"/>
          <p:cNvSpPr txBox="1"/>
          <p:nvPr/>
        </p:nvSpPr>
        <p:spPr>
          <a:xfrm>
            <a:off x="8463076" y="4553712"/>
            <a:ext cx="201168" cy="274320"/>
          </a:xfrm>
          <a:prstGeom prst="rect">
            <a:avLst/>
          </a:prstGeom>
          <a:noFill/>
        </p:spPr>
        <p:txBody>
          <a:bodyPr wrap="square" anchor="t" lIns="0" rIns="0" tIns="0" bIns="0">
            <a:spAutoFit/>
          </a:bodyPr>
          <a:lstStyle/>
          <a:p>
            <a:pPr algn="l"/>
            <a:r>
              <a:rPr sz="1150" b="0">
                <a:solidFill>
                  <a:srgbClr val="0E7C72"/>
                </a:solidFill>
                <a:latin typeface="Inter SemiBold"/>
              </a:rPr>
              <a:t>›</a:t>
            </a:r>
          </a:p>
        </p:txBody>
      </p:sp>
      <p:sp>
        <p:nvSpPr>
          <p:cNvPr id="49" name="TextBox 48"/>
          <p:cNvSpPr txBox="1"/>
          <p:nvPr/>
        </p:nvSpPr>
        <p:spPr>
          <a:xfrm>
            <a:off x="8682532" y="45628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TaskManagementApp (console)</a:t>
            </a:r>
          </a:p>
        </p:txBody>
      </p:sp>
      <p:sp>
        <p:nvSpPr>
          <p:cNvPr id="50" name="TextBox 49"/>
          <p:cNvSpPr txBox="1"/>
          <p:nvPr/>
        </p:nvSpPr>
        <p:spPr>
          <a:xfrm>
            <a:off x="8463076" y="5010912"/>
            <a:ext cx="201168" cy="274320"/>
          </a:xfrm>
          <a:prstGeom prst="rect">
            <a:avLst/>
          </a:prstGeom>
          <a:noFill/>
        </p:spPr>
        <p:txBody>
          <a:bodyPr wrap="square" anchor="t" lIns="0" rIns="0" tIns="0" bIns="0">
            <a:spAutoFit/>
          </a:bodyPr>
          <a:lstStyle/>
          <a:p>
            <a:pPr algn="l"/>
            <a:r>
              <a:rPr sz="1150" b="0">
                <a:solidFill>
                  <a:srgbClr val="0E7C72"/>
                </a:solidFill>
                <a:latin typeface="Inter SemiBold"/>
              </a:rPr>
              <a:t>›</a:t>
            </a:r>
          </a:p>
        </p:txBody>
      </p:sp>
      <p:sp>
        <p:nvSpPr>
          <p:cNvPr id="51" name="TextBox 50"/>
          <p:cNvSpPr txBox="1"/>
          <p:nvPr/>
        </p:nvSpPr>
        <p:spPr>
          <a:xfrm>
            <a:off x="8682532" y="50200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gui.TaskManagerGUI (Swing)</a:t>
            </a:r>
          </a:p>
        </p:txBody>
      </p:sp>
      <p:sp>
        <p:nvSpPr>
          <p:cNvPr id="52" name="Rounded Rectangle 51"/>
          <p:cNvSpPr/>
          <p:nvPr/>
        </p:nvSpPr>
        <p:spPr>
          <a:xfrm>
            <a:off x="749808" y="5870448"/>
            <a:ext cx="10692079" cy="512064"/>
          </a:xfrm>
          <a:prstGeom prst="roundRect">
            <a:avLst>
              <a:gd name="adj" fmla="val 6000"/>
            </a:avLst>
          </a:prstGeom>
          <a:solidFill>
            <a:srgbClr val="F4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24127" y="5870448"/>
            <a:ext cx="10143439" cy="512064"/>
          </a:xfrm>
          <a:prstGeom prst="rect">
            <a:avLst/>
          </a:prstGeom>
          <a:noFill/>
        </p:spPr>
        <p:txBody>
          <a:bodyPr wrap="square" anchor="ctr" lIns="0" rIns="0" tIns="0" bIns="0">
            <a:spAutoFit/>
          </a:bodyPr>
          <a:lstStyle/>
          <a:p>
            <a:pPr algn="l">
              <a:lnSpc>
                <a:spcPct val="120000"/>
              </a:lnSpc>
            </a:pPr>
            <a:r>
              <a:rPr sz="1100" b="0">
                <a:solidFill>
                  <a:srgbClr val="57534B"/>
                </a:solidFill>
                <a:latin typeface="Inter"/>
              </a:rPr>
              <a:t>All three entry points drive the same engine through its public API.   2 interfaces · 1 enum · 1 abstract · 12 concrete classes.</a:t>
            </a:r>
          </a:p>
        </p:txBody>
      </p:sp>
      <p:sp>
        <p:nvSpPr>
          <p:cNvPr id="54" name="TextBox 53"/>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55" name="TextBox 54"/>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21 / 32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IMPLEMENTATION  ·  PRINCIPLES</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0E7C72"/>
                </a:solidFill>
                <a:latin typeface="Inter SemiBold"/>
              </a:rPr>
              <a:t>SECTION 3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How the design meets SOLID.</a:t>
            </a:r>
          </a:p>
        </p:txBody>
      </p:sp>
      <p:sp>
        <p:nvSpPr>
          <p:cNvPr id="11" name="Rounded Rectangle 10"/>
          <p:cNvSpPr/>
          <p:nvPr/>
        </p:nvSpPr>
        <p:spPr>
          <a:xfrm>
            <a:off x="749808" y="2286000"/>
            <a:ext cx="3289706"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05840" y="2542032"/>
            <a:ext cx="420624" cy="420624"/>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rget-01__indigo.png"/>
          <p:cNvPicPr>
            <a:picLocks noChangeAspect="1"/>
          </p:cNvPicPr>
          <p:nvPr/>
        </p:nvPicPr>
        <p:blipFill>
          <a:blip r:embed="rId2"/>
          <a:stretch>
            <a:fillRect/>
          </a:stretch>
        </p:blipFill>
        <p:spPr>
          <a:xfrm>
            <a:off x="1098377" y="2634569"/>
            <a:ext cx="235549" cy="235549"/>
          </a:xfrm>
          <a:prstGeom prst="rect">
            <a:avLst/>
          </a:prstGeom>
        </p:spPr>
      </p:pic>
      <p:sp>
        <p:nvSpPr>
          <p:cNvPr id="14" name="TextBox 13"/>
          <p:cNvSpPr txBox="1"/>
          <p:nvPr/>
        </p:nvSpPr>
        <p:spPr>
          <a:xfrm>
            <a:off x="1591056" y="2542032"/>
            <a:ext cx="2229002" cy="420624"/>
          </a:xfrm>
          <a:prstGeom prst="rect">
            <a:avLst/>
          </a:prstGeom>
          <a:noFill/>
        </p:spPr>
        <p:txBody>
          <a:bodyPr wrap="square" anchor="ctr" lIns="0" rIns="0" tIns="0" bIns="0">
            <a:spAutoFit/>
          </a:bodyPr>
          <a:lstStyle/>
          <a:p>
            <a:pPr algn="l">
              <a:lnSpc>
                <a:spcPct val="104000"/>
              </a:lnSpc>
            </a:pPr>
            <a:r>
              <a:rPr sz="1250" b="0">
                <a:solidFill>
                  <a:srgbClr val="1C1A16"/>
                </a:solidFill>
                <a:latin typeface="Inter SemiBold"/>
              </a:rPr>
              <a:t>S · Single responsibility</a:t>
            </a:r>
          </a:p>
        </p:txBody>
      </p:sp>
      <p:sp>
        <p:nvSpPr>
          <p:cNvPr id="15" name="TextBox 14"/>
          <p:cNvSpPr txBox="1"/>
          <p:nvPr/>
        </p:nvSpPr>
        <p:spPr>
          <a:xfrm>
            <a:off x="1024127" y="3090672"/>
            <a:ext cx="2759354" cy="676656"/>
          </a:xfrm>
          <a:prstGeom prst="rect">
            <a:avLst/>
          </a:prstGeom>
          <a:noFill/>
        </p:spPr>
        <p:txBody>
          <a:bodyPr wrap="square" anchor="t" lIns="0" rIns="0" tIns="0" bIns="0">
            <a:spAutoFit/>
          </a:bodyPr>
          <a:lstStyle/>
          <a:p>
            <a:pPr algn="l">
              <a:lnSpc>
                <a:spcPct val="132000"/>
              </a:lnSpc>
            </a:pPr>
            <a:r>
              <a:rPr sz="1080" b="0">
                <a:solidFill>
                  <a:srgbClr val="57534B"/>
                </a:solidFill>
                <a:latin typeface="Inter"/>
              </a:rPr>
              <a:t>Factories build, strategies sort, the manager coordinates. One reason to change each.</a:t>
            </a:r>
          </a:p>
        </p:txBody>
      </p:sp>
      <p:sp>
        <p:nvSpPr>
          <p:cNvPr id="16" name="Rounded Rectangle 15"/>
          <p:cNvSpPr/>
          <p:nvPr/>
        </p:nvSpPr>
        <p:spPr>
          <a:xfrm>
            <a:off x="4450994" y="2286000"/>
            <a:ext cx="3289706"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707026" y="2542032"/>
            <a:ext cx="420624" cy="420624"/>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lock-unlocked-01__indigo.png"/>
          <p:cNvPicPr>
            <a:picLocks noChangeAspect="1"/>
          </p:cNvPicPr>
          <p:nvPr/>
        </p:nvPicPr>
        <p:blipFill>
          <a:blip r:embed="rId3"/>
          <a:stretch>
            <a:fillRect/>
          </a:stretch>
        </p:blipFill>
        <p:spPr>
          <a:xfrm>
            <a:off x="4799563" y="2634569"/>
            <a:ext cx="235549" cy="235549"/>
          </a:xfrm>
          <a:prstGeom prst="rect">
            <a:avLst/>
          </a:prstGeom>
        </p:spPr>
      </p:pic>
      <p:sp>
        <p:nvSpPr>
          <p:cNvPr id="19" name="TextBox 18"/>
          <p:cNvSpPr txBox="1"/>
          <p:nvPr/>
        </p:nvSpPr>
        <p:spPr>
          <a:xfrm>
            <a:off x="5292242" y="2542032"/>
            <a:ext cx="2229002" cy="420624"/>
          </a:xfrm>
          <a:prstGeom prst="rect">
            <a:avLst/>
          </a:prstGeom>
          <a:noFill/>
        </p:spPr>
        <p:txBody>
          <a:bodyPr wrap="square" anchor="ctr" lIns="0" rIns="0" tIns="0" bIns="0">
            <a:spAutoFit/>
          </a:bodyPr>
          <a:lstStyle/>
          <a:p>
            <a:pPr algn="l">
              <a:lnSpc>
                <a:spcPct val="104000"/>
              </a:lnSpc>
            </a:pPr>
            <a:r>
              <a:rPr sz="1250" b="0">
                <a:solidFill>
                  <a:srgbClr val="1C1A16"/>
                </a:solidFill>
                <a:latin typeface="Inter SemiBold"/>
              </a:rPr>
              <a:t>O · Open / Closed</a:t>
            </a:r>
          </a:p>
        </p:txBody>
      </p:sp>
      <p:sp>
        <p:nvSpPr>
          <p:cNvPr id="20" name="TextBox 19"/>
          <p:cNvSpPr txBox="1"/>
          <p:nvPr/>
        </p:nvSpPr>
        <p:spPr>
          <a:xfrm>
            <a:off x="4725314" y="3090672"/>
            <a:ext cx="2759354" cy="676656"/>
          </a:xfrm>
          <a:prstGeom prst="rect">
            <a:avLst/>
          </a:prstGeom>
          <a:noFill/>
        </p:spPr>
        <p:txBody>
          <a:bodyPr wrap="square" anchor="t" lIns="0" rIns="0" tIns="0" bIns="0">
            <a:spAutoFit/>
          </a:bodyPr>
          <a:lstStyle/>
          <a:p>
            <a:pPr algn="l">
              <a:lnSpc>
                <a:spcPct val="132000"/>
              </a:lnSpc>
            </a:pPr>
            <a:r>
              <a:rPr sz="1080" b="0">
                <a:solidFill>
                  <a:srgbClr val="57534B"/>
                </a:solidFill>
                <a:latin typeface="Inter"/>
              </a:rPr>
              <a:t>A new task type or sort is a new file plus one line. Zero edits to existing classes.</a:t>
            </a:r>
          </a:p>
        </p:txBody>
      </p:sp>
      <p:sp>
        <p:nvSpPr>
          <p:cNvPr id="21" name="Rounded Rectangle 20"/>
          <p:cNvSpPr/>
          <p:nvPr/>
        </p:nvSpPr>
        <p:spPr>
          <a:xfrm>
            <a:off x="8152180" y="2286000"/>
            <a:ext cx="3289706"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408212" y="2542032"/>
            <a:ext cx="420624" cy="420624"/>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witch-vertical-01__indigo.png"/>
          <p:cNvPicPr>
            <a:picLocks noChangeAspect="1"/>
          </p:cNvPicPr>
          <p:nvPr/>
        </p:nvPicPr>
        <p:blipFill>
          <a:blip r:embed="rId4"/>
          <a:stretch>
            <a:fillRect/>
          </a:stretch>
        </p:blipFill>
        <p:spPr>
          <a:xfrm>
            <a:off x="8500750" y="2634569"/>
            <a:ext cx="235549" cy="235549"/>
          </a:xfrm>
          <a:prstGeom prst="rect">
            <a:avLst/>
          </a:prstGeom>
        </p:spPr>
      </p:pic>
      <p:sp>
        <p:nvSpPr>
          <p:cNvPr id="24" name="TextBox 23"/>
          <p:cNvSpPr txBox="1"/>
          <p:nvPr/>
        </p:nvSpPr>
        <p:spPr>
          <a:xfrm>
            <a:off x="8993428" y="2542032"/>
            <a:ext cx="2229002" cy="420624"/>
          </a:xfrm>
          <a:prstGeom prst="rect">
            <a:avLst/>
          </a:prstGeom>
          <a:noFill/>
        </p:spPr>
        <p:txBody>
          <a:bodyPr wrap="square" anchor="ctr" lIns="0" rIns="0" tIns="0" bIns="0">
            <a:spAutoFit/>
          </a:bodyPr>
          <a:lstStyle/>
          <a:p>
            <a:pPr algn="l">
              <a:lnSpc>
                <a:spcPct val="104000"/>
              </a:lnSpc>
            </a:pPr>
            <a:r>
              <a:rPr sz="1250" b="0">
                <a:solidFill>
                  <a:srgbClr val="1C1A16"/>
                </a:solidFill>
                <a:latin typeface="Inter SemiBold"/>
              </a:rPr>
              <a:t>L · Liskov substitution</a:t>
            </a:r>
          </a:p>
        </p:txBody>
      </p:sp>
      <p:sp>
        <p:nvSpPr>
          <p:cNvPr id="25" name="TextBox 24"/>
          <p:cNvSpPr txBox="1"/>
          <p:nvPr/>
        </p:nvSpPr>
        <p:spPr>
          <a:xfrm>
            <a:off x="8426500" y="3090672"/>
            <a:ext cx="2759354" cy="676656"/>
          </a:xfrm>
          <a:prstGeom prst="rect">
            <a:avLst/>
          </a:prstGeom>
          <a:noFill/>
        </p:spPr>
        <p:txBody>
          <a:bodyPr wrap="square" anchor="t" lIns="0" rIns="0" tIns="0" bIns="0">
            <a:spAutoFit/>
          </a:bodyPr>
          <a:lstStyle/>
          <a:p>
            <a:pPr algn="l">
              <a:lnSpc>
                <a:spcPct val="132000"/>
              </a:lnSpc>
            </a:pPr>
            <a:r>
              <a:rPr sz="1080" b="0">
                <a:solidFill>
                  <a:srgbClr val="57534B"/>
                </a:solidFill>
                <a:latin typeface="Inter"/>
              </a:rPr>
              <a:t>Every factory works through the abstract reference; every strategy through the interface.</a:t>
            </a:r>
          </a:p>
        </p:txBody>
      </p:sp>
      <p:sp>
        <p:nvSpPr>
          <p:cNvPr id="26" name="Rounded Rectangle 25"/>
          <p:cNvSpPr/>
          <p:nvPr/>
        </p:nvSpPr>
        <p:spPr>
          <a:xfrm>
            <a:off x="749808" y="4133087"/>
            <a:ext cx="3289706"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05840" y="4389120"/>
            <a:ext cx="420624" cy="420624"/>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olumns-02__indigo.png"/>
          <p:cNvPicPr>
            <a:picLocks noChangeAspect="1"/>
          </p:cNvPicPr>
          <p:nvPr/>
        </p:nvPicPr>
        <p:blipFill>
          <a:blip r:embed="rId5"/>
          <a:stretch>
            <a:fillRect/>
          </a:stretch>
        </p:blipFill>
        <p:spPr>
          <a:xfrm>
            <a:off x="1098377" y="4481657"/>
            <a:ext cx="235549" cy="235549"/>
          </a:xfrm>
          <a:prstGeom prst="rect">
            <a:avLst/>
          </a:prstGeom>
        </p:spPr>
      </p:pic>
      <p:sp>
        <p:nvSpPr>
          <p:cNvPr id="29" name="TextBox 28"/>
          <p:cNvSpPr txBox="1"/>
          <p:nvPr/>
        </p:nvSpPr>
        <p:spPr>
          <a:xfrm>
            <a:off x="1591056" y="4389120"/>
            <a:ext cx="2229002" cy="420624"/>
          </a:xfrm>
          <a:prstGeom prst="rect">
            <a:avLst/>
          </a:prstGeom>
          <a:noFill/>
        </p:spPr>
        <p:txBody>
          <a:bodyPr wrap="square" anchor="ctr" lIns="0" rIns="0" tIns="0" bIns="0">
            <a:spAutoFit/>
          </a:bodyPr>
          <a:lstStyle/>
          <a:p>
            <a:pPr algn="l">
              <a:lnSpc>
                <a:spcPct val="104000"/>
              </a:lnSpc>
            </a:pPr>
            <a:r>
              <a:rPr sz="1250" b="0">
                <a:solidFill>
                  <a:srgbClr val="1C1A16"/>
                </a:solidFill>
                <a:latin typeface="Inter SemiBold"/>
              </a:rPr>
              <a:t>I · Interface segregation</a:t>
            </a:r>
          </a:p>
        </p:txBody>
      </p:sp>
      <p:sp>
        <p:nvSpPr>
          <p:cNvPr id="30" name="TextBox 29"/>
          <p:cNvSpPr txBox="1"/>
          <p:nvPr/>
        </p:nvSpPr>
        <p:spPr>
          <a:xfrm>
            <a:off x="1024127" y="4937759"/>
            <a:ext cx="2759354" cy="676656"/>
          </a:xfrm>
          <a:prstGeom prst="rect">
            <a:avLst/>
          </a:prstGeom>
          <a:noFill/>
        </p:spPr>
        <p:txBody>
          <a:bodyPr wrap="square" anchor="t" lIns="0" rIns="0" tIns="0" bIns="0">
            <a:spAutoFit/>
          </a:bodyPr>
          <a:lstStyle/>
          <a:p>
            <a:pPr algn="l">
              <a:lnSpc>
                <a:spcPct val="132000"/>
              </a:lnSpc>
            </a:pPr>
            <a:r>
              <a:rPr sz="1080" b="0">
                <a:solidFill>
                  <a:srgbClr val="57534B"/>
                </a:solidFill>
                <a:latin typeface="Inter"/>
              </a:rPr>
              <a:t>PriorityStrategy declares one method; the Task interface stays minimal.</a:t>
            </a:r>
          </a:p>
        </p:txBody>
      </p:sp>
      <p:sp>
        <p:nvSpPr>
          <p:cNvPr id="31" name="Rounded Rectangle 30"/>
          <p:cNvSpPr/>
          <p:nvPr/>
        </p:nvSpPr>
        <p:spPr>
          <a:xfrm>
            <a:off x="4450994" y="4133087"/>
            <a:ext cx="3289706"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707026" y="4389120"/>
            <a:ext cx="420624" cy="420624"/>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anchor__indigo.png"/>
          <p:cNvPicPr>
            <a:picLocks noChangeAspect="1"/>
          </p:cNvPicPr>
          <p:nvPr/>
        </p:nvPicPr>
        <p:blipFill>
          <a:blip r:embed="rId6"/>
          <a:stretch>
            <a:fillRect/>
          </a:stretch>
        </p:blipFill>
        <p:spPr>
          <a:xfrm>
            <a:off x="4799563" y="4481657"/>
            <a:ext cx="235549" cy="235549"/>
          </a:xfrm>
          <a:prstGeom prst="rect">
            <a:avLst/>
          </a:prstGeom>
        </p:spPr>
      </p:pic>
      <p:sp>
        <p:nvSpPr>
          <p:cNvPr id="34" name="TextBox 33"/>
          <p:cNvSpPr txBox="1"/>
          <p:nvPr/>
        </p:nvSpPr>
        <p:spPr>
          <a:xfrm>
            <a:off x="5292242" y="4389120"/>
            <a:ext cx="2229002" cy="420624"/>
          </a:xfrm>
          <a:prstGeom prst="rect">
            <a:avLst/>
          </a:prstGeom>
          <a:noFill/>
        </p:spPr>
        <p:txBody>
          <a:bodyPr wrap="square" anchor="ctr" lIns="0" rIns="0" tIns="0" bIns="0">
            <a:spAutoFit/>
          </a:bodyPr>
          <a:lstStyle/>
          <a:p>
            <a:pPr algn="l">
              <a:lnSpc>
                <a:spcPct val="104000"/>
              </a:lnSpc>
            </a:pPr>
            <a:r>
              <a:rPr sz="1250" b="0">
                <a:solidFill>
                  <a:srgbClr val="1C1A16"/>
                </a:solidFill>
                <a:latin typeface="Inter SemiBold"/>
              </a:rPr>
              <a:t>D · Dependency inversion</a:t>
            </a:r>
          </a:p>
        </p:txBody>
      </p:sp>
      <p:sp>
        <p:nvSpPr>
          <p:cNvPr id="35" name="TextBox 34"/>
          <p:cNvSpPr txBox="1"/>
          <p:nvPr/>
        </p:nvSpPr>
        <p:spPr>
          <a:xfrm>
            <a:off x="4725314" y="4937759"/>
            <a:ext cx="2759354" cy="676656"/>
          </a:xfrm>
          <a:prstGeom prst="rect">
            <a:avLst/>
          </a:prstGeom>
          <a:noFill/>
        </p:spPr>
        <p:txBody>
          <a:bodyPr wrap="square" anchor="t" lIns="0" rIns="0" tIns="0" bIns="0">
            <a:spAutoFit/>
          </a:bodyPr>
          <a:lstStyle/>
          <a:p>
            <a:pPr algn="l">
              <a:lnSpc>
                <a:spcPct val="132000"/>
              </a:lnSpc>
            </a:pPr>
            <a:r>
              <a:rPr sz="1080" b="0">
                <a:solidFill>
                  <a:srgbClr val="57534B"/>
                </a:solidFill>
                <a:latin typeface="Inter"/>
              </a:rPr>
              <a:t>The manager's fields are all interfaces and abstract types, never concretes.</a:t>
            </a:r>
          </a:p>
        </p:txBody>
      </p:sp>
      <p:sp>
        <p:nvSpPr>
          <p:cNvPr id="36" name="Rounded Rectangle 35"/>
          <p:cNvSpPr/>
          <p:nvPr/>
        </p:nvSpPr>
        <p:spPr>
          <a:xfrm>
            <a:off x="8152180" y="4133087"/>
            <a:ext cx="3289706"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8408212" y="4389120"/>
            <a:ext cx="420624" cy="420624"/>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layers-three-01__indigo.png"/>
          <p:cNvPicPr>
            <a:picLocks noChangeAspect="1"/>
          </p:cNvPicPr>
          <p:nvPr/>
        </p:nvPicPr>
        <p:blipFill>
          <a:blip r:embed="rId7"/>
          <a:stretch>
            <a:fillRect/>
          </a:stretch>
        </p:blipFill>
        <p:spPr>
          <a:xfrm>
            <a:off x="8500750" y="4481657"/>
            <a:ext cx="235549" cy="235549"/>
          </a:xfrm>
          <a:prstGeom prst="rect">
            <a:avLst/>
          </a:prstGeom>
        </p:spPr>
      </p:pic>
      <p:sp>
        <p:nvSpPr>
          <p:cNvPr id="39" name="TextBox 38"/>
          <p:cNvSpPr txBox="1"/>
          <p:nvPr/>
        </p:nvSpPr>
        <p:spPr>
          <a:xfrm>
            <a:off x="8993428" y="4389120"/>
            <a:ext cx="2229002" cy="420624"/>
          </a:xfrm>
          <a:prstGeom prst="rect">
            <a:avLst/>
          </a:prstGeom>
          <a:noFill/>
        </p:spPr>
        <p:txBody>
          <a:bodyPr wrap="square" anchor="ctr" lIns="0" rIns="0" tIns="0" bIns="0">
            <a:spAutoFit/>
          </a:bodyPr>
          <a:lstStyle/>
          <a:p>
            <a:pPr algn="l">
              <a:lnSpc>
                <a:spcPct val="104000"/>
              </a:lnSpc>
            </a:pPr>
            <a:r>
              <a:rPr sz="1250" b="0">
                <a:solidFill>
                  <a:srgbClr val="1C1A16"/>
                </a:solidFill>
                <a:latin typeface="Inter SemiBold"/>
              </a:rPr>
              <a:t>The throughline</a:t>
            </a:r>
          </a:p>
        </p:txBody>
      </p:sp>
      <p:sp>
        <p:nvSpPr>
          <p:cNvPr id="40" name="TextBox 39"/>
          <p:cNvSpPr txBox="1"/>
          <p:nvPr/>
        </p:nvSpPr>
        <p:spPr>
          <a:xfrm>
            <a:off x="8426500" y="4937759"/>
            <a:ext cx="2759354" cy="676656"/>
          </a:xfrm>
          <a:prstGeom prst="rect">
            <a:avLst/>
          </a:prstGeom>
          <a:noFill/>
        </p:spPr>
        <p:txBody>
          <a:bodyPr wrap="square" anchor="t" lIns="0" rIns="0" tIns="0" bIns="0">
            <a:spAutoFit/>
          </a:bodyPr>
          <a:lstStyle/>
          <a:p>
            <a:pPr algn="l">
              <a:lnSpc>
                <a:spcPct val="132000"/>
              </a:lnSpc>
            </a:pPr>
            <a:r>
              <a:rPr sz="1080" b="0">
                <a:solidFill>
                  <a:srgbClr val="57534B"/>
                </a:solidFill>
                <a:latin typeface="Inter"/>
              </a:rPr>
              <a:t>Abstractions sit in the middle of the system; concrete classes live at the edges.</a:t>
            </a:r>
          </a:p>
        </p:txBody>
      </p:sp>
      <p:sp>
        <p:nvSpPr>
          <p:cNvPr id="41" name="TextBox 40"/>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42" name="TextBox 41"/>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22 / 32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E7A45"/>
        </a:solidFill>
        <a:effectLst/>
      </p:bgPr>
    </p:bg>
    <p:spTree>
      <p:nvGrpSpPr>
        <p:cNvPr id="1" name=""/>
        <p:cNvGrpSpPr/>
        <p:nvPr/>
      </p:nvGrpSpPr>
      <p:grpSpPr/>
      <p:sp>
        <p:nvSpPr>
          <p:cNvPr id="2" name="TextBox 1"/>
          <p:cNvSpPr txBox="1"/>
          <p:nvPr/>
        </p:nvSpPr>
        <p:spPr>
          <a:xfrm>
            <a:off x="749808" y="603504"/>
            <a:ext cx="8229600" cy="274320"/>
          </a:xfrm>
          <a:prstGeom prst="rect">
            <a:avLst/>
          </a:prstGeom>
          <a:noFill/>
        </p:spPr>
        <p:txBody>
          <a:bodyPr wrap="square" anchor="t" lIns="0" rIns="0" tIns="0" bIns="0">
            <a:spAutoFit/>
          </a:bodyPr>
          <a:lstStyle/>
          <a:p>
            <a:pPr algn="l"/>
            <a:r>
              <a:rPr sz="1100" b="1" spc="280">
                <a:solidFill>
                  <a:srgbClr val="FFFFFF"/>
                </a:solidFill>
                <a:latin typeface="Inter SemiBold"/>
              </a:rPr>
              <a:t>SECTION 04</a:t>
            </a:r>
          </a:p>
        </p:txBody>
      </p:sp>
      <p:sp>
        <p:nvSpPr>
          <p:cNvPr id="3" name="Rounded Rectangle 2"/>
          <p:cNvSpPr/>
          <p:nvPr/>
        </p:nvSpPr>
        <p:spPr>
          <a:xfrm>
            <a:off x="9613087" y="640080"/>
            <a:ext cx="292608" cy="64008"/>
          </a:xfrm>
          <a:prstGeom prst="roundRect">
            <a:avLst>
              <a:gd name="adj" fmla="val 50000"/>
            </a:avLst>
          </a:prstGeom>
          <a:solidFill>
            <a:srgbClr val="62A2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97135" y="640080"/>
            <a:ext cx="292608" cy="64008"/>
          </a:xfrm>
          <a:prstGeom prst="roundRect">
            <a:avLst>
              <a:gd name="adj" fmla="val 50000"/>
            </a:avLst>
          </a:prstGeom>
          <a:solidFill>
            <a:srgbClr val="62A2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381183" y="640080"/>
            <a:ext cx="292608" cy="64008"/>
          </a:xfrm>
          <a:prstGeom prst="roundRect">
            <a:avLst>
              <a:gd name="adj" fmla="val 50000"/>
            </a:avLst>
          </a:prstGeom>
          <a:solidFill>
            <a:srgbClr val="62A2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65231" y="640080"/>
            <a:ext cx="292608" cy="640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49279" y="640080"/>
            <a:ext cx="292608" cy="64008"/>
          </a:xfrm>
          <a:prstGeom prst="roundRect">
            <a:avLst>
              <a:gd name="adj" fmla="val 50000"/>
            </a:avLst>
          </a:prstGeom>
          <a:solidFill>
            <a:srgbClr val="62A2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D6E7DE"/>
                </a:solidFill>
                <a:latin typeface="Inter SemiBold"/>
              </a:rPr>
              <a:t>SECTION 4 / 5</a:t>
            </a:r>
          </a:p>
        </p:txBody>
      </p:sp>
      <p:pic>
        <p:nvPicPr>
          <p:cNvPr id="9" name="Picture 8" descr="terminal__white.png"/>
          <p:cNvPicPr>
            <a:picLocks noChangeAspect="1"/>
          </p:cNvPicPr>
          <p:nvPr/>
        </p:nvPicPr>
        <p:blipFill>
          <a:blip r:embed="rId2"/>
          <a:stretch>
            <a:fillRect/>
          </a:stretch>
        </p:blipFill>
        <p:spPr>
          <a:xfrm>
            <a:off x="9590227" y="1165860"/>
            <a:ext cx="1417320" cy="1417320"/>
          </a:xfrm>
          <a:prstGeom prst="rect">
            <a:avLst/>
          </a:prstGeom>
        </p:spPr>
      </p:pic>
      <p:cxnSp>
        <p:nvCxnSpPr>
          <p:cNvPr id="10" name="Connector 9"/>
          <p:cNvCxnSpPr/>
          <p:nvPr/>
        </p:nvCxnSpPr>
        <p:spPr>
          <a:xfrm>
            <a:off x="749808" y="3017520"/>
            <a:ext cx="10692079" cy="0"/>
          </a:xfrm>
          <a:prstGeom prst="line">
            <a:avLst/>
          </a:prstGeom>
          <a:ln w="20320">
            <a:solidFill>
              <a:srgbClr val="8ABA9E"/>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3291840"/>
            <a:ext cx="9411919" cy="1280160"/>
          </a:xfrm>
          <a:prstGeom prst="rect">
            <a:avLst/>
          </a:prstGeom>
          <a:noFill/>
        </p:spPr>
        <p:txBody>
          <a:bodyPr wrap="square" anchor="t" lIns="0" rIns="0" tIns="0" bIns="0">
            <a:spAutoFit/>
          </a:bodyPr>
          <a:lstStyle/>
          <a:p>
            <a:pPr algn="l">
              <a:lnSpc>
                <a:spcPct val="105000"/>
              </a:lnSpc>
            </a:pPr>
            <a:r>
              <a:rPr sz="3700" b="0">
                <a:solidFill>
                  <a:srgbClr val="FFFFFF"/>
                </a:solidFill>
                <a:latin typeface="Spectral SemiBold"/>
              </a:rPr>
              <a:t>Live demonstration.</a:t>
            </a:r>
          </a:p>
        </p:txBody>
      </p:sp>
      <p:sp>
        <p:nvSpPr>
          <p:cNvPr id="12" name="TextBox 11"/>
          <p:cNvSpPr txBox="1"/>
          <p:nvPr/>
        </p:nvSpPr>
        <p:spPr>
          <a:xfrm>
            <a:off x="749808" y="4370832"/>
            <a:ext cx="8680399" cy="914400"/>
          </a:xfrm>
          <a:prstGeom prst="rect">
            <a:avLst/>
          </a:prstGeom>
          <a:noFill/>
        </p:spPr>
        <p:txBody>
          <a:bodyPr wrap="square" anchor="t" lIns="0" rIns="0" tIns="0" bIns="0">
            <a:spAutoFit/>
          </a:bodyPr>
          <a:lstStyle/>
          <a:p>
            <a:pPr algn="l">
              <a:lnSpc>
                <a:spcPct val="142000"/>
              </a:lnSpc>
            </a:pPr>
            <a:r>
              <a:rPr sz="1400" b="0">
                <a:solidFill>
                  <a:srgbClr val="D6E7DE"/>
                </a:solidFill>
                <a:latin typeface="Inter"/>
              </a:rPr>
              <a:t>The compiled system, run three ways: the automated test suite, the interactive console, and the Swing GUI.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1E7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1E7A45"/>
                </a:solidFill>
                <a:latin typeface="Inter SemiBold"/>
              </a:rPr>
              <a:t>LIVE DEMONSTRATION  ·  DEMO 1  ·  THE TERMINAL</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1E7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1E7A45"/>
                </a:solidFill>
                <a:latin typeface="Inter SemiBold"/>
              </a:rPr>
              <a:t>SECTION 4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700" b="0">
                <a:solidFill>
                  <a:srgbClr val="1C1A16"/>
                </a:solidFill>
                <a:latin typeface="Spectral SemiBold"/>
              </a:rPr>
              <a:t>Demo 1 — the terminal.</a:t>
            </a:r>
          </a:p>
        </p:txBody>
      </p:sp>
      <p:sp>
        <p:nvSpPr>
          <p:cNvPr id="11" name="TextBox 10"/>
          <p:cNvSpPr txBox="1"/>
          <p:nvPr/>
        </p:nvSpPr>
        <p:spPr>
          <a:xfrm>
            <a:off x="749808" y="1865376"/>
            <a:ext cx="10692079" cy="365760"/>
          </a:xfrm>
          <a:prstGeom prst="rect">
            <a:avLst/>
          </a:prstGeom>
          <a:noFill/>
        </p:spPr>
        <p:txBody>
          <a:bodyPr wrap="square" anchor="t" lIns="0" rIns="0" tIns="0" bIns="0">
            <a:spAutoFit/>
          </a:bodyPr>
          <a:lstStyle/>
          <a:p>
            <a:pPr algn="l">
              <a:lnSpc>
                <a:spcPct val="130000"/>
              </a:lnSpc>
            </a:pPr>
            <a:r>
              <a:rPr sz="1200" b="0">
                <a:solidFill>
                  <a:srgbClr val="57534B"/>
                </a:solidFill>
                <a:latin typeface="Inter"/>
              </a:rPr>
              <a:t>Open a terminal in the project root folder, then paste the command for each step.</a:t>
            </a:r>
          </a:p>
        </p:txBody>
      </p:sp>
      <p:sp>
        <p:nvSpPr>
          <p:cNvPr id="12" name="Rounded Rectangle 11"/>
          <p:cNvSpPr/>
          <p:nvPr/>
        </p:nvSpPr>
        <p:spPr>
          <a:xfrm>
            <a:off x="749808" y="2395728"/>
            <a:ext cx="4800600" cy="3712463"/>
          </a:xfrm>
          <a:prstGeom prst="roundRect">
            <a:avLst>
              <a:gd name="adj" fmla="val 5000"/>
            </a:avLst>
          </a:prstGeom>
          <a:solidFill>
            <a:srgbClr val="1514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50976" y="2519172"/>
            <a:ext cx="77724" cy="77724"/>
          </a:xfrm>
          <a:prstGeom prst="roundRect">
            <a:avLst>
              <a:gd name="adj" fmla="val 50000"/>
            </a:avLst>
          </a:prstGeom>
          <a:solidFill>
            <a:srgbClr val="E66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33856" y="2519172"/>
            <a:ext cx="77724" cy="77724"/>
          </a:xfrm>
          <a:prstGeom prst="roundRect">
            <a:avLst>
              <a:gd name="adj" fmla="val 50000"/>
            </a:avLst>
          </a:prstGeom>
          <a:solidFill>
            <a:srgbClr val="E7B7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316736" y="2519172"/>
            <a:ext cx="77724" cy="77724"/>
          </a:xfrm>
          <a:prstGeom prst="roundRect">
            <a:avLst>
              <a:gd name="adj" fmla="val 50000"/>
            </a:avLst>
          </a:prstGeom>
          <a:solidFill>
            <a:srgbClr val="5BD0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441448"/>
            <a:ext cx="4800600" cy="237744"/>
          </a:xfrm>
          <a:prstGeom prst="rect">
            <a:avLst/>
          </a:prstGeom>
          <a:noFill/>
        </p:spPr>
        <p:txBody>
          <a:bodyPr wrap="square" anchor="t" lIns="0" rIns="0" tIns="0" bIns="0">
            <a:spAutoFit/>
          </a:bodyPr>
          <a:lstStyle/>
          <a:p>
            <a:pPr algn="ctr"/>
            <a:r>
              <a:rPr sz="850" b="0">
                <a:solidFill>
                  <a:srgbClr val="6E6A60"/>
                </a:solidFill>
                <a:latin typeface="Consolas"/>
              </a:rPr>
              <a:t>java -cp bin Main</a:t>
            </a:r>
          </a:p>
        </p:txBody>
      </p:sp>
      <p:cxnSp>
        <p:nvCxnSpPr>
          <p:cNvPr id="17" name="Connector 16"/>
          <p:cNvCxnSpPr/>
          <p:nvPr/>
        </p:nvCxnSpPr>
        <p:spPr>
          <a:xfrm>
            <a:off x="749808" y="2724912"/>
            <a:ext cx="4800600" cy="0"/>
          </a:xfrm>
          <a:prstGeom prst="line">
            <a:avLst/>
          </a:prstGeom>
          <a:ln w="12700">
            <a:solidFill>
              <a:srgbClr val="2C291F"/>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69264" y="2816352"/>
            <a:ext cx="4416552" cy="3200399"/>
          </a:xfrm>
          <a:prstGeom prst="rect">
            <a:avLst/>
          </a:prstGeom>
          <a:noFill/>
        </p:spPr>
        <p:txBody>
          <a:bodyPr wrap="none" anchor="t" lIns="0" rIns="0" tIns="0" bIns="0">
            <a:spAutoFit/>
          </a:bodyPr>
          <a:lstStyle/>
          <a:p>
            <a:pPr algn="l">
              <a:lnSpc>
                <a:spcPct val="124000"/>
              </a:lnSpc>
            </a:pPr>
            <a:r>
              <a:rPr sz="900">
                <a:solidFill>
                  <a:srgbClr val="5BD08F"/>
                </a:solidFill>
                <a:latin typeface="Consolas"/>
              </a:rPr>
              <a:t>$ java -cp bin Main</a:t>
            </a:r>
          </a:p>
          <a:p>
            <a:pPr algn="l">
              <a:lnSpc>
                <a:spcPct val="124000"/>
              </a:lnSpc>
            </a:pPr>
            <a:r>
              <a:rPr sz="900">
                <a:solidFill>
                  <a:srgbClr val="D8D4CA"/>
                </a:solidFill>
                <a:latin typeface="Consolas"/>
              </a:rPr>
              <a:t> </a:t>
            </a:r>
          </a:p>
          <a:p>
            <a:pPr algn="l">
              <a:lnSpc>
                <a:spcPct val="124000"/>
              </a:lnSpc>
            </a:pPr>
            <a:r>
              <a:rPr sz="900">
                <a:solidFill>
                  <a:srgbClr val="857F73"/>
                </a:solidFill>
                <a:latin typeface="Consolas"/>
              </a:rPr>
              <a:t>########  Task Management System  ########</a:t>
            </a:r>
          </a:p>
          <a:p>
            <a:pPr algn="l">
              <a:lnSpc>
                <a:spcPct val="124000"/>
              </a:lnSpc>
            </a:pPr>
            <a:r>
              <a:rPr sz="900">
                <a:solidFill>
                  <a:srgbClr val="D8D4CA"/>
                </a:solidFill>
                <a:latin typeface="Consolas"/>
              </a:rPr>
              <a:t> </a:t>
            </a:r>
          </a:p>
          <a:p>
            <a:pPr algn="l">
              <a:lnSpc>
                <a:spcPct val="124000"/>
              </a:lnSpc>
            </a:pPr>
            <a:r>
              <a:rPr sz="900">
                <a:solidFill>
                  <a:srgbClr val="D8D4CA"/>
                </a:solidFill>
                <a:latin typeface="Consolas"/>
              </a:rPr>
              <a:t>  TEST 1   Factory Method Pattern</a:t>
            </a:r>
          </a:p>
          <a:p>
            <a:pPr algn="l">
              <a:lnSpc>
                <a:spcPct val="124000"/>
              </a:lnSpc>
            </a:pPr>
            <a:r>
              <a:rPr sz="900">
                <a:solidFill>
                  <a:srgbClr val="5BD08F"/>
                </a:solidFill>
                <a:latin typeface="Consolas"/>
              </a:rPr>
              <a:t>     [PASS] correct types, no concretes</a:t>
            </a:r>
          </a:p>
          <a:p>
            <a:pPr algn="l">
              <a:lnSpc>
                <a:spcPct val="124000"/>
              </a:lnSpc>
            </a:pPr>
            <a:r>
              <a:rPr sz="900">
                <a:solidFill>
                  <a:srgbClr val="D8D4CA"/>
                </a:solidFill>
                <a:latin typeface="Consolas"/>
              </a:rPr>
              <a:t>  TEST 2   Strategy Pattern</a:t>
            </a:r>
          </a:p>
          <a:p>
            <a:pPr algn="l">
              <a:lnSpc>
                <a:spcPct val="124000"/>
              </a:lnSpc>
            </a:pPr>
            <a:r>
              <a:rPr sz="900">
                <a:solidFill>
                  <a:srgbClr val="5BD08F"/>
                </a:solidFill>
                <a:latin typeface="Consolas"/>
              </a:rPr>
              <a:t>     [PASS] one list, three orderings</a:t>
            </a:r>
          </a:p>
          <a:p>
            <a:pPr algn="l">
              <a:lnSpc>
                <a:spcPct val="124000"/>
              </a:lnSpc>
            </a:pPr>
            <a:r>
              <a:rPr sz="900">
                <a:solidFill>
                  <a:srgbClr val="D8D4CA"/>
                </a:solidFill>
                <a:latin typeface="Consolas"/>
              </a:rPr>
              <a:t>  TEST 3   Lifecycle / State machine</a:t>
            </a:r>
          </a:p>
          <a:p>
            <a:pPr algn="l">
              <a:lnSpc>
                <a:spcPct val="124000"/>
              </a:lnSpc>
            </a:pPr>
            <a:r>
              <a:rPr sz="900">
                <a:solidFill>
                  <a:srgbClr val="5BD08F"/>
                </a:solidFill>
                <a:latin typeface="Consolas"/>
              </a:rPr>
              <a:t>     [PASS] illegal moves are blocked</a:t>
            </a:r>
          </a:p>
          <a:p>
            <a:pPr algn="l">
              <a:lnSpc>
                <a:spcPct val="124000"/>
              </a:lnSpc>
            </a:pPr>
            <a:r>
              <a:rPr sz="900">
                <a:solidFill>
                  <a:srgbClr val="857F73"/>
                </a:solidFill>
                <a:latin typeface="Consolas"/>
              </a:rPr>
              <a:t>  TEST 4-6 edge cases ........  6 / 6</a:t>
            </a:r>
          </a:p>
          <a:p>
            <a:pPr algn="l">
              <a:lnSpc>
                <a:spcPct val="124000"/>
              </a:lnSpc>
            </a:pPr>
            <a:r>
              <a:rPr sz="900">
                <a:solidFill>
                  <a:srgbClr val="D8D4CA"/>
                </a:solidFill>
                <a:latin typeface="Consolas"/>
              </a:rPr>
              <a:t> </a:t>
            </a:r>
          </a:p>
          <a:p>
            <a:pPr algn="l">
              <a:lnSpc>
                <a:spcPct val="124000"/>
              </a:lnSpc>
            </a:pPr>
            <a:r>
              <a:rPr sz="900">
                <a:solidFill>
                  <a:srgbClr val="5BD08F"/>
                </a:solidFill>
                <a:latin typeface="Consolas"/>
              </a:rPr>
              <a:t>########     ALL TESTS PASSED     ########</a:t>
            </a:r>
          </a:p>
        </p:txBody>
      </p:sp>
      <p:sp>
        <p:nvSpPr>
          <p:cNvPr id="19" name="Rounded Rectangle 18"/>
          <p:cNvSpPr/>
          <p:nvPr/>
        </p:nvSpPr>
        <p:spPr>
          <a:xfrm>
            <a:off x="5888736" y="2395728"/>
            <a:ext cx="5553151" cy="841248"/>
          </a:xfrm>
          <a:prstGeom prst="roundRect">
            <a:avLst>
              <a:gd name="adj" fmla="val 6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5888736" y="2395728"/>
            <a:ext cx="5553151" cy="0"/>
          </a:xfrm>
          <a:prstGeom prst="line">
            <a:avLst/>
          </a:prstGeom>
          <a:ln w="30480">
            <a:solidFill>
              <a:srgbClr val="1E7A4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126480" y="2542032"/>
            <a:ext cx="5095951" cy="274320"/>
          </a:xfrm>
          <a:prstGeom prst="rect">
            <a:avLst/>
          </a:prstGeom>
          <a:noFill/>
        </p:spPr>
        <p:txBody>
          <a:bodyPr wrap="square" anchor="t" lIns="0" rIns="0" tIns="0" bIns="0">
            <a:spAutoFit/>
          </a:bodyPr>
          <a:lstStyle/>
          <a:p>
            <a:pPr algn="l"/>
            <a:r>
              <a:rPr sz="1000" b="1" spc="150">
                <a:solidFill>
                  <a:srgbClr val="1E7A45"/>
                </a:solidFill>
                <a:latin typeface="Inter SemiBold"/>
              </a:rPr>
              <a:t>STEP 1 · BUILD ONCE</a:t>
            </a:r>
          </a:p>
        </p:txBody>
      </p:sp>
      <p:sp>
        <p:nvSpPr>
          <p:cNvPr id="22" name="TextBox 21"/>
          <p:cNvSpPr txBox="1"/>
          <p:nvPr/>
        </p:nvSpPr>
        <p:spPr>
          <a:xfrm>
            <a:off x="6126480" y="2834640"/>
            <a:ext cx="5095951" cy="329184"/>
          </a:xfrm>
          <a:prstGeom prst="rect">
            <a:avLst/>
          </a:prstGeom>
          <a:noFill/>
        </p:spPr>
        <p:txBody>
          <a:bodyPr wrap="square" anchor="t" lIns="0" rIns="0" tIns="0" bIns="0">
            <a:spAutoFit/>
          </a:bodyPr>
          <a:lstStyle/>
          <a:p>
            <a:pPr algn="l"/>
            <a:r>
              <a:rPr sz="1050" b="0">
                <a:solidFill>
                  <a:srgbClr val="1C1A16"/>
                </a:solidFill>
                <a:latin typeface="Consolas"/>
              </a:rPr>
              <a:t>javac -d bin src/main/java/*.java src/main/java/gui/*.java</a:t>
            </a:r>
          </a:p>
        </p:txBody>
      </p:sp>
      <p:sp>
        <p:nvSpPr>
          <p:cNvPr id="23" name="Rounded Rectangle 22"/>
          <p:cNvSpPr/>
          <p:nvPr/>
        </p:nvSpPr>
        <p:spPr>
          <a:xfrm>
            <a:off x="5888736" y="3346704"/>
            <a:ext cx="5553151" cy="841248"/>
          </a:xfrm>
          <a:prstGeom prst="roundRect">
            <a:avLst>
              <a:gd name="adj" fmla="val 6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5888736" y="3346704"/>
            <a:ext cx="5553151" cy="0"/>
          </a:xfrm>
          <a:prstGeom prst="line">
            <a:avLst/>
          </a:prstGeom>
          <a:ln w="30480">
            <a:solidFill>
              <a:srgbClr val="1E7A45"/>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126480" y="3493008"/>
            <a:ext cx="5095951" cy="274320"/>
          </a:xfrm>
          <a:prstGeom prst="rect">
            <a:avLst/>
          </a:prstGeom>
          <a:noFill/>
        </p:spPr>
        <p:txBody>
          <a:bodyPr wrap="square" anchor="t" lIns="0" rIns="0" tIns="0" bIns="0">
            <a:spAutoFit/>
          </a:bodyPr>
          <a:lstStyle/>
          <a:p>
            <a:pPr algn="l"/>
            <a:r>
              <a:rPr sz="1000" b="1" spc="150">
                <a:solidFill>
                  <a:srgbClr val="1E7A45"/>
                </a:solidFill>
                <a:latin typeface="Inter SemiBold"/>
              </a:rPr>
              <a:t>STEP 2 · RUN THE AUTOMATED TESTS</a:t>
            </a:r>
          </a:p>
        </p:txBody>
      </p:sp>
      <p:sp>
        <p:nvSpPr>
          <p:cNvPr id="26" name="TextBox 25"/>
          <p:cNvSpPr txBox="1"/>
          <p:nvPr/>
        </p:nvSpPr>
        <p:spPr>
          <a:xfrm>
            <a:off x="6126480" y="3785615"/>
            <a:ext cx="5095951" cy="329184"/>
          </a:xfrm>
          <a:prstGeom prst="rect">
            <a:avLst/>
          </a:prstGeom>
          <a:noFill/>
        </p:spPr>
        <p:txBody>
          <a:bodyPr wrap="square" anchor="t" lIns="0" rIns="0" tIns="0" bIns="0">
            <a:spAutoFit/>
          </a:bodyPr>
          <a:lstStyle/>
          <a:p>
            <a:pPr algn="l"/>
            <a:r>
              <a:rPr sz="1300" b="0">
                <a:solidFill>
                  <a:srgbClr val="1C1A16"/>
                </a:solidFill>
                <a:latin typeface="Consolas"/>
              </a:rPr>
              <a:t>java -cp bin Main</a:t>
            </a:r>
          </a:p>
        </p:txBody>
      </p:sp>
      <p:sp>
        <p:nvSpPr>
          <p:cNvPr id="27" name="Rounded Rectangle 26"/>
          <p:cNvSpPr/>
          <p:nvPr/>
        </p:nvSpPr>
        <p:spPr>
          <a:xfrm>
            <a:off x="5888736" y="4297680"/>
            <a:ext cx="5553151" cy="841248"/>
          </a:xfrm>
          <a:prstGeom prst="roundRect">
            <a:avLst>
              <a:gd name="adj" fmla="val 6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a:off x="5888736" y="4297680"/>
            <a:ext cx="5553151" cy="0"/>
          </a:xfrm>
          <a:prstGeom prst="line">
            <a:avLst/>
          </a:prstGeom>
          <a:ln w="30480">
            <a:solidFill>
              <a:srgbClr val="1E7A4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126480" y="4443984"/>
            <a:ext cx="5095951" cy="274320"/>
          </a:xfrm>
          <a:prstGeom prst="rect">
            <a:avLst/>
          </a:prstGeom>
          <a:noFill/>
        </p:spPr>
        <p:txBody>
          <a:bodyPr wrap="square" anchor="t" lIns="0" rIns="0" tIns="0" bIns="0">
            <a:spAutoFit/>
          </a:bodyPr>
          <a:lstStyle/>
          <a:p>
            <a:pPr algn="l"/>
            <a:r>
              <a:rPr sz="1000" b="1" spc="150">
                <a:solidFill>
                  <a:srgbClr val="1E7A45"/>
                </a:solidFill>
                <a:latin typeface="Inter SemiBold"/>
              </a:rPr>
              <a:t>STEP 3 · OPEN THE INTERACTIVE CONSOLE</a:t>
            </a:r>
          </a:p>
        </p:txBody>
      </p:sp>
      <p:sp>
        <p:nvSpPr>
          <p:cNvPr id="30" name="TextBox 29"/>
          <p:cNvSpPr txBox="1"/>
          <p:nvPr/>
        </p:nvSpPr>
        <p:spPr>
          <a:xfrm>
            <a:off x="6126480" y="4736592"/>
            <a:ext cx="5095951" cy="329184"/>
          </a:xfrm>
          <a:prstGeom prst="rect">
            <a:avLst/>
          </a:prstGeom>
          <a:noFill/>
        </p:spPr>
        <p:txBody>
          <a:bodyPr wrap="square" anchor="t" lIns="0" rIns="0" tIns="0" bIns="0">
            <a:spAutoFit/>
          </a:bodyPr>
          <a:lstStyle/>
          <a:p>
            <a:pPr algn="l"/>
            <a:r>
              <a:rPr sz="1300" b="0">
                <a:solidFill>
                  <a:srgbClr val="1C1A16"/>
                </a:solidFill>
                <a:latin typeface="Consolas"/>
              </a:rPr>
              <a:t>java -cp bin TaskManagementApp</a:t>
            </a:r>
          </a:p>
        </p:txBody>
      </p:sp>
      <p:sp>
        <p:nvSpPr>
          <p:cNvPr id="31" name="Rounded Rectangle 30"/>
          <p:cNvSpPr/>
          <p:nvPr/>
        </p:nvSpPr>
        <p:spPr>
          <a:xfrm>
            <a:off x="5888736" y="5358384"/>
            <a:ext cx="5553151" cy="749808"/>
          </a:xfrm>
          <a:prstGeom prst="roundRect">
            <a:avLst>
              <a:gd name="adj" fmla="val 6000"/>
            </a:avLst>
          </a:prstGeom>
          <a:solidFill>
            <a:srgbClr val="F4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0" y="5358384"/>
            <a:ext cx="5095951" cy="749808"/>
          </a:xfrm>
          <a:prstGeom prst="rect">
            <a:avLst/>
          </a:prstGeom>
          <a:noFill/>
        </p:spPr>
        <p:txBody>
          <a:bodyPr wrap="square" anchor="ctr" lIns="0" rIns="0" tIns="0" bIns="0">
            <a:spAutoFit/>
          </a:bodyPr>
          <a:lstStyle/>
          <a:p>
            <a:pPr algn="l"/>
            <a:r>
              <a:rPr sz="1050" b="0">
                <a:solidFill>
                  <a:srgbClr val="1C1A16"/>
                </a:solidFill>
                <a:latin typeface="Inter SemiBold"/>
              </a:rPr>
              <a:t>Inside the console menu:</a:t>
            </a:r>
          </a:p>
          <a:p>
            <a:pPr algn="l">
              <a:lnSpc>
                <a:spcPct val="125000"/>
              </a:lnSpc>
              <a:spcBef>
                <a:spcPts val="300"/>
              </a:spcBef>
            </a:pPr>
            <a:r>
              <a:rPr sz="950" b="0">
                <a:solidFill>
                  <a:srgbClr val="57534B"/>
                </a:solidFill>
                <a:latin typeface="Inter"/>
              </a:rPr>
              <a:t>1 create a task (Factory)   ·   4 change the sort (Strategy)   ·   3 view sorted   ·   5 change status (State)</a:t>
            </a:r>
          </a:p>
        </p:txBody>
      </p:sp>
      <p:sp>
        <p:nvSpPr>
          <p:cNvPr id="33" name="TextBox 32"/>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4" name="TextBox 33"/>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24 / 32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1E7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1E7A45"/>
                </a:solidFill>
                <a:latin typeface="Inter SemiBold"/>
              </a:rPr>
              <a:t>LIVE DEMONSTRATION  ·  DEMO 2  ·  GRAPHICAL USER INTERFACE</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1E7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1E7A45"/>
                </a:solidFill>
                <a:latin typeface="Inter SemiBold"/>
              </a:rPr>
              <a:t>SECTION 4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500" b="0">
                <a:solidFill>
                  <a:srgbClr val="1C1A16"/>
                </a:solidFill>
                <a:latin typeface="Spectral SemiBold"/>
              </a:rPr>
              <a:t>Demo 2 — the graphical interface.</a:t>
            </a:r>
          </a:p>
        </p:txBody>
      </p:sp>
      <p:sp>
        <p:nvSpPr>
          <p:cNvPr id="11" name="TextBox 10"/>
          <p:cNvSpPr txBox="1"/>
          <p:nvPr/>
        </p:nvSpPr>
        <p:spPr>
          <a:xfrm>
            <a:off x="749808" y="1865376"/>
            <a:ext cx="10692079" cy="365760"/>
          </a:xfrm>
          <a:prstGeom prst="rect">
            <a:avLst/>
          </a:prstGeom>
          <a:noFill/>
        </p:spPr>
        <p:txBody>
          <a:bodyPr wrap="square" anchor="t" lIns="0" rIns="0" tIns="0" bIns="0">
            <a:spAutoFit/>
          </a:bodyPr>
          <a:lstStyle/>
          <a:p>
            <a:pPr algn="l">
              <a:lnSpc>
                <a:spcPct val="130000"/>
              </a:lnSpc>
            </a:pPr>
            <a:r>
              <a:rPr sz="1200" b="0">
                <a:solidFill>
                  <a:srgbClr val="57534B"/>
                </a:solidFill>
                <a:latin typeface="Inter"/>
              </a:rPr>
              <a:t>From the same project root, one command launches the whole interface — the rest is clicks.</a:t>
            </a:r>
          </a:p>
        </p:txBody>
      </p:sp>
      <p:sp>
        <p:nvSpPr>
          <p:cNvPr id="12" name="Rounded Rectangle 11"/>
          <p:cNvSpPr/>
          <p:nvPr/>
        </p:nvSpPr>
        <p:spPr>
          <a:xfrm>
            <a:off x="749808" y="2395728"/>
            <a:ext cx="4800600" cy="3712463"/>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395728"/>
            <a:ext cx="4800600" cy="0"/>
          </a:xfrm>
          <a:prstGeom prst="line">
            <a:avLst/>
          </a:prstGeom>
          <a:ln w="30480">
            <a:solidFill>
              <a:srgbClr val="1E7A45"/>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gui-strategy.png"/>
          <p:cNvPicPr>
            <a:picLocks noChangeAspect="1"/>
          </p:cNvPicPr>
          <p:nvPr/>
        </p:nvPicPr>
        <p:blipFill>
          <a:blip r:embed="rId2"/>
          <a:stretch>
            <a:fillRect/>
          </a:stretch>
        </p:blipFill>
        <p:spPr>
          <a:xfrm>
            <a:off x="914400" y="2622884"/>
            <a:ext cx="4471416" cy="3294727"/>
          </a:xfrm>
          <a:prstGeom prst="rect">
            <a:avLst/>
          </a:prstGeom>
        </p:spPr>
      </p:pic>
      <p:sp>
        <p:nvSpPr>
          <p:cNvPr id="15" name="Rounded Rectangle 14"/>
          <p:cNvSpPr/>
          <p:nvPr/>
        </p:nvSpPr>
        <p:spPr>
          <a:xfrm>
            <a:off x="5888736" y="2395728"/>
            <a:ext cx="5553151" cy="987552"/>
          </a:xfrm>
          <a:prstGeom prst="roundRect">
            <a:avLst>
              <a:gd name="adj" fmla="val 6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5888736" y="2395728"/>
            <a:ext cx="5553151" cy="0"/>
          </a:xfrm>
          <a:prstGeom prst="line">
            <a:avLst/>
          </a:prstGeom>
          <a:ln w="30480">
            <a:solidFill>
              <a:srgbClr val="1E7A45"/>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126480" y="2542032"/>
            <a:ext cx="5095951" cy="274320"/>
          </a:xfrm>
          <a:prstGeom prst="rect">
            <a:avLst/>
          </a:prstGeom>
          <a:noFill/>
        </p:spPr>
        <p:txBody>
          <a:bodyPr wrap="square" anchor="t" lIns="0" rIns="0" tIns="0" bIns="0">
            <a:spAutoFit/>
          </a:bodyPr>
          <a:lstStyle/>
          <a:p>
            <a:pPr algn="l"/>
            <a:r>
              <a:rPr sz="1000" b="1" spc="150">
                <a:solidFill>
                  <a:srgbClr val="1E7A45"/>
                </a:solidFill>
                <a:latin typeface="Inter SemiBold"/>
              </a:rPr>
              <a:t>PASTE THIS TO LAUNCH THE GUI</a:t>
            </a:r>
          </a:p>
        </p:txBody>
      </p:sp>
      <p:sp>
        <p:nvSpPr>
          <p:cNvPr id="18" name="TextBox 17"/>
          <p:cNvSpPr txBox="1"/>
          <p:nvPr/>
        </p:nvSpPr>
        <p:spPr>
          <a:xfrm>
            <a:off x="6126480" y="2980944"/>
            <a:ext cx="5095951" cy="329184"/>
          </a:xfrm>
          <a:prstGeom prst="rect">
            <a:avLst/>
          </a:prstGeom>
          <a:noFill/>
        </p:spPr>
        <p:txBody>
          <a:bodyPr wrap="square" anchor="t" lIns="0" rIns="0" tIns="0" bIns="0">
            <a:spAutoFit/>
          </a:bodyPr>
          <a:lstStyle/>
          <a:p>
            <a:pPr algn="l"/>
            <a:r>
              <a:rPr sz="1500" b="0">
                <a:solidFill>
                  <a:srgbClr val="1C1A16"/>
                </a:solidFill>
                <a:latin typeface="Consolas"/>
              </a:rPr>
              <a:t>java -jar TaskManagerGUI.jar</a:t>
            </a:r>
          </a:p>
        </p:txBody>
      </p:sp>
      <p:sp>
        <p:nvSpPr>
          <p:cNvPr id="19" name="Rounded Rectangle 18"/>
          <p:cNvSpPr/>
          <p:nvPr/>
        </p:nvSpPr>
        <p:spPr>
          <a:xfrm>
            <a:off x="5888736" y="3712463"/>
            <a:ext cx="402336" cy="402336"/>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browser__indigo.png"/>
          <p:cNvPicPr>
            <a:picLocks noChangeAspect="1"/>
          </p:cNvPicPr>
          <p:nvPr/>
        </p:nvPicPr>
        <p:blipFill>
          <a:blip r:embed="rId3"/>
          <a:stretch>
            <a:fillRect/>
          </a:stretch>
        </p:blipFill>
        <p:spPr>
          <a:xfrm>
            <a:off x="5973226" y="3796954"/>
            <a:ext cx="233354" cy="233354"/>
          </a:xfrm>
          <a:prstGeom prst="rect">
            <a:avLst/>
          </a:prstGeom>
        </p:spPr>
      </p:pic>
      <p:sp>
        <p:nvSpPr>
          <p:cNvPr id="21" name="TextBox 20"/>
          <p:cNvSpPr txBox="1"/>
          <p:nvPr/>
        </p:nvSpPr>
        <p:spPr>
          <a:xfrm>
            <a:off x="6437376" y="3675887"/>
            <a:ext cx="5004511" cy="274320"/>
          </a:xfrm>
          <a:prstGeom prst="rect">
            <a:avLst/>
          </a:prstGeom>
          <a:noFill/>
        </p:spPr>
        <p:txBody>
          <a:bodyPr wrap="square" anchor="t" lIns="0" rIns="0" tIns="0" bIns="0">
            <a:spAutoFit/>
          </a:bodyPr>
          <a:lstStyle/>
          <a:p>
            <a:pPr algn="l"/>
            <a:r>
              <a:rPr sz="1200" b="0">
                <a:solidFill>
                  <a:srgbClr val="1C1A16"/>
                </a:solidFill>
                <a:latin typeface="Inter SemiBold"/>
              </a:rPr>
              <a:t>Load the demo data</a:t>
            </a:r>
          </a:p>
        </p:txBody>
      </p:sp>
      <p:sp>
        <p:nvSpPr>
          <p:cNvPr id="22" name="TextBox 21"/>
          <p:cNvSpPr txBox="1"/>
          <p:nvPr/>
        </p:nvSpPr>
        <p:spPr>
          <a:xfrm>
            <a:off x="6437376" y="3922776"/>
            <a:ext cx="5004511" cy="384048"/>
          </a:xfrm>
          <a:prstGeom prst="rect">
            <a:avLst/>
          </a:prstGeom>
          <a:noFill/>
        </p:spPr>
        <p:txBody>
          <a:bodyPr wrap="square" anchor="t" lIns="0" rIns="0" tIns="0" bIns="0">
            <a:spAutoFit/>
          </a:bodyPr>
          <a:lstStyle/>
          <a:p>
            <a:pPr algn="l">
              <a:lnSpc>
                <a:spcPct val="118000"/>
              </a:lnSpc>
            </a:pPr>
            <a:r>
              <a:rPr sz="1019" b="0">
                <a:solidFill>
                  <a:srgbClr val="57534B"/>
                </a:solidFill>
                <a:latin typeface="Inter"/>
              </a:rPr>
              <a:t>Demo ▸ Load Strategy Demo seeds the table with tasks.</a:t>
            </a:r>
          </a:p>
        </p:txBody>
      </p:sp>
      <p:sp>
        <p:nvSpPr>
          <p:cNvPr id="23" name="Rounded Rectangle 22"/>
          <p:cNvSpPr/>
          <p:nvPr/>
        </p:nvSpPr>
        <p:spPr>
          <a:xfrm>
            <a:off x="5888736" y="4370831"/>
            <a:ext cx="402336" cy="402336"/>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witch-horizontal-01__teal.png"/>
          <p:cNvPicPr>
            <a:picLocks noChangeAspect="1"/>
          </p:cNvPicPr>
          <p:nvPr/>
        </p:nvPicPr>
        <p:blipFill>
          <a:blip r:embed="rId4"/>
          <a:stretch>
            <a:fillRect/>
          </a:stretch>
        </p:blipFill>
        <p:spPr>
          <a:xfrm>
            <a:off x="5973226" y="4455322"/>
            <a:ext cx="233354" cy="233354"/>
          </a:xfrm>
          <a:prstGeom prst="rect">
            <a:avLst/>
          </a:prstGeom>
        </p:spPr>
      </p:pic>
      <p:sp>
        <p:nvSpPr>
          <p:cNvPr id="25" name="TextBox 24"/>
          <p:cNvSpPr txBox="1"/>
          <p:nvPr/>
        </p:nvSpPr>
        <p:spPr>
          <a:xfrm>
            <a:off x="6437376" y="4334255"/>
            <a:ext cx="5004511" cy="274320"/>
          </a:xfrm>
          <a:prstGeom prst="rect">
            <a:avLst/>
          </a:prstGeom>
          <a:noFill/>
        </p:spPr>
        <p:txBody>
          <a:bodyPr wrap="square" anchor="t" lIns="0" rIns="0" tIns="0" bIns="0">
            <a:spAutoFit/>
          </a:bodyPr>
          <a:lstStyle/>
          <a:p>
            <a:pPr algn="l"/>
            <a:r>
              <a:rPr sz="1200" b="0">
                <a:solidFill>
                  <a:srgbClr val="1C1A16"/>
                </a:solidFill>
                <a:latin typeface="Inter SemiBold"/>
              </a:rPr>
              <a:t>Strategy, live</a:t>
            </a:r>
          </a:p>
        </p:txBody>
      </p:sp>
      <p:sp>
        <p:nvSpPr>
          <p:cNvPr id="26" name="TextBox 25"/>
          <p:cNvSpPr txBox="1"/>
          <p:nvPr/>
        </p:nvSpPr>
        <p:spPr>
          <a:xfrm>
            <a:off x="6437376" y="4581144"/>
            <a:ext cx="5004511" cy="384048"/>
          </a:xfrm>
          <a:prstGeom prst="rect">
            <a:avLst/>
          </a:prstGeom>
          <a:noFill/>
        </p:spPr>
        <p:txBody>
          <a:bodyPr wrap="square" anchor="t" lIns="0" rIns="0" tIns="0" bIns="0">
            <a:spAutoFit/>
          </a:bodyPr>
          <a:lstStyle/>
          <a:p>
            <a:pPr algn="l">
              <a:lnSpc>
                <a:spcPct val="118000"/>
              </a:lnSpc>
            </a:pPr>
            <a:r>
              <a:rPr sz="1019" b="0">
                <a:solidFill>
                  <a:srgbClr val="57534B"/>
                </a:solidFill>
                <a:latin typeface="Inter"/>
              </a:rPr>
              <a:t>Sort by: Urgent, Deadline, Severity — the table reorders, no recompile.</a:t>
            </a:r>
          </a:p>
        </p:txBody>
      </p:sp>
      <p:sp>
        <p:nvSpPr>
          <p:cNvPr id="27" name="Rounded Rectangle 26"/>
          <p:cNvSpPr/>
          <p:nvPr/>
        </p:nvSpPr>
        <p:spPr>
          <a:xfrm>
            <a:off x="5888736" y="5029200"/>
            <a:ext cx="402336" cy="402336"/>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package-plus__clay.png"/>
          <p:cNvPicPr>
            <a:picLocks noChangeAspect="1"/>
          </p:cNvPicPr>
          <p:nvPr/>
        </p:nvPicPr>
        <p:blipFill>
          <a:blip r:embed="rId5"/>
          <a:stretch>
            <a:fillRect/>
          </a:stretch>
        </p:blipFill>
        <p:spPr>
          <a:xfrm>
            <a:off x="5973226" y="5113690"/>
            <a:ext cx="233354" cy="233354"/>
          </a:xfrm>
          <a:prstGeom prst="rect">
            <a:avLst/>
          </a:prstGeom>
        </p:spPr>
      </p:pic>
      <p:sp>
        <p:nvSpPr>
          <p:cNvPr id="29" name="TextBox 28"/>
          <p:cNvSpPr txBox="1"/>
          <p:nvPr/>
        </p:nvSpPr>
        <p:spPr>
          <a:xfrm>
            <a:off x="6437376" y="4992624"/>
            <a:ext cx="5004511" cy="274320"/>
          </a:xfrm>
          <a:prstGeom prst="rect">
            <a:avLst/>
          </a:prstGeom>
          <a:noFill/>
        </p:spPr>
        <p:txBody>
          <a:bodyPr wrap="square" anchor="t" lIns="0" rIns="0" tIns="0" bIns="0">
            <a:spAutoFit/>
          </a:bodyPr>
          <a:lstStyle/>
          <a:p>
            <a:pPr algn="l"/>
            <a:r>
              <a:rPr sz="1200" b="0">
                <a:solidFill>
                  <a:srgbClr val="1C1A16"/>
                </a:solidFill>
                <a:latin typeface="Inter SemiBold"/>
              </a:rPr>
              <a:t>Factory, live</a:t>
            </a:r>
          </a:p>
        </p:txBody>
      </p:sp>
      <p:sp>
        <p:nvSpPr>
          <p:cNvPr id="30" name="TextBox 29"/>
          <p:cNvSpPr txBox="1"/>
          <p:nvPr/>
        </p:nvSpPr>
        <p:spPr>
          <a:xfrm>
            <a:off x="6437376" y="5239512"/>
            <a:ext cx="5004511" cy="384048"/>
          </a:xfrm>
          <a:prstGeom prst="rect">
            <a:avLst/>
          </a:prstGeom>
          <a:noFill/>
        </p:spPr>
        <p:txBody>
          <a:bodyPr wrap="square" anchor="t" lIns="0" rIns="0" tIns="0" bIns="0">
            <a:spAutoFit/>
          </a:bodyPr>
          <a:lstStyle/>
          <a:p>
            <a:pPr algn="l">
              <a:lnSpc>
                <a:spcPct val="118000"/>
              </a:lnSpc>
            </a:pPr>
            <a:r>
              <a:rPr sz="1019" b="0">
                <a:solidFill>
                  <a:srgbClr val="57534B"/>
                </a:solidFill>
                <a:latin typeface="Inter"/>
              </a:rPr>
              <a:t>Add a task; the Type field picks which factory builds it.</a:t>
            </a:r>
          </a:p>
        </p:txBody>
      </p:sp>
      <p:sp>
        <p:nvSpPr>
          <p:cNvPr id="31" name="Rounded Rectangle 30"/>
          <p:cNvSpPr/>
          <p:nvPr/>
        </p:nvSpPr>
        <p:spPr>
          <a:xfrm>
            <a:off x="5888736" y="5687568"/>
            <a:ext cx="402336" cy="402336"/>
          </a:xfrm>
          <a:prstGeom prst="roundRect">
            <a:avLst>
              <a:gd name="adj" fmla="val 30000"/>
            </a:avLst>
          </a:prstGeom>
          <a:solidFill>
            <a:srgbClr val="F0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refresh-cw-01__violet.png"/>
          <p:cNvPicPr>
            <a:picLocks noChangeAspect="1"/>
          </p:cNvPicPr>
          <p:nvPr/>
        </p:nvPicPr>
        <p:blipFill>
          <a:blip r:embed="rId6"/>
          <a:stretch>
            <a:fillRect/>
          </a:stretch>
        </p:blipFill>
        <p:spPr>
          <a:xfrm>
            <a:off x="5973226" y="5772058"/>
            <a:ext cx="233354" cy="233354"/>
          </a:xfrm>
          <a:prstGeom prst="rect">
            <a:avLst/>
          </a:prstGeom>
        </p:spPr>
      </p:pic>
      <p:sp>
        <p:nvSpPr>
          <p:cNvPr id="33" name="TextBox 32"/>
          <p:cNvSpPr txBox="1"/>
          <p:nvPr/>
        </p:nvSpPr>
        <p:spPr>
          <a:xfrm>
            <a:off x="6437376" y="5650992"/>
            <a:ext cx="5004511" cy="274320"/>
          </a:xfrm>
          <a:prstGeom prst="rect">
            <a:avLst/>
          </a:prstGeom>
          <a:noFill/>
        </p:spPr>
        <p:txBody>
          <a:bodyPr wrap="square" anchor="t" lIns="0" rIns="0" tIns="0" bIns="0">
            <a:spAutoFit/>
          </a:bodyPr>
          <a:lstStyle/>
          <a:p>
            <a:pPr algn="l"/>
            <a:r>
              <a:rPr sz="1200" b="0">
                <a:solidFill>
                  <a:srgbClr val="1C1A16"/>
                </a:solidFill>
                <a:latin typeface="Inter SemiBold"/>
              </a:rPr>
              <a:t>State machine</a:t>
            </a:r>
          </a:p>
        </p:txBody>
      </p:sp>
      <p:sp>
        <p:nvSpPr>
          <p:cNvPr id="34" name="TextBox 33"/>
          <p:cNvSpPr txBox="1"/>
          <p:nvPr/>
        </p:nvSpPr>
        <p:spPr>
          <a:xfrm>
            <a:off x="6437376" y="5897880"/>
            <a:ext cx="5004511" cy="384048"/>
          </a:xfrm>
          <a:prstGeom prst="rect">
            <a:avLst/>
          </a:prstGeom>
          <a:noFill/>
        </p:spPr>
        <p:txBody>
          <a:bodyPr wrap="square" anchor="t" lIns="0" rIns="0" tIns="0" bIns="0">
            <a:spAutoFit/>
          </a:bodyPr>
          <a:lstStyle/>
          <a:p>
            <a:pPr algn="l">
              <a:lnSpc>
                <a:spcPct val="118000"/>
              </a:lnSpc>
            </a:pPr>
            <a:r>
              <a:rPr sz="1019" b="0">
                <a:solidFill>
                  <a:srgbClr val="57534B"/>
                </a:solidFill>
                <a:latin typeface="Inter"/>
              </a:rPr>
              <a:t>Mark OPEN ▸ DONE: refused. OPEN ▸ IN_PROGRESS: allowed.</a:t>
            </a:r>
          </a:p>
        </p:txBody>
      </p:sp>
      <p:sp>
        <p:nvSpPr>
          <p:cNvPr id="35" name="TextBox 3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6" name="TextBox 3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25 / 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9A6304"/>
        </a:solidFill>
        <a:effectLst/>
      </p:bgPr>
    </p:bg>
    <p:spTree>
      <p:nvGrpSpPr>
        <p:cNvPr id="1" name=""/>
        <p:cNvGrpSpPr/>
        <p:nvPr/>
      </p:nvGrpSpPr>
      <p:grpSpPr/>
      <p:sp>
        <p:nvSpPr>
          <p:cNvPr id="2" name="TextBox 1"/>
          <p:cNvSpPr txBox="1"/>
          <p:nvPr/>
        </p:nvSpPr>
        <p:spPr>
          <a:xfrm>
            <a:off x="749808" y="603504"/>
            <a:ext cx="8229600" cy="274320"/>
          </a:xfrm>
          <a:prstGeom prst="rect">
            <a:avLst/>
          </a:prstGeom>
          <a:noFill/>
        </p:spPr>
        <p:txBody>
          <a:bodyPr wrap="square" anchor="t" lIns="0" rIns="0" tIns="0" bIns="0">
            <a:spAutoFit/>
          </a:bodyPr>
          <a:lstStyle/>
          <a:p>
            <a:pPr algn="l"/>
            <a:r>
              <a:rPr sz="1100" b="1" spc="280">
                <a:solidFill>
                  <a:srgbClr val="FFFFFF"/>
                </a:solidFill>
                <a:latin typeface="Inter SemiBold"/>
              </a:rPr>
              <a:t>SECTION 05</a:t>
            </a:r>
          </a:p>
        </p:txBody>
      </p:sp>
      <p:sp>
        <p:nvSpPr>
          <p:cNvPr id="3" name="Rounded Rectangle 2"/>
          <p:cNvSpPr/>
          <p:nvPr/>
        </p:nvSpPr>
        <p:spPr>
          <a:xfrm>
            <a:off x="9613087" y="640080"/>
            <a:ext cx="292608" cy="64008"/>
          </a:xfrm>
          <a:prstGeom prst="roundRect">
            <a:avLst>
              <a:gd name="adj" fmla="val 50000"/>
            </a:avLst>
          </a:prstGeom>
          <a:solidFill>
            <a:srgbClr val="B89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97135" y="640080"/>
            <a:ext cx="292608" cy="64008"/>
          </a:xfrm>
          <a:prstGeom prst="roundRect">
            <a:avLst>
              <a:gd name="adj" fmla="val 50000"/>
            </a:avLst>
          </a:prstGeom>
          <a:solidFill>
            <a:srgbClr val="B89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381183" y="640080"/>
            <a:ext cx="292608" cy="64008"/>
          </a:xfrm>
          <a:prstGeom prst="roundRect">
            <a:avLst>
              <a:gd name="adj" fmla="val 50000"/>
            </a:avLst>
          </a:prstGeom>
          <a:solidFill>
            <a:srgbClr val="B89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65231" y="640080"/>
            <a:ext cx="292608" cy="64008"/>
          </a:xfrm>
          <a:prstGeom prst="roundRect">
            <a:avLst>
              <a:gd name="adj" fmla="val 50000"/>
            </a:avLst>
          </a:prstGeom>
          <a:solidFill>
            <a:srgbClr val="B89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49279" y="640080"/>
            <a:ext cx="292608" cy="640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EDE3D2"/>
                </a:solidFill>
                <a:latin typeface="Inter SemiBold"/>
              </a:rPr>
              <a:t>SECTION 5 / 5</a:t>
            </a:r>
          </a:p>
        </p:txBody>
      </p:sp>
      <p:pic>
        <p:nvPicPr>
          <p:cNvPr id="9" name="Picture 8" descr="trophy-01__white.png"/>
          <p:cNvPicPr>
            <a:picLocks noChangeAspect="1"/>
          </p:cNvPicPr>
          <p:nvPr/>
        </p:nvPicPr>
        <p:blipFill>
          <a:blip r:embed="rId2"/>
          <a:stretch>
            <a:fillRect/>
          </a:stretch>
        </p:blipFill>
        <p:spPr>
          <a:xfrm>
            <a:off x="9590227" y="1165860"/>
            <a:ext cx="1417320" cy="1417320"/>
          </a:xfrm>
          <a:prstGeom prst="rect">
            <a:avLst/>
          </a:prstGeom>
        </p:spPr>
      </p:pic>
      <p:cxnSp>
        <p:nvCxnSpPr>
          <p:cNvPr id="10" name="Connector 9"/>
          <p:cNvCxnSpPr/>
          <p:nvPr/>
        </p:nvCxnSpPr>
        <p:spPr>
          <a:xfrm>
            <a:off x="749808" y="3017520"/>
            <a:ext cx="10692079" cy="0"/>
          </a:xfrm>
          <a:prstGeom prst="line">
            <a:avLst/>
          </a:prstGeom>
          <a:ln w="20320">
            <a:solidFill>
              <a:srgbClr val="CAAE7C"/>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3291840"/>
            <a:ext cx="9411919" cy="1280160"/>
          </a:xfrm>
          <a:prstGeom prst="rect">
            <a:avLst/>
          </a:prstGeom>
          <a:noFill/>
        </p:spPr>
        <p:txBody>
          <a:bodyPr wrap="square" anchor="t" lIns="0" rIns="0" tIns="0" bIns="0">
            <a:spAutoFit/>
          </a:bodyPr>
          <a:lstStyle/>
          <a:p>
            <a:pPr algn="l">
              <a:lnSpc>
                <a:spcPct val="105000"/>
              </a:lnSpc>
            </a:pPr>
            <a:r>
              <a:rPr sz="3700" b="0">
                <a:solidFill>
                  <a:srgbClr val="FFFFFF"/>
                </a:solidFill>
                <a:latin typeface="Spectral SemiBold"/>
              </a:rPr>
              <a:t>Results, evaluation and conclusion.</a:t>
            </a:r>
          </a:p>
        </p:txBody>
      </p:sp>
      <p:sp>
        <p:nvSpPr>
          <p:cNvPr id="12" name="TextBox 11"/>
          <p:cNvSpPr txBox="1"/>
          <p:nvPr/>
        </p:nvSpPr>
        <p:spPr>
          <a:xfrm>
            <a:off x="749808" y="4370832"/>
            <a:ext cx="8680399" cy="914400"/>
          </a:xfrm>
          <a:prstGeom prst="rect">
            <a:avLst/>
          </a:prstGeom>
          <a:noFill/>
        </p:spPr>
        <p:txBody>
          <a:bodyPr wrap="square" anchor="t" lIns="0" rIns="0" tIns="0" bIns="0">
            <a:spAutoFit/>
          </a:bodyPr>
          <a:lstStyle/>
          <a:p>
            <a:pPr algn="l">
              <a:lnSpc>
                <a:spcPct val="142000"/>
              </a:lnSpc>
            </a:pPr>
            <a:r>
              <a:rPr sz="1400" b="0">
                <a:solidFill>
                  <a:srgbClr val="EDE3D2"/>
                </a:solidFill>
                <a:latin typeface="Inter"/>
              </a:rPr>
              <a:t>What the patterns delivered in practice, the honest limits of this build, and the main lesson.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5760C"/>
                </a:solidFill>
                <a:latin typeface="Inter SemiBold"/>
              </a:rPr>
              <a:t>RESULTS  ·  WHAT THE PATTERNS DELIVERED</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5760C"/>
                </a:solidFill>
                <a:latin typeface="Inter SemiBold"/>
              </a:rPr>
              <a:t>SECTION 5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700" b="0">
                <a:solidFill>
                  <a:srgbClr val="1C1A16"/>
                </a:solidFill>
                <a:latin typeface="Spectral SemiBold"/>
              </a:rPr>
              <a:t>New types and orderings, without editing existing code.</a:t>
            </a:r>
          </a:p>
        </p:txBody>
      </p:sp>
      <p:sp>
        <p:nvSpPr>
          <p:cNvPr id="11" name="Rounded Rectangle 10"/>
          <p:cNvSpPr/>
          <p:nvPr/>
        </p:nvSpPr>
        <p:spPr>
          <a:xfrm>
            <a:off x="749808" y="2331720"/>
            <a:ext cx="5117439" cy="338328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24127" y="2587752"/>
            <a:ext cx="457200" cy="457200"/>
          </a:xfrm>
          <a:prstGeom prst="roundRect">
            <a:avLst>
              <a:gd name="adj" fmla="val 30000"/>
            </a:avLst>
          </a:prstGeom>
          <a:solidFill>
            <a:srgbClr val="E6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rend-up-01__green.png"/>
          <p:cNvPicPr>
            <a:picLocks noChangeAspect="1"/>
          </p:cNvPicPr>
          <p:nvPr/>
        </p:nvPicPr>
        <p:blipFill>
          <a:blip r:embed="rId2"/>
          <a:stretch>
            <a:fillRect/>
          </a:stretch>
        </p:blipFill>
        <p:spPr>
          <a:xfrm>
            <a:off x="1124712" y="2688336"/>
            <a:ext cx="256032" cy="256032"/>
          </a:xfrm>
          <a:prstGeom prst="rect">
            <a:avLst/>
          </a:prstGeom>
        </p:spPr>
      </p:pic>
      <p:sp>
        <p:nvSpPr>
          <p:cNvPr id="14" name="TextBox 13"/>
          <p:cNvSpPr txBox="1"/>
          <p:nvPr/>
        </p:nvSpPr>
        <p:spPr>
          <a:xfrm>
            <a:off x="1645919" y="2587752"/>
            <a:ext cx="4020159" cy="457200"/>
          </a:xfrm>
          <a:prstGeom prst="rect">
            <a:avLst/>
          </a:prstGeom>
          <a:noFill/>
        </p:spPr>
        <p:txBody>
          <a:bodyPr wrap="square" anchor="ctr" lIns="0" rIns="0" tIns="0" bIns="0">
            <a:spAutoFit/>
          </a:bodyPr>
          <a:lstStyle/>
          <a:p>
            <a:pPr algn="l"/>
            <a:r>
              <a:rPr sz="1100" b="0" spc="140">
                <a:solidFill>
                  <a:srgbClr val="1C1A16"/>
                </a:solidFill>
                <a:latin typeface="Inter SemiBold"/>
              </a:rPr>
              <a:t>EXTENSION, IN NUMBERS</a:t>
            </a:r>
          </a:p>
        </p:txBody>
      </p:sp>
      <p:sp>
        <p:nvSpPr>
          <p:cNvPr id="15" name="TextBox 14"/>
          <p:cNvSpPr txBox="1"/>
          <p:nvPr/>
        </p:nvSpPr>
        <p:spPr>
          <a:xfrm>
            <a:off x="1060704" y="3273552"/>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16" name="TextBox 15"/>
          <p:cNvSpPr txBox="1"/>
          <p:nvPr/>
        </p:nvSpPr>
        <p:spPr>
          <a:xfrm>
            <a:off x="1280160" y="3282696"/>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New task type: 2 new files, 1 line of registration, 0 edits.</a:t>
            </a:r>
          </a:p>
        </p:txBody>
      </p:sp>
      <p:sp>
        <p:nvSpPr>
          <p:cNvPr id="17" name="TextBox 16"/>
          <p:cNvSpPr txBox="1"/>
          <p:nvPr/>
        </p:nvSpPr>
        <p:spPr>
          <a:xfrm>
            <a:off x="1060704" y="3877056"/>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18" name="TextBox 17"/>
          <p:cNvSpPr txBox="1"/>
          <p:nvPr/>
        </p:nvSpPr>
        <p:spPr>
          <a:xfrm>
            <a:off x="1280160" y="3886200"/>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New ordering: 1 new file, 1 setter call, 0 edits.</a:t>
            </a:r>
          </a:p>
        </p:txBody>
      </p:sp>
      <p:sp>
        <p:nvSpPr>
          <p:cNvPr id="19" name="TextBox 18"/>
          <p:cNvSpPr txBox="1"/>
          <p:nvPr/>
        </p:nvSpPr>
        <p:spPr>
          <a:xfrm>
            <a:off x="1060704" y="4480560"/>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20" name="TextBox 19"/>
          <p:cNvSpPr txBox="1"/>
          <p:nvPr/>
        </p:nvSpPr>
        <p:spPr>
          <a:xfrm>
            <a:off x="1280160" y="4489704"/>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Test 5 in Main asserts this Open/Closed property at runtime.</a:t>
            </a:r>
          </a:p>
        </p:txBody>
      </p:sp>
      <p:sp>
        <p:nvSpPr>
          <p:cNvPr id="21" name="Rounded Rectangle 20"/>
          <p:cNvSpPr/>
          <p:nvPr/>
        </p:nvSpPr>
        <p:spPr>
          <a:xfrm>
            <a:off x="6324447" y="2331720"/>
            <a:ext cx="5117439" cy="338328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98767" y="2587752"/>
            <a:ext cx="457200" cy="457200"/>
          </a:xfrm>
          <a:prstGeom prst="roundRect">
            <a:avLst>
              <a:gd name="adj" fmla="val 30000"/>
            </a:avLst>
          </a:prstGeom>
          <a:solidFill>
            <a:srgbClr val="E6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heck-circle__green.png"/>
          <p:cNvPicPr>
            <a:picLocks noChangeAspect="1"/>
          </p:cNvPicPr>
          <p:nvPr/>
        </p:nvPicPr>
        <p:blipFill>
          <a:blip r:embed="rId3"/>
          <a:stretch>
            <a:fillRect/>
          </a:stretch>
        </p:blipFill>
        <p:spPr>
          <a:xfrm>
            <a:off x="6699351" y="2688336"/>
            <a:ext cx="256032" cy="256032"/>
          </a:xfrm>
          <a:prstGeom prst="rect">
            <a:avLst/>
          </a:prstGeom>
        </p:spPr>
      </p:pic>
      <p:sp>
        <p:nvSpPr>
          <p:cNvPr id="24" name="TextBox 23"/>
          <p:cNvSpPr txBox="1"/>
          <p:nvPr/>
        </p:nvSpPr>
        <p:spPr>
          <a:xfrm>
            <a:off x="7220559" y="2587752"/>
            <a:ext cx="4020159" cy="457200"/>
          </a:xfrm>
          <a:prstGeom prst="rect">
            <a:avLst/>
          </a:prstGeom>
          <a:noFill/>
        </p:spPr>
        <p:txBody>
          <a:bodyPr wrap="square" anchor="ctr" lIns="0" rIns="0" tIns="0" bIns="0">
            <a:spAutoFit/>
          </a:bodyPr>
          <a:lstStyle/>
          <a:p>
            <a:pPr algn="l"/>
            <a:r>
              <a:rPr sz="1100" b="0" spc="140">
                <a:solidFill>
                  <a:srgbClr val="1C1A16"/>
                </a:solidFill>
                <a:latin typeface="Inter SemiBold"/>
              </a:rPr>
              <a:t>WHAT WORKED IN PRACTICE</a:t>
            </a:r>
          </a:p>
        </p:txBody>
      </p:sp>
      <p:sp>
        <p:nvSpPr>
          <p:cNvPr id="25" name="TextBox 24"/>
          <p:cNvSpPr txBox="1"/>
          <p:nvPr/>
        </p:nvSpPr>
        <p:spPr>
          <a:xfrm>
            <a:off x="6635343" y="3273552"/>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26" name="TextBox 25"/>
          <p:cNvSpPr txBox="1"/>
          <p:nvPr/>
        </p:nvSpPr>
        <p:spPr>
          <a:xfrm>
            <a:off x="6854799" y="3282696"/>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Documentation type was added late, with zero edits to existing code.</a:t>
            </a:r>
          </a:p>
        </p:txBody>
      </p:sp>
      <p:sp>
        <p:nvSpPr>
          <p:cNvPr id="27" name="TextBox 26"/>
          <p:cNvSpPr txBox="1"/>
          <p:nvPr/>
        </p:nvSpPr>
        <p:spPr>
          <a:xfrm>
            <a:off x="6635343" y="3877056"/>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28" name="TextBox 27"/>
          <p:cNvSpPr txBox="1"/>
          <p:nvPr/>
        </p:nvSpPr>
        <p:spPr>
          <a:xfrm>
            <a:off x="6854799" y="3886200"/>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The GUI dropdown proves the Strategy swap, live.</a:t>
            </a:r>
          </a:p>
        </p:txBody>
      </p:sp>
      <p:sp>
        <p:nvSpPr>
          <p:cNvPr id="29" name="TextBox 28"/>
          <p:cNvSpPr txBox="1"/>
          <p:nvPr/>
        </p:nvSpPr>
        <p:spPr>
          <a:xfrm>
            <a:off x="6635343" y="4480560"/>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30" name="TextBox 29"/>
          <p:cNvSpPr txBox="1"/>
          <p:nvPr/>
        </p:nvSpPr>
        <p:spPr>
          <a:xfrm>
            <a:off x="6854799" y="4489704"/>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The lifecycle enum makes every illegal transition unreachable.</a:t>
            </a:r>
          </a:p>
        </p:txBody>
      </p:sp>
      <p:sp>
        <p:nvSpPr>
          <p:cNvPr id="31" name="TextBox 30"/>
          <p:cNvSpPr txBox="1"/>
          <p:nvPr/>
        </p:nvSpPr>
        <p:spPr>
          <a:xfrm>
            <a:off x="6635343" y="5084064"/>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32" name="TextBox 31"/>
          <p:cNvSpPr txBox="1"/>
          <p:nvPr/>
        </p:nvSpPr>
        <p:spPr>
          <a:xfrm>
            <a:off x="6854799" y="5093208"/>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Main doubles as the test harness, with no JUnit needed.</a:t>
            </a:r>
          </a:p>
        </p:txBody>
      </p:sp>
      <p:sp>
        <p:nvSpPr>
          <p:cNvPr id="33" name="TextBox 32"/>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4" name="TextBox 33"/>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27 / 32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5760C"/>
                </a:solidFill>
                <a:latin typeface="Inter SemiBold"/>
              </a:rPr>
              <a:t>EVALUATION  ·  LIMITATIONS AND ALTERNATIVES</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5760C"/>
                </a:solidFill>
                <a:latin typeface="Inter SemiBold"/>
              </a:rPr>
              <a:t>SECTION 5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An honest look at the design.</a:t>
            </a:r>
          </a:p>
        </p:txBody>
      </p:sp>
      <p:sp>
        <p:nvSpPr>
          <p:cNvPr id="11" name="Rounded Rectangle 10"/>
          <p:cNvSpPr/>
          <p:nvPr/>
        </p:nvSpPr>
        <p:spPr>
          <a:xfrm>
            <a:off x="749808" y="2377440"/>
            <a:ext cx="457200" cy="457200"/>
          </a:xfrm>
          <a:prstGeom prst="roundRect">
            <a:avLst>
              <a:gd name="adj" fmla="val 30000"/>
            </a:avLst>
          </a:prstGeom>
          <a:solidFill>
            <a:srgbClr val="F5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lert-circle__amber.png"/>
          <p:cNvPicPr>
            <a:picLocks noChangeAspect="1"/>
          </p:cNvPicPr>
          <p:nvPr/>
        </p:nvPicPr>
        <p:blipFill>
          <a:blip r:embed="rId2"/>
          <a:stretch>
            <a:fillRect/>
          </a:stretch>
        </p:blipFill>
        <p:spPr>
          <a:xfrm>
            <a:off x="850391" y="2478024"/>
            <a:ext cx="256032" cy="256032"/>
          </a:xfrm>
          <a:prstGeom prst="rect">
            <a:avLst/>
          </a:prstGeom>
        </p:spPr>
      </p:pic>
      <p:sp>
        <p:nvSpPr>
          <p:cNvPr id="13" name="TextBox 12"/>
          <p:cNvSpPr txBox="1"/>
          <p:nvPr/>
        </p:nvSpPr>
        <p:spPr>
          <a:xfrm>
            <a:off x="749808" y="2962656"/>
            <a:ext cx="3259226" cy="365760"/>
          </a:xfrm>
          <a:prstGeom prst="rect">
            <a:avLst/>
          </a:prstGeom>
          <a:noFill/>
        </p:spPr>
        <p:txBody>
          <a:bodyPr wrap="square" anchor="t" lIns="0" rIns="0" tIns="0" bIns="0">
            <a:spAutoFit/>
          </a:bodyPr>
          <a:lstStyle/>
          <a:p>
            <a:pPr algn="l"/>
            <a:r>
              <a:rPr sz="1300" b="0">
                <a:solidFill>
                  <a:srgbClr val="1C1A16"/>
                </a:solidFill>
                <a:latin typeface="Inter SemiBold"/>
              </a:rPr>
              <a:t>Limitations</a:t>
            </a:r>
          </a:p>
        </p:txBody>
      </p:sp>
      <p:cxnSp>
        <p:nvCxnSpPr>
          <p:cNvPr id="14" name="Connector 13"/>
          <p:cNvCxnSpPr/>
          <p:nvPr/>
        </p:nvCxnSpPr>
        <p:spPr>
          <a:xfrm>
            <a:off x="749808" y="3264408"/>
            <a:ext cx="1368875" cy="0"/>
          </a:xfrm>
          <a:prstGeom prst="line">
            <a:avLst/>
          </a:prstGeom>
          <a:ln w="27940">
            <a:solidFill>
              <a:srgbClr val="B5760C"/>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49808" y="3383280"/>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All data is in memory; nothing persists. Single user, no concurrency. Validation throws on the first error rather than collecting them all.</a:t>
            </a:r>
          </a:p>
        </p:txBody>
      </p:sp>
      <p:sp>
        <p:nvSpPr>
          <p:cNvPr id="16" name="Rounded Rectangle 15"/>
          <p:cNvSpPr/>
          <p:nvPr/>
        </p:nvSpPr>
        <p:spPr>
          <a:xfrm>
            <a:off x="4466234" y="2377440"/>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ntersect-circle__indigo.png"/>
          <p:cNvPicPr>
            <a:picLocks noChangeAspect="1"/>
          </p:cNvPicPr>
          <p:nvPr/>
        </p:nvPicPr>
        <p:blipFill>
          <a:blip r:embed="rId3"/>
          <a:stretch>
            <a:fillRect/>
          </a:stretch>
        </p:blipFill>
        <p:spPr>
          <a:xfrm>
            <a:off x="4566818" y="2478024"/>
            <a:ext cx="256032" cy="256032"/>
          </a:xfrm>
          <a:prstGeom prst="rect">
            <a:avLst/>
          </a:prstGeom>
        </p:spPr>
      </p:pic>
      <p:sp>
        <p:nvSpPr>
          <p:cNvPr id="18" name="TextBox 17"/>
          <p:cNvSpPr txBox="1"/>
          <p:nvPr/>
        </p:nvSpPr>
        <p:spPr>
          <a:xfrm>
            <a:off x="4466234" y="2962656"/>
            <a:ext cx="3259226" cy="365760"/>
          </a:xfrm>
          <a:prstGeom prst="rect">
            <a:avLst/>
          </a:prstGeom>
          <a:noFill/>
        </p:spPr>
        <p:txBody>
          <a:bodyPr wrap="square" anchor="t" lIns="0" rIns="0" tIns="0" bIns="0">
            <a:spAutoFit/>
          </a:bodyPr>
          <a:lstStyle/>
          <a:p>
            <a:pPr algn="l"/>
            <a:r>
              <a:rPr sz="1300" b="0">
                <a:solidFill>
                  <a:srgbClr val="1C1A16"/>
                </a:solidFill>
                <a:latin typeface="Inter SemiBold"/>
              </a:rPr>
              <a:t>Alternatives we weighed</a:t>
            </a:r>
          </a:p>
        </p:txBody>
      </p:sp>
      <p:cxnSp>
        <p:nvCxnSpPr>
          <p:cNvPr id="19" name="Connector 18"/>
          <p:cNvCxnSpPr/>
          <p:nvPr/>
        </p:nvCxnSpPr>
        <p:spPr>
          <a:xfrm>
            <a:off x="4466234" y="3264408"/>
            <a:ext cx="1368875" cy="0"/>
          </a:xfrm>
          <a:prstGeom prst="line">
            <a:avLst/>
          </a:prstGeom>
          <a:ln w="27940">
            <a:solidFill>
              <a:srgbClr val="4A45C7"/>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466234" y="3383280"/>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Abstract Factory: rejected, there is only one product family. A raw Comparator: loses the named role and the stateful sort.</a:t>
            </a:r>
          </a:p>
        </p:txBody>
      </p:sp>
      <p:sp>
        <p:nvSpPr>
          <p:cNvPr id="21" name="Rounded Rectangle 20"/>
          <p:cNvSpPr/>
          <p:nvPr/>
        </p:nvSpPr>
        <p:spPr>
          <a:xfrm>
            <a:off x="8182660" y="2377440"/>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ock-fast-forward__indigo.png"/>
          <p:cNvPicPr>
            <a:picLocks noChangeAspect="1"/>
          </p:cNvPicPr>
          <p:nvPr/>
        </p:nvPicPr>
        <p:blipFill>
          <a:blip r:embed="rId4"/>
          <a:stretch>
            <a:fillRect/>
          </a:stretch>
        </p:blipFill>
        <p:spPr>
          <a:xfrm>
            <a:off x="8283244" y="2478024"/>
            <a:ext cx="256032" cy="256032"/>
          </a:xfrm>
          <a:prstGeom prst="rect">
            <a:avLst/>
          </a:prstGeom>
        </p:spPr>
      </p:pic>
      <p:sp>
        <p:nvSpPr>
          <p:cNvPr id="23" name="TextBox 22"/>
          <p:cNvSpPr txBox="1"/>
          <p:nvPr/>
        </p:nvSpPr>
        <p:spPr>
          <a:xfrm>
            <a:off x="8182660" y="2962656"/>
            <a:ext cx="3259226" cy="365760"/>
          </a:xfrm>
          <a:prstGeom prst="rect">
            <a:avLst/>
          </a:prstGeom>
          <a:noFill/>
        </p:spPr>
        <p:txBody>
          <a:bodyPr wrap="square" anchor="t" lIns="0" rIns="0" tIns="0" bIns="0">
            <a:spAutoFit/>
          </a:bodyPr>
          <a:lstStyle/>
          <a:p>
            <a:pPr algn="l"/>
            <a:r>
              <a:rPr sz="1300" b="0">
                <a:solidFill>
                  <a:srgbClr val="1C1A16"/>
                </a:solidFill>
                <a:latin typeface="Inter SemiBold"/>
              </a:rPr>
              <a:t>Future work</a:t>
            </a:r>
          </a:p>
        </p:txBody>
      </p:sp>
      <p:cxnSp>
        <p:nvCxnSpPr>
          <p:cNvPr id="24" name="Connector 23"/>
          <p:cNvCxnSpPr/>
          <p:nvPr/>
        </p:nvCxnSpPr>
        <p:spPr>
          <a:xfrm>
            <a:off x="8182660" y="3264408"/>
            <a:ext cx="1368875" cy="0"/>
          </a:xfrm>
          <a:prstGeom prst="line">
            <a:avLst/>
          </a:prstGeom>
          <a:ln w="27940">
            <a:solidFill>
              <a:srgbClr val="4A45C7"/>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182660" y="3383280"/>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Persistence via Repository, tags via Specification, async dispatch, and a small REST layer over the same engine.</a:t>
            </a:r>
          </a:p>
        </p:txBody>
      </p:sp>
      <p:sp>
        <p:nvSpPr>
          <p:cNvPr id="26" name="Rounded Rectangle 25"/>
          <p:cNvSpPr/>
          <p:nvPr/>
        </p:nvSpPr>
        <p:spPr>
          <a:xfrm>
            <a:off x="749808" y="5029200"/>
            <a:ext cx="10692079" cy="841248"/>
          </a:xfrm>
          <a:prstGeom prst="roundRect">
            <a:avLst>
              <a:gd name="adj" fmla="val 6000"/>
            </a:avLst>
          </a:prstGeom>
          <a:solidFill>
            <a:srgbClr val="F4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7" y="5029200"/>
            <a:ext cx="10143439" cy="841248"/>
          </a:xfrm>
          <a:prstGeom prst="rect">
            <a:avLst/>
          </a:prstGeom>
          <a:noFill/>
        </p:spPr>
        <p:txBody>
          <a:bodyPr wrap="square" anchor="ctr" lIns="0" rIns="0" tIns="0" bIns="0">
            <a:spAutoFit/>
          </a:bodyPr>
          <a:lstStyle/>
          <a:p>
            <a:pPr algn="l">
              <a:lnSpc>
                <a:spcPct val="135000"/>
              </a:lnSpc>
            </a:pPr>
            <a:r>
              <a:rPr sz="1200" b="0">
                <a:solidFill>
                  <a:srgbClr val="1C1A16"/>
                </a:solidFill>
                <a:latin typeface="Inter Medium"/>
              </a:rPr>
              <a:t>Every limitation above is a scoping choice, not a structural one. The engine is decoupled enough that each item is an addition, not a rewrite.</a:t>
            </a:r>
          </a:p>
        </p:txBody>
      </p:sp>
      <p:sp>
        <p:nvSpPr>
          <p:cNvPr id="28" name="TextBox 27"/>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29" name="TextBox 28"/>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28 / 32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5760C"/>
                </a:solidFill>
                <a:latin typeface="Inter SemiBold"/>
              </a:rPr>
              <a:t>CONCLUSION</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5760C"/>
                </a:solidFill>
                <a:latin typeface="Inter SemiBold"/>
              </a:rPr>
              <a:t>SECTION 5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What we set out to do, and what we learned.</a:t>
            </a:r>
          </a:p>
        </p:txBody>
      </p:sp>
      <p:sp>
        <p:nvSpPr>
          <p:cNvPr id="11" name="Rounded Rectangle 10"/>
          <p:cNvSpPr/>
          <p:nvPr/>
        </p:nvSpPr>
        <p:spPr>
          <a:xfrm>
            <a:off x="749808" y="23317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05840" y="2587752"/>
            <a:ext cx="457200" cy="457200"/>
          </a:xfrm>
          <a:prstGeom prst="roundRect">
            <a:avLst>
              <a:gd name="adj" fmla="val 30000"/>
            </a:avLst>
          </a:prstGeom>
          <a:solidFill>
            <a:srgbClr val="E6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verified-01__green.png"/>
          <p:cNvPicPr>
            <a:picLocks noChangeAspect="1"/>
          </p:cNvPicPr>
          <p:nvPr/>
        </p:nvPicPr>
        <p:blipFill>
          <a:blip r:embed="rId2"/>
          <a:stretch>
            <a:fillRect/>
          </a:stretch>
        </p:blipFill>
        <p:spPr>
          <a:xfrm>
            <a:off x="1106424" y="2688336"/>
            <a:ext cx="256032" cy="256032"/>
          </a:xfrm>
          <a:prstGeom prst="rect">
            <a:avLst/>
          </a:prstGeom>
        </p:spPr>
      </p:pic>
      <p:sp>
        <p:nvSpPr>
          <p:cNvPr id="14" name="TextBox 13"/>
          <p:cNvSpPr txBox="1"/>
          <p:nvPr/>
        </p:nvSpPr>
        <p:spPr>
          <a:xfrm>
            <a:off x="1627632" y="2587752"/>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What we achieved</a:t>
            </a:r>
          </a:p>
        </p:txBody>
      </p:sp>
      <p:sp>
        <p:nvSpPr>
          <p:cNvPr id="15" name="TextBox 14"/>
          <p:cNvSpPr txBox="1"/>
          <p:nvPr/>
        </p:nvSpPr>
        <p:spPr>
          <a:xfrm>
            <a:off x="1024127" y="31729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 working task system where new types and new orderings cost no edits to existing, tested code.</a:t>
            </a:r>
          </a:p>
        </p:txBody>
      </p:sp>
      <p:sp>
        <p:nvSpPr>
          <p:cNvPr id="16" name="Rounded Rectangle 15"/>
          <p:cNvSpPr/>
          <p:nvPr/>
        </p:nvSpPr>
        <p:spPr>
          <a:xfrm>
            <a:off x="6324447" y="23317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80479" y="2587752"/>
            <a:ext cx="457200" cy="457200"/>
          </a:xfrm>
          <a:prstGeom prst="roundRect">
            <a:avLst>
              <a:gd name="adj" fmla="val 30000"/>
            </a:avLst>
          </a:prstGeom>
          <a:solidFill>
            <a:srgbClr val="F0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uzzle-piece-01__violet.png"/>
          <p:cNvPicPr>
            <a:picLocks noChangeAspect="1"/>
          </p:cNvPicPr>
          <p:nvPr/>
        </p:nvPicPr>
        <p:blipFill>
          <a:blip r:embed="rId3"/>
          <a:stretch>
            <a:fillRect/>
          </a:stretch>
        </p:blipFill>
        <p:spPr>
          <a:xfrm>
            <a:off x="6681063" y="2688336"/>
            <a:ext cx="256032" cy="256032"/>
          </a:xfrm>
          <a:prstGeom prst="rect">
            <a:avLst/>
          </a:prstGeom>
        </p:spPr>
      </p:pic>
      <p:sp>
        <p:nvSpPr>
          <p:cNvPr id="19" name="TextBox 18"/>
          <p:cNvSpPr txBox="1"/>
          <p:nvPr/>
        </p:nvSpPr>
        <p:spPr>
          <a:xfrm>
            <a:off x="7202271" y="2587752"/>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The patterns earned their place</a:t>
            </a:r>
          </a:p>
        </p:txBody>
      </p:sp>
      <p:sp>
        <p:nvSpPr>
          <p:cNvPr id="20" name="TextBox 19"/>
          <p:cNvSpPr txBox="1"/>
          <p:nvPr/>
        </p:nvSpPr>
        <p:spPr>
          <a:xfrm>
            <a:off x="6598767" y="31729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Each was chosen to solve a concrete problem from section one, not to satisfy a checklist.</a:t>
            </a:r>
          </a:p>
        </p:txBody>
      </p:sp>
      <p:sp>
        <p:nvSpPr>
          <p:cNvPr id="21" name="Rounded Rectangle 20"/>
          <p:cNvSpPr/>
          <p:nvPr/>
        </p:nvSpPr>
        <p:spPr>
          <a:xfrm>
            <a:off x="749808" y="41605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05840" y="4416552"/>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book-open-01__indigo.png"/>
          <p:cNvPicPr>
            <a:picLocks noChangeAspect="1"/>
          </p:cNvPicPr>
          <p:nvPr/>
        </p:nvPicPr>
        <p:blipFill>
          <a:blip r:embed="rId4"/>
          <a:stretch>
            <a:fillRect/>
          </a:stretch>
        </p:blipFill>
        <p:spPr>
          <a:xfrm>
            <a:off x="1106424" y="4517136"/>
            <a:ext cx="256032" cy="256032"/>
          </a:xfrm>
          <a:prstGeom prst="rect">
            <a:avLst/>
          </a:prstGeom>
        </p:spPr>
      </p:pic>
      <p:sp>
        <p:nvSpPr>
          <p:cNvPr id="24" name="TextBox 23"/>
          <p:cNvSpPr txBox="1"/>
          <p:nvPr/>
        </p:nvSpPr>
        <p:spPr>
          <a:xfrm>
            <a:off x="1627632" y="4416552"/>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The lesson</a:t>
            </a:r>
          </a:p>
        </p:txBody>
      </p:sp>
      <p:sp>
        <p:nvSpPr>
          <p:cNvPr id="25" name="TextBox 24"/>
          <p:cNvSpPr txBox="1"/>
          <p:nvPr/>
        </p:nvSpPr>
        <p:spPr>
          <a:xfrm>
            <a:off x="1024127" y="50017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Naming a role, a factory or a strategy, makes the codebase explain itself to the next reader.</a:t>
            </a:r>
          </a:p>
        </p:txBody>
      </p:sp>
      <p:sp>
        <p:nvSpPr>
          <p:cNvPr id="26" name="Rounded Rectangle 25"/>
          <p:cNvSpPr/>
          <p:nvPr/>
        </p:nvSpPr>
        <p:spPr>
          <a:xfrm>
            <a:off x="6324447" y="41605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580479" y="4416552"/>
            <a:ext cx="457200" cy="457200"/>
          </a:xfrm>
          <a:prstGeom prst="roundRect">
            <a:avLst>
              <a:gd name="adj" fmla="val 30000"/>
            </a:avLst>
          </a:prstGeom>
          <a:solidFill>
            <a:srgbClr val="F5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trophy-01__amber.png"/>
          <p:cNvPicPr>
            <a:picLocks noChangeAspect="1"/>
          </p:cNvPicPr>
          <p:nvPr/>
        </p:nvPicPr>
        <p:blipFill>
          <a:blip r:embed="rId5"/>
          <a:stretch>
            <a:fillRect/>
          </a:stretch>
        </p:blipFill>
        <p:spPr>
          <a:xfrm>
            <a:off x="6681063" y="4517136"/>
            <a:ext cx="256032" cy="256032"/>
          </a:xfrm>
          <a:prstGeom prst="rect">
            <a:avLst/>
          </a:prstGeom>
        </p:spPr>
      </p:pic>
      <p:sp>
        <p:nvSpPr>
          <p:cNvPr id="29" name="TextBox 28"/>
          <p:cNvSpPr txBox="1"/>
          <p:nvPr/>
        </p:nvSpPr>
        <p:spPr>
          <a:xfrm>
            <a:off x="7202271" y="4416552"/>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The bigger point</a:t>
            </a:r>
          </a:p>
        </p:txBody>
      </p:sp>
      <p:sp>
        <p:nvSpPr>
          <p:cNvPr id="30" name="TextBox 29"/>
          <p:cNvSpPr txBox="1"/>
          <p:nvPr/>
        </p:nvSpPr>
        <p:spPr>
          <a:xfrm>
            <a:off x="6598767" y="50017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Design patterns are a shared vocabulary that lets a team extend software without breaking what already works.</a:t>
            </a:r>
          </a:p>
        </p:txBody>
      </p:sp>
      <p:sp>
        <p:nvSpPr>
          <p:cNvPr id="31" name="TextBox 30"/>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2" name="TextBox 31"/>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29 / 32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C1A16"/>
        </a:solidFill>
        <a:effectLst/>
      </p:bgPr>
    </p:bg>
    <p:spTree>
      <p:nvGrpSpPr>
        <p:cNvPr id="1" name=""/>
        <p:cNvGrpSpPr/>
        <p:nvPr/>
      </p:nvGrpSpPr>
      <p:grpSpPr/>
      <p:sp>
        <p:nvSpPr>
          <p:cNvPr id="2" name="TextBox 1"/>
          <p:cNvSpPr txBox="1"/>
          <p:nvPr/>
        </p:nvSpPr>
        <p:spPr>
          <a:xfrm>
            <a:off x="749808" y="2286000"/>
            <a:ext cx="10881360" cy="1645920"/>
          </a:xfrm>
          <a:prstGeom prst="rect">
            <a:avLst/>
          </a:prstGeom>
          <a:noFill/>
        </p:spPr>
        <p:txBody>
          <a:bodyPr wrap="square" anchor="t" lIns="0" rIns="0" tIns="0" bIns="0">
            <a:spAutoFit/>
          </a:bodyPr>
          <a:lstStyle/>
          <a:p>
            <a:pPr algn="l">
              <a:lnSpc>
                <a:spcPct val="104000"/>
              </a:lnSpc>
            </a:pPr>
            <a:r>
              <a:rPr sz="4800" b="0">
                <a:solidFill>
                  <a:srgbClr val="FFFFFF"/>
                </a:solidFill>
                <a:latin typeface="Spectral SemiBold"/>
              </a:rPr>
              <a:t>Thank you.</a:t>
            </a:r>
          </a:p>
          <a:p>
            <a:pPr algn="l">
              <a:lnSpc>
                <a:spcPct val="104000"/>
              </a:lnSpc>
              <a:spcBef>
                <a:spcPts val="400"/>
              </a:spcBef>
            </a:pPr>
            <a:r>
              <a:rPr sz="4800" b="0">
                <a:solidFill>
                  <a:srgbClr val="8E8BF5"/>
                </a:solidFill>
                <a:latin typeface="Spectral SemiBold"/>
              </a:rPr>
              <a:t>Questions welcome.</a:t>
            </a:r>
          </a:p>
        </p:txBody>
      </p:sp>
      <p:cxnSp>
        <p:nvCxnSpPr>
          <p:cNvPr id="3" name="Connector 2"/>
          <p:cNvCxnSpPr/>
          <p:nvPr/>
        </p:nvCxnSpPr>
        <p:spPr>
          <a:xfrm>
            <a:off x="749808" y="4526280"/>
            <a:ext cx="10692079" cy="0"/>
          </a:xfrm>
          <a:prstGeom prst="line">
            <a:avLst/>
          </a:prstGeom>
          <a:ln w="12700">
            <a:solidFill>
              <a:srgbClr val="3A352E"/>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49808" y="4736592"/>
            <a:ext cx="8961120" cy="914400"/>
          </a:xfrm>
          <a:prstGeom prst="rect">
            <a:avLst/>
          </a:prstGeom>
          <a:noFill/>
        </p:spPr>
        <p:txBody>
          <a:bodyPr wrap="square" anchor="t" lIns="0" rIns="0" tIns="0" bIns="0">
            <a:spAutoFit/>
          </a:bodyPr>
          <a:lstStyle/>
          <a:p>
            <a:pPr algn="l">
              <a:lnSpc>
                <a:spcPct val="140000"/>
              </a:lnSpc>
            </a:pPr>
            <a:r>
              <a:rPr sz="1300" b="0">
                <a:solidFill>
                  <a:srgbClr val="A8A299"/>
                </a:solidFill>
                <a:latin typeface="Inter"/>
              </a:rPr>
              <a:t>We can speak to any part: the problem, the patterns, the architecture, the code, or the demo.</a:t>
            </a:r>
          </a:p>
        </p:txBody>
      </p:sp>
      <p:sp>
        <p:nvSpPr>
          <p:cNvPr id="5" name="Rounded Rectangle 4"/>
          <p:cNvSpPr/>
          <p:nvPr/>
        </p:nvSpPr>
        <p:spPr>
          <a:xfrm>
            <a:off x="749808" y="5650992"/>
            <a:ext cx="237744" cy="91440"/>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5541264"/>
            <a:ext cx="2377440" cy="310896"/>
          </a:xfrm>
          <a:prstGeom prst="rect">
            <a:avLst/>
          </a:prstGeom>
          <a:noFill/>
        </p:spPr>
        <p:txBody>
          <a:bodyPr wrap="square" anchor="t" lIns="0" rIns="0" tIns="0" bIns="0">
            <a:spAutoFit/>
          </a:bodyPr>
          <a:lstStyle/>
          <a:p>
            <a:pPr algn="l"/>
            <a:r>
              <a:rPr sz="1100" b="0">
                <a:solidFill>
                  <a:srgbClr val="A8A299"/>
                </a:solidFill>
                <a:latin typeface="Inter SemiBold"/>
              </a:rPr>
              <a:t>Factory Method</a:t>
            </a:r>
          </a:p>
        </p:txBody>
      </p:sp>
      <p:sp>
        <p:nvSpPr>
          <p:cNvPr id="7" name="Rounded Rectangle 6"/>
          <p:cNvSpPr/>
          <p:nvPr/>
        </p:nvSpPr>
        <p:spPr>
          <a:xfrm>
            <a:off x="2907791" y="5650992"/>
            <a:ext cx="237744" cy="91440"/>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36975" y="5541264"/>
            <a:ext cx="2377440" cy="310896"/>
          </a:xfrm>
          <a:prstGeom prst="rect">
            <a:avLst/>
          </a:prstGeom>
          <a:noFill/>
        </p:spPr>
        <p:txBody>
          <a:bodyPr wrap="square" anchor="t" lIns="0" rIns="0" tIns="0" bIns="0">
            <a:spAutoFit/>
          </a:bodyPr>
          <a:lstStyle/>
          <a:p>
            <a:pPr algn="l"/>
            <a:r>
              <a:rPr sz="1100" b="0">
                <a:solidFill>
                  <a:srgbClr val="A8A299"/>
                </a:solidFill>
                <a:latin typeface="Inter SemiBold"/>
              </a:rPr>
              <a:t>Strategy</a:t>
            </a:r>
          </a:p>
        </p:txBody>
      </p:sp>
      <p:sp>
        <p:nvSpPr>
          <p:cNvPr id="9" name="Rounded Rectangle 8"/>
          <p:cNvSpPr/>
          <p:nvPr/>
        </p:nvSpPr>
        <p:spPr>
          <a:xfrm>
            <a:off x="4608575" y="5650992"/>
            <a:ext cx="237744" cy="91440"/>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59" y="5541264"/>
            <a:ext cx="2377440" cy="310896"/>
          </a:xfrm>
          <a:prstGeom prst="rect">
            <a:avLst/>
          </a:prstGeom>
          <a:noFill/>
        </p:spPr>
        <p:txBody>
          <a:bodyPr wrap="square" anchor="t" lIns="0" rIns="0" tIns="0" bIns="0">
            <a:spAutoFit/>
          </a:bodyPr>
          <a:lstStyle/>
          <a:p>
            <a:pPr algn="l"/>
            <a:r>
              <a:rPr sz="1100" b="0">
                <a:solidFill>
                  <a:srgbClr val="A8A299"/>
                </a:solidFill>
                <a:latin typeface="Inter SemiBold"/>
              </a:rPr>
              <a:t>State</a:t>
            </a:r>
          </a:p>
        </p:txBody>
      </p:sp>
      <p:sp>
        <p:nvSpPr>
          <p:cNvPr id="11" name="TextBox 10"/>
          <p:cNvSpPr txBox="1"/>
          <p:nvPr/>
        </p:nvSpPr>
        <p:spPr>
          <a:xfrm>
            <a:off x="8332927" y="5541264"/>
            <a:ext cx="3108960" cy="310896"/>
          </a:xfrm>
          <a:prstGeom prst="rect">
            <a:avLst/>
          </a:prstGeom>
          <a:noFill/>
        </p:spPr>
        <p:txBody>
          <a:bodyPr wrap="square" anchor="t" lIns="0" rIns="0" tIns="0" bIns="0">
            <a:spAutoFit/>
          </a:bodyPr>
          <a:lstStyle/>
          <a:p>
            <a:pPr algn="r"/>
            <a:r>
              <a:rPr sz="950" b="0" spc="140">
                <a:solidFill>
                  <a:srgbClr val="A8A299"/>
                </a:solidFill>
                <a:latin typeface="Inter SemiBold"/>
              </a:rPr>
              <a:t>SEN3006 · SOFTWARE ARCHITECTURE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APPENDIX  ·  SUPPORTING VIEW</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5760C"/>
                </a:solidFill>
                <a:latin typeface="Inter SemiBold"/>
              </a:rPr>
              <a:t>SECTION 5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700" b="0">
                <a:solidFill>
                  <a:srgbClr val="1C1A16"/>
                </a:solidFill>
                <a:latin typeface="Spectral SemiBold"/>
              </a:rPr>
              <a:t>Component view.</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The module structure: the UI depends on the manager, which delegates to the factory and strategy modules over the shared domain model.</a:t>
            </a:r>
          </a:p>
        </p:txBody>
      </p:sp>
      <p:sp>
        <p:nvSpPr>
          <p:cNvPr id="12" name="Rounded Rectangle 11"/>
          <p:cNvSpPr/>
          <p:nvPr/>
        </p:nvSpPr>
        <p:spPr>
          <a:xfrm>
            <a:off x="749808" y="2743200"/>
            <a:ext cx="10692079" cy="2743200"/>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743200"/>
            <a:ext cx="10692079" cy="0"/>
          </a:xfrm>
          <a:prstGeom prst="line">
            <a:avLst/>
          </a:prstGeom>
          <a:ln w="30480">
            <a:solidFill>
              <a:srgbClr val="4A45C7"/>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component-diagram.png"/>
          <p:cNvPicPr>
            <a:picLocks noChangeAspect="1"/>
          </p:cNvPicPr>
          <p:nvPr/>
        </p:nvPicPr>
        <p:blipFill>
          <a:blip r:embed="rId2"/>
          <a:stretch>
            <a:fillRect/>
          </a:stretch>
        </p:blipFill>
        <p:spPr>
          <a:xfrm>
            <a:off x="918311" y="2944368"/>
            <a:ext cx="10355072" cy="2377440"/>
          </a:xfrm>
          <a:prstGeom prst="rect">
            <a:avLst/>
          </a:prstGeom>
        </p:spPr>
      </p:pic>
      <p:sp>
        <p:nvSpPr>
          <p:cNvPr id="15" name="TextBox 14"/>
          <p:cNvSpPr txBox="1"/>
          <p:nvPr/>
        </p:nvSpPr>
        <p:spPr>
          <a:xfrm>
            <a:off x="749808" y="5650992"/>
            <a:ext cx="10692079" cy="274320"/>
          </a:xfrm>
          <a:prstGeom prst="rect">
            <a:avLst/>
          </a:prstGeom>
          <a:noFill/>
        </p:spPr>
        <p:txBody>
          <a:bodyPr wrap="square" anchor="t" lIns="0" rIns="0" tIns="0" bIns="0">
            <a:spAutoFit/>
          </a:bodyPr>
          <a:lstStyle/>
          <a:p>
            <a:pPr algn="ctr"/>
            <a:r>
              <a:rPr sz="950" b="0" spc="40">
                <a:solidFill>
                  <a:srgbClr val="B7B1A4"/>
                </a:solidFill>
                <a:latin typeface="Inter"/>
              </a:rPr>
              <a:t>Each box is a module; every arrow is a compile-time dependency pointing inward toward the manager and the abstractions.</a:t>
            </a:r>
          </a:p>
        </p:txBody>
      </p:sp>
      <p:sp>
        <p:nvSpPr>
          <p:cNvPr id="16" name="TextBox 15"/>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17" name="TextBox 16"/>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31 / 32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APPENDIX  ·  SUPPORTING VIEW</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5760C"/>
                </a:solidFill>
                <a:latin typeface="Inter SemiBold"/>
              </a:rPr>
              <a:t>SECTION 5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700" b="0">
                <a:solidFill>
                  <a:srgbClr val="1C1A16"/>
                </a:solidFill>
                <a:latin typeface="Spectral SemiBold"/>
              </a:rPr>
              <a:t>Deployment view.</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One JVM, one shared engine, three entry points. No network, no database, no external services.</a:t>
            </a:r>
          </a:p>
        </p:txBody>
      </p:sp>
      <p:sp>
        <p:nvSpPr>
          <p:cNvPr id="12" name="Rounded Rectangle 11"/>
          <p:cNvSpPr/>
          <p:nvPr/>
        </p:nvSpPr>
        <p:spPr>
          <a:xfrm>
            <a:off x="2468880" y="2697480"/>
            <a:ext cx="7253935" cy="3200400"/>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2468880" y="2697480"/>
            <a:ext cx="7253935" cy="0"/>
          </a:xfrm>
          <a:prstGeom prst="line">
            <a:avLst/>
          </a:prstGeom>
          <a:ln w="30480">
            <a:solidFill>
              <a:srgbClr val="4A45C7"/>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deployment-diagram.png"/>
          <p:cNvPicPr>
            <a:picLocks noChangeAspect="1"/>
          </p:cNvPicPr>
          <p:nvPr/>
        </p:nvPicPr>
        <p:blipFill>
          <a:blip r:embed="rId2"/>
          <a:stretch>
            <a:fillRect/>
          </a:stretch>
        </p:blipFill>
        <p:spPr>
          <a:xfrm>
            <a:off x="3846497" y="2898648"/>
            <a:ext cx="4498699" cy="2834640"/>
          </a:xfrm>
          <a:prstGeom prst="rect">
            <a:avLst/>
          </a:prstGeom>
        </p:spPr>
      </p:pic>
      <p:sp>
        <p:nvSpPr>
          <p:cNvPr id="15" name="TextBox 1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16" name="TextBox 1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32 / 32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